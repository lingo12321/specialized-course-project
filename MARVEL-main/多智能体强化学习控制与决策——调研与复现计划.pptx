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5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71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777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99723227" name="WPS_1686359452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777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们小组关于“多智能体强化学习控制与决策”的论文调研与复现计划。本次汇报将涵盖我们对该领域前沿文献的梳理，包括理论基础、核心挑战、工业应用，并重点介绍我们计划复现的三篇关键论文。希望通过这次汇报，能让大家对多智能体强化学习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调研我们总共阅读了11篇核心论文，分为三类。首先是三篇顶级综述，它们为我们奠定了坚实的理论基础，分别从控制与决策、博弈与控制交叉、以及协作MARL算法分类等角度进行了全面梳理。其次是五篇最新的工业应用论文，展示了MARL在车臂协同、仓储优化、卫星调度等领域的落地实践。最后，我们选定了三篇具有代表性的论文作为本期的复现重点，分别关注交通控制、机器人探索和PPO算法的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智能体强化学习的研究主要沿着两条主线展开：控制视角和决策视角。控制视角源自经典控制理论，关注系统的稳定性和协同任务的完成。而决策视角则根植于人工智能，强调智能体通过交互自主学习策略。根据任务性质，我们可以将MARL任务分为完全协作、完全竞争和混合动机三种类型，其中混合动机场景最贴近现实世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控制视角来看，核心内容包括多智能体博弈和多智能体协同。博弈主要分为零和、非零和和Stackelberg博弈三种类型，为处理不同利益关系的智能体交互提供了理论模型。协同则关注具体任务，如编队、包含控制等，并从系统动态、性能要求和模型依赖等维度进行分析。这张图清晰地展示了控制视角下，如何将协同和博弈问题转化为最优控制问题，并最终通过强化学习求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从决策视角看，MARL的算法架构主要分为三种训练范式。其中，CTDE，即中心化训练、去中心化执行，因其兼顾了训练稳定性和执行可扩展性，已成为当前的主流范式。在这个范式下，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多智能体强化学习还存在许多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问题。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尽管MARL发展迅速，但仍面临诸多挑战。首先是环境非平稳性，即其他智能体的策略变化导致学习环境不断改变。其次是局部可观测性，智能体通常只能看到世界的一部分。第三是信用分配难题，如何将团队的成功或失败归因于每个个体的贡献。这些是MARL研究中必须解决的核心问题。底部的这张图就形象地展示了在交通场景中，不同控制策略下的复杂动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三个核心挑战是维度灾难、样本效率低下和稀疏奖励。维度灾难指的是随着智能体数量增多，问题复杂度呈指数级上升。样本效率低下意味着MARL需要大量的交互数据。而稀疏奖励则是指在很多任务中，智能体很难获得即时反馈。右图的迷宫就很好地诠释了稀疏奖励问题——只有到达中心的奖杯才能获得奖励，过程漫长而充满不确定性。针对这些挑战，学术界也提出了多种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五篇最新的工业应用论文。这些论文展示了MARL在车臂协同、仓储优化、卫星调度、钢铁生产和轨道车辆组装等领域的具体应用。它们的共性趋势非常明显：首先，都从单智能体转向了多智能体协同；其次，研究更注重向实际部署延伸；最后，CTDE框架和图神经网络成为了主流技术选择。这些研究为我们理解MARL的落地应用提供了宝贵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现在我们进入复现论文部分。第一篇是NeurIPS 2025的RMTC，它关注的是紧急交通控制问题。这篇论文的核心创新是引入了“角色”概念。它不再把交通灯和车辆看作固定规则的执行者，而是让它们根据与紧急车辆的实时关系，动态扮演“协助者”或“正常参与者”的角色。其方法框架包括异构时序交通图、动态角色学习、角色感知MARL和内在奖励机制，共同实现了高效的协同控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MTC的实验在SUMO仿真平台上进行，涵盖了合成和真实路网场景，并与多种传统及MARL方法进行了对比。实验结果非常显著，在真实场景中，紧急车辆的旅行时间降低了超过23%，同时普通车辆的延误也得到了改善。这证明了RMTC方法不仅能保障紧急车辆快速通行，还能维持整体交通的流畅，成功解决了“跷跷板”难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第二篇复现论文是ICRA 2025的MARVEL，它解决的是受限视场下的多机器人探索问题。对于像无人机这样只能搭载摄像头的机器人，它们不仅要决定移动到哪里，还要决定传感器朝向哪里。这带来了大动作空间和稀疏奖励等挑战。MARVEL的核心方法是利用图注意力网络（GAT）来建模机器人间的协作，并通过创新的前沿-朝向特征融合和信息驱动的动作剪枝策略，高效地解决了这些难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ARVEL的实验在大规模室内环境中进行，并与多种经典和MARL方法对比。结果显示，MARVEL在效率上显著优于基线，轨迹长度降低了14.2%，并且能100%完成任务。更重要的是，它的策略对不同的传感器视场角有很好的泛化能力，无需重新训练，并且决策速度满足实时性要求。论文还通过Crazyflie无人机进行了实体验证，证明了算法的实际可行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第三篇复现论文是NeurIPS 2022的一篇工作，它挑战了一个固有认知：PPO在MARL中不行。这篇论文通过系统实验证明，只要配置得当，PPO在协作MARL中出奇地有效。它的核心贡献是总结了五个关键的配置因素，包括值归一化、价值函数输入、训练数据使用方式、PPO裁剪系数和Batch Size。这些最佳实践为我们提供了一个强大且易于实现的MARL基线算法。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篇论文在四个极具代表性的MARL基准环境中进行了验证，包括MPE、SMAC、谷歌足球和Hanabi游戏。实验结果表明，配置优化后的MAPPO（多智能体PPO）在所有环境中都取得了媲美甚至超越当时最先进方法的性能。这有力地证明了，PPO是一个被低估的强大工具，是构建MARL基线的绝佳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最后，我们对这三篇复现论文进行一个横向对比。RMTC关注交通控制，核心是动态角色学习；MARVEL关注机器人探索，核心是GNN与动作剪枝；而PPO in MARL则是一个通用的算法研究。它们各有侧重，复现价值也各不相同。我们的工作安排是，在接下来的4到6周内，分别针对每篇论文的核心创新点进行复现和实验验证，预期将成功复现其核心性能，并产出高质量的代码和报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tags" Target="../tags/tag2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29.png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image" Target="../media/image28.svg"/><Relationship Id="rId22" Type="http://schemas.openxmlformats.org/officeDocument/2006/relationships/image" Target="../media/image27.png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26.svg"/><Relationship Id="rId16" Type="http://schemas.openxmlformats.org/officeDocument/2006/relationships/image" Target="../media/image25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30.png"/><Relationship Id="rId10" Type="http://schemas.openxmlformats.org/officeDocument/2006/relationships/tags" Target="../tags/tag25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1.jpeg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tags" Target="../tags/tag39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38.jpeg"/><Relationship Id="rId2" Type="http://schemas.openxmlformats.org/officeDocument/2006/relationships/tags" Target="../tags/tag38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image" Target="../media/image37.svg"/><Relationship Id="rId16" Type="http://schemas.openxmlformats.org/officeDocument/2006/relationships/image" Target="../media/image36.png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9.png"/><Relationship Id="rId2" Type="http://schemas.openxmlformats.org/officeDocument/2006/relationships/tags" Target="../tags/tag50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svg"/><Relationship Id="rId8" Type="http://schemas.openxmlformats.org/officeDocument/2006/relationships/image" Target="../media/image46.png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8.png"/><Relationship Id="rId2" Type="http://schemas.openxmlformats.org/officeDocument/2006/relationships/tags" Target="../tags/tag5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0.pn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1.pn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svg"/><Relationship Id="rId8" Type="http://schemas.openxmlformats.org/officeDocument/2006/relationships/image" Target="../media/image56.png"/><Relationship Id="rId7" Type="http://schemas.openxmlformats.org/officeDocument/2006/relationships/image" Target="../media/image55.sv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多智能体强化学习控制与决策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365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论文调研与复现计划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8260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22400" y="48133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33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徐昊天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4572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48260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67300" y="48133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533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徐昊天、孟家祺、蔡家兴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4572000"/>
            <a:ext cx="33782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48260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12200" y="48133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5334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2026年7月6日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文献阅读概览——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篇综述 + 五篇应用 + 三篇复现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671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30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理论奠基 · 综述论文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147">
            <a:off x="952513" y="24320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03500"/>
            <a:ext cx="3086100" cy="336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控制与决策双维剖析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从博弈协同与自主决策切入，系统梳理非平稳性、信用分配等核心挑战，明确MARL演进脉络与未来方向。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博弈控制交叉融合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融合一致性理论与微分博弈，探索RL求解均衡新范式，为复杂场景协同控制提供理论支撑。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无通信协作算法分类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归纳VD、AC、ER三大主流框架，对比分析无通信场景下各范式的适用边界与性能优劣。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56100" y="1651000"/>
            <a:ext cx="34671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600" y="1930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276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落地实践 · 工业应用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147">
            <a:off x="4546613" y="24320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46600" y="2603500"/>
            <a:ext cx="3086100" cy="336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车臂协同：解耦式优化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基于DE-MADDPG将车体与机械臂解耦，兼顾全局抓取任务与局部操作性能，提升复杂场景协同精度。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动态场景：智能拓扑构建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融合GAT与数字孪生，自适应构建通信拓扑，解决仓储/交通动态拥挤环境下的路径规划难题。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异构调度：分层混合架构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针对钢铁、制造等场景，采用DDPG+DQN异构智能体或分层架构，适配连续控制与离散决策混合需求。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950200" y="1651000"/>
            <a:ext cx="34671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0700" y="1930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21700" y="19050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重点攻关 · 论文复现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147">
            <a:off x="8140713" y="2432050"/>
            <a:ext cx="3086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40700" y="2603500"/>
            <a:ext cx="3086100" cy="336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RMTC (NeurIPS 2025)：角色感知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创新动态角色机制，协同调控交通灯与车辆，平衡应急车辆通行效率与整体路网流畅度。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MARVEL (ICRA 2025)：受限探索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基于GAT与动作剪枝策略，解决机器人受限视场（FoV）下的协同探索与传感器朝向规划难题。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PPO in Coop Games：性能验证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实证PPO在协作MARL中的优异性能，挖掘关键配置因素，为算法选型与调优提供参考。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MARL研究框架与分类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控制视角 · 协同与稳定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32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渊源：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源于经典控制理论，聚焦多智能体协同控制基础。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解决编队、一致性等任务，保障系统稳定性、鲁棒性及全局指标（能耗/时间）最优。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结合微分博弈、一致性理论进行建模与收敛性分析。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59500" y="1397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0" y="1587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决策视角 · 交互与学习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渊源：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根植于AI与强化学习，面向不确定环境的序列决策。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智能体通过持续交互自主学习策略，最大化长期累积奖励。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价值分解(VDN/QMIX)、Actor-Critic(MADDPG/MAPPO)等主流算法框架。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873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3873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完全协作 (Fully Cooperative)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952513" y="43370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44704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共享全局奖励，目标与利益完全绑定，一荣俱荣。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多机器人协同搬运重物、分布式传感器网络全覆盖、MOBA游戏中团队合作通关。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18000" y="3683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3873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889500" y="3873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完全竞争 (Fully Competitive)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4508513" y="43370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44704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利益完全冲突，零和博弈，一方收益即另一方损失。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策略游戏中的攻防对抗（如星际争霸）、资源有限下的抢夺博弈、博弈论中的囚徒困境对抗。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74000" y="3683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4500" y="387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445500" y="38735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混合动机 (Mixed-Motive)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064513" y="43370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064500" y="44704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兼具合作与竞争，有共同利益也有私有目标，最贴近现实世界。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城市路网车辆博弈（通行效率与抢占）、供应链上下游的竞合、商业谈判与协商机制。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控制视角核心内容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651500"/>
            <a:ext cx="5080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127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57404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核心技术转化路径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6032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1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将复杂控制问题转化为博弈论模型，通过求解HJI方程获得解析解；面对未知动态模型，则采用无模型强化学习（如Actor-Critic框架），在交互中自适应逼近最优控制策略。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多智能体博弈：三类交互范式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0955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2225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零和博弈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540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收益总和为零，强调对抗与鲁棒性。典型应用于H∞鲁棒控制与两玩家对抗场景。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34290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非零和博弈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3746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利益不完全对立，存在共赢可能。核心解为纳什均衡，适用于资源分配与系统优化。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085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89000" y="46355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Stackelberg博弈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9000" y="495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主从序贯决策，领导者先行，跟随者响应。广泛应用于电网调度与供应链管理。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多智能体协同：四大关键维度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"/>
            </p:custDataLst>
          </p:nvPr>
        </p:nvSpPr>
        <p:spPr>
          <a:xfrm>
            <a:off x="6350000" y="2095500"/>
            <a:ext cx="2476500" cy="120142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228600" cy="2286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6"/>
            </p:custDataLst>
          </p:nvPr>
        </p:nvSpPr>
        <p:spPr>
          <a:xfrm>
            <a:off x="6794500" y="2222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协同任务场景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7"/>
            </p:custDataLst>
          </p:nvPr>
        </p:nvSpPr>
        <p:spPr>
          <a:xfrm>
            <a:off x="6477000" y="2519680"/>
            <a:ext cx="2222500" cy="6705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涵盖领航-跟随、编队飞行、包含控制及区域全覆盖任务。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9080500" y="2095500"/>
            <a:ext cx="2476500" cy="11938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7500" y="2222500"/>
            <a:ext cx="228600" cy="2286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12"/>
            </p:custDataLst>
          </p:nvPr>
        </p:nvSpPr>
        <p:spPr>
          <a:xfrm>
            <a:off x="9525000" y="22225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系统动态特性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13"/>
            </p:custDataLst>
          </p:nvPr>
        </p:nvSpPr>
        <p:spPr>
          <a:xfrm>
            <a:off x="9207500" y="2527300"/>
            <a:ext cx="2222500" cy="6629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支持连续/离散时间系统，兼容线性与非线性动力学模型。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14"/>
            </p:custDataLst>
          </p:nvPr>
        </p:nvSpPr>
        <p:spPr>
          <a:xfrm>
            <a:off x="6350000" y="3429000"/>
            <a:ext cx="2476500" cy="1153795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3556000"/>
            <a:ext cx="228600" cy="2286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18"/>
            </p:custDataLst>
          </p:nvPr>
        </p:nvSpPr>
        <p:spPr>
          <a:xfrm>
            <a:off x="6794500" y="3556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关键性能指标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19"/>
            </p:custDataLst>
          </p:nvPr>
        </p:nvSpPr>
        <p:spPr>
          <a:xfrm>
            <a:off x="6477000" y="3873500"/>
            <a:ext cx="2222500" cy="634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保障系统鲁棒性、有限时间收敛性，支持事件触发机制。</a:t>
            </a:r>
            <a:endParaRPr lang="en-US" sz="1100"/>
          </a:p>
        </p:txBody>
      </p:sp>
      <p:sp>
        <p:nvSpPr>
          <p:cNvPr id="30" name="AutoShape 30"/>
          <p:cNvSpPr/>
          <p:nvPr>
            <p:custDataLst>
              <p:tags r:id="rId20"/>
            </p:custDataLst>
          </p:nvPr>
        </p:nvSpPr>
        <p:spPr>
          <a:xfrm>
            <a:off x="9080500" y="3429000"/>
            <a:ext cx="2476500" cy="1153795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07500" y="3556000"/>
            <a:ext cx="228600" cy="2286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24"/>
            </p:custDataLst>
          </p:nvPr>
        </p:nvSpPr>
        <p:spPr>
          <a:xfrm>
            <a:off x="9525000" y="35560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模型依赖演进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25"/>
            </p:custDataLst>
          </p:nvPr>
        </p:nvSpPr>
        <p:spPr>
          <a:xfrm>
            <a:off x="9207500" y="3873500"/>
            <a:ext cx="2222500" cy="635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从完全已知模型，逐步过渡到无模型强化学习(RL)自适应控制。</a:t>
            </a:r>
            <a:endParaRPr lang="en-US" sz="110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64375" y="4714875"/>
            <a:ext cx="3651250" cy="2024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决策视角核心算法架构</a:t>
            </a:r>
            <a:endParaRPr lang="en-US" sz="1100"/>
          </a:p>
        </p:txBody>
      </p:sp>
      <p:sp>
        <p:nvSpPr>
          <p:cNvPr id="27" name="AutoShape 4"/>
          <p:cNvSpPr/>
          <p:nvPr>
            <p:custDataLst>
              <p:tags r:id="rId2"/>
            </p:custDataLst>
          </p:nvPr>
        </p:nvSpPr>
        <p:spPr>
          <a:xfrm>
            <a:off x="980440" y="138811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28" name="AutoShape 5"/>
          <p:cNvSpPr/>
          <p:nvPr>
            <p:custDataLst>
              <p:tags r:id="rId3"/>
            </p:custDataLst>
          </p:nvPr>
        </p:nvSpPr>
        <p:spPr>
          <a:xfrm>
            <a:off x="1107440" y="154051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DTDE 分散训练·分散执行</a:t>
            </a:r>
            <a:endParaRPr lang="en-US" sz="1100"/>
          </a:p>
        </p:txBody>
      </p:sp>
      <p:sp>
        <p:nvSpPr>
          <p:cNvPr id="29" name="AutoShape 6"/>
          <p:cNvSpPr/>
          <p:nvPr>
            <p:custDataLst>
              <p:tags r:id="rId4"/>
            </p:custDataLst>
          </p:nvPr>
        </p:nvSpPr>
        <p:spPr>
          <a:xfrm>
            <a:off x="1107440" y="195961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代表算法为独立Q学习，架构简单且易于扩展，但因忽视智能体间的交互，导致环境非平稳性问题突出，训练稳定性较差。</a:t>
            </a:r>
            <a:endParaRPr lang="en-US" sz="1100"/>
          </a:p>
        </p:txBody>
      </p:sp>
      <p:sp>
        <p:nvSpPr>
          <p:cNvPr id="30" name="AutoShape 7"/>
          <p:cNvSpPr/>
          <p:nvPr>
            <p:custDataLst>
              <p:tags r:id="rId5"/>
            </p:custDataLst>
          </p:nvPr>
        </p:nvSpPr>
        <p:spPr>
          <a:xfrm>
            <a:off x="980440" y="3132455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1" name="AutoShape 8"/>
          <p:cNvSpPr/>
          <p:nvPr>
            <p:custDataLst>
              <p:tags r:id="rId6"/>
            </p:custDataLst>
          </p:nvPr>
        </p:nvSpPr>
        <p:spPr>
          <a:xfrm>
            <a:off x="1107440" y="3284855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CTCE 中心训练·中心执行</a:t>
            </a:r>
            <a:endParaRPr lang="en-US" sz="1100"/>
          </a:p>
        </p:txBody>
      </p:sp>
      <p:sp>
        <p:nvSpPr>
          <p:cNvPr id="32" name="AutoShape 9"/>
          <p:cNvSpPr/>
          <p:nvPr>
            <p:custDataLst>
              <p:tags r:id="rId7"/>
            </p:custDataLst>
          </p:nvPr>
        </p:nvSpPr>
        <p:spPr>
          <a:xfrm>
            <a:off x="1107440" y="3703955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基于集中式单智能体扩展，理论上可达最优解。但随着智能体数量增加，状态-动作空间呈指数级爆炸，计算成本高昂。</a:t>
            </a:r>
            <a:endParaRPr lang="en-US" sz="1100"/>
          </a:p>
        </p:txBody>
      </p:sp>
      <p:sp>
        <p:nvSpPr>
          <p:cNvPr id="33" name="AutoShape 10"/>
          <p:cNvSpPr/>
          <p:nvPr>
            <p:custDataLst>
              <p:tags r:id="rId8"/>
            </p:custDataLst>
          </p:nvPr>
        </p:nvSpPr>
        <p:spPr>
          <a:xfrm>
            <a:off x="980440" y="4850765"/>
            <a:ext cx="35560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solidFill>
              <a:srgbClr val="22C55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4" name="AutoShape 11"/>
          <p:cNvSpPr/>
          <p:nvPr>
            <p:custDataLst>
              <p:tags r:id="rId9"/>
            </p:custDataLst>
          </p:nvPr>
        </p:nvSpPr>
        <p:spPr>
          <a:xfrm>
            <a:off x="1107440" y="5003165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CTDE 中心训练·分散执行</a:t>
            </a:r>
            <a:endParaRPr lang="en-US" sz="1100"/>
          </a:p>
        </p:txBody>
      </p:sp>
      <p:sp>
        <p:nvSpPr>
          <p:cNvPr id="35" name="AutoShape 12"/>
          <p:cNvSpPr/>
          <p:nvPr>
            <p:custDataLst>
              <p:tags r:id="rId10"/>
            </p:custDataLst>
          </p:nvPr>
        </p:nvSpPr>
        <p:spPr>
          <a:xfrm>
            <a:off x="1107440" y="5422265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当前主流范式，如MADDPG、QMIX。利用全局信息训练保证收敛，利用局部信息执行保证扩展性，完美平衡了效率与稳定性。</a:t>
            </a:r>
            <a:endParaRPr lang="en-US" sz="1100"/>
          </a:p>
        </p:txBody>
      </p:sp>
      <p:sp>
        <p:nvSpPr>
          <p:cNvPr id="48" name="AutoShape 25"/>
          <p:cNvSpPr/>
          <p:nvPr/>
        </p:nvSpPr>
        <p:spPr>
          <a:xfrm>
            <a:off x="5483860" y="5594985"/>
            <a:ext cx="5334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49" name="AutoShape 26"/>
          <p:cNvSpPr/>
          <p:nvPr/>
        </p:nvSpPr>
        <p:spPr>
          <a:xfrm>
            <a:off x="5610860" y="5683885"/>
            <a:ext cx="508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核心洞察：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DE架构是当前多智能体强化学习的“黄金标准”。它在训练阶段利用中心化的评判者或价值函数来指导学习，解决了环境非平稳问题；而在执行阶段，每个智能体仅依赖局部观测独立行动，确保了系统的实时性与可扩展性。</a:t>
            </a:r>
            <a:endParaRPr lang="en-US" sz="110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3485" y="973455"/>
            <a:ext cx="3714115" cy="4448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MARL核心挑战（一）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952500" y="1549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环境非平稳性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952500" y="2032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智能体策略的动态更新导致环境状态转移概率持续变化，破坏MDP稳态假设，使学习过程极易震荡甚至发散。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952500" y="2946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采用集中式训练分布式执行(CTDE)范式，结合对手建模预判行为，或引入平均场博弈简化交互复杂度。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381500" y="1397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4572000" y="1549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局部可观测性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572000" y="2032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单个智能体受限于传感器范围，仅能获取局部片面信息，无法感知系统全局状态，难以做出协同最优的决策。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572000" y="2946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利用RNN/DRQN记忆历史观测，建立智能体间显式通信机制，或利用图注意力网络聚合邻居信息。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001000" y="1397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8191500" y="15494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全局信用分配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8191500" y="2032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全局奖励信号无法直接、公平地归因于每个智能体的具体动作，易出现“搭便车”现象，削弱个体学习动力。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8191500" y="2946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使用VDN/QMIX等价值分解算法，引入反事实基线(COMA)，或基于沙普利值进行贡献度量化分配。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668000" cy="2032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cap="flat" cmpd="sng">
            <a:solidFill>
              <a:srgbClr val="C4CCDD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现实场景映射：城市交通协同调度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762500"/>
            <a:ext cx="609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路网是典型的多智能体复杂系统，完美映射了上述三大挑战。从拥堵识别、信号灯自适应控制到紧急车辆动态路径规划，每个节点（路口/车辆）都是局部观测的智能体，需通过分布式决策实现路网通行效率全局最优，是MARL技术落地的关键场景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rcRect l="22696" r="22696"/>
          <a:stretch>
            <a:fillRect/>
          </a:stretch>
        </p:blipFill>
        <p:spPr>
          <a:xfrm>
            <a:off x="7874000" y="4381500"/>
            <a:ext cx="3302000" cy="1651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MARL核心挑战（二）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842000" cy="15220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397000" y="18161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维度灾难 (Curse of Dimensionality)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2260600"/>
            <a:ext cx="539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智能体数量增加导致联合状态与动作空间呈指数级爆炸，计算与存储成本剧增。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引入参数共享机制、平均场近似(MF)简化交互或利用分层强化学习(HRL)解耦。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762000" y="3238500"/>
            <a:ext cx="5842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1397000" y="3403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样本效率低下 (Sample Inefficiency)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952500" y="3848100"/>
            <a:ext cx="539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多智能体交互的高度动态性导致需要海量试错数据，策略收敛缓慢且不稳定。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构建共享经验回放池、实施课程学习(Curriculum Learning)或离线RL预训练。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826000"/>
            <a:ext cx="5842000" cy="151511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1397000" y="49911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稀疏奖励 (Sparse Rewards)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952500" y="5435600"/>
            <a:ext cx="539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任务中有效反馈信号稀缺，智能体难以在漫长的探索中获得持续的学习指引。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设计奖励重塑(Reward Shaping)、引入内在动机(Intrinsic Motivation)或设置子目标。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0"/>
          <a:srcRect t="1562" b="1562"/>
          <a:stretch>
            <a:fillRect/>
          </a:stretch>
        </p:blipFill>
        <p:spPr>
          <a:xfrm>
            <a:off x="7366000" y="1778000"/>
            <a:ext cx="3048000" cy="3937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7366000" y="5778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如同迷宫寻宝，只有抵达终点才能获得奖励，过程充满未知的探索与耐心的考验。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7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工业应用论文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调研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4"/>
          <p:cNvSpPr/>
          <p:nvPr/>
        </p:nvSpPr>
        <p:spPr>
          <a:xfrm>
            <a:off x="762000" y="139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9" name="AutoShape 5"/>
          <p:cNvSpPr/>
          <p:nvPr/>
        </p:nvSpPr>
        <p:spPr>
          <a:xfrm>
            <a:off x="889000" y="152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车臂协同控制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陈晋生等 (2026) | DE-MADDPG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将单机械臂分解为“车体+臂”双智能体，创新采用1全局+2局部Critic架构。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启发：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单体系统可按功能解构为多智能体，通过协同突破单机性能上限。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6"/>
          <p:cNvSpPr/>
          <p:nvPr/>
        </p:nvSpPr>
        <p:spPr>
          <a:xfrm>
            <a:off x="4381500" y="139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1" name="AutoShape 7"/>
          <p:cNvSpPr/>
          <p:nvPr/>
        </p:nvSpPr>
        <p:spPr>
          <a:xfrm>
            <a:off x="4508500" y="152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仓储动态路径优化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黄博文等 (2026) | GAT-D3QN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利用图注意力网络(GAT)动态构建通信拓扑，结合D3QN实现高效路径决策。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启发：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GAT可自适应建模智能体间动态关系，解决动态环境下的通信与协作难题。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8"/>
          <p:cNvSpPr/>
          <p:nvPr/>
        </p:nvSpPr>
        <p:spPr>
          <a:xfrm>
            <a:off x="8001000" y="139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3" name="AutoShape 9"/>
          <p:cNvSpPr/>
          <p:nvPr/>
        </p:nvSpPr>
        <p:spPr>
          <a:xfrm>
            <a:off x="8128000" y="152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卫星通算资源分配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景毅等 (2026) | 层次化MARL+TD3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中轨卫星集中训练，低轨卫星分布式执行，多智能体TD3处理连续动作空间。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启发：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控制面与数据面解耦，分层架构有效解决大规模异构系统的可扩展性问题。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0"/>
          <p:cNvSpPr/>
          <p:nvPr/>
        </p:nvSpPr>
        <p:spPr>
          <a:xfrm>
            <a:off x="762000" y="3556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5" name="AutoShape 11"/>
          <p:cNvSpPr/>
          <p:nvPr/>
        </p:nvSpPr>
        <p:spPr>
          <a:xfrm>
            <a:off x="889000" y="3683000"/>
            <a:ext cx="5016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钢铁多能耦合调度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胡枭等 (2026) | DDPG-DQN异构多智能体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设计异构团队：DDPG处理连续生产控制，DQN负责离散工序决策。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异构智能体分工协作，让专业模型处理专业问题，大幅提升复杂工业场景的调度精度。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2"/>
          <p:cNvSpPr/>
          <p:nvPr/>
        </p:nvSpPr>
        <p:spPr>
          <a:xfrm>
            <a:off x="6286500" y="3556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7" name="AutoShape 13"/>
          <p:cNvSpPr/>
          <p:nvPr/>
        </p:nvSpPr>
        <p:spPr>
          <a:xfrm>
            <a:off x="6413500" y="3683000"/>
            <a:ext cx="5016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轨道车辆组装调度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孟祥恒等 (2026) | 两阶段MADRL+HHGAT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上层分配资源、下层动态排产，利用分层异构图注意力网络捕捉工艺差异。</a:t>
            </a:r>
            <a:r>
              <a:rPr lang="en-US" sz="1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异构图建模能精准刻画生产要素的异构性，辅助智能体做出更具全局视野的决策。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4"/>
          <p:cNvSpPr/>
          <p:nvPr/>
        </p:nvSpPr>
        <p:spPr>
          <a:xfrm>
            <a:off x="762000" y="5524500"/>
            <a:ext cx="10795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9" name="AutoShape 15"/>
          <p:cNvSpPr/>
          <p:nvPr/>
        </p:nvSpPr>
        <p:spPr>
          <a:xfrm>
            <a:off x="889000" y="5613400"/>
            <a:ext cx="1054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行业共性趋势洞察：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从单智能体决策向多智能体协同深度演进，打破单体能力边界； 2. 研究重心从纯仿真验证向实车/工业实景部署延伸，强调工程落地性； 3. CTDE（集中训练分布式执行）框架与图神经网络（GNN）成为解决复杂工业调度的主流技术范式。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RMTC：角色感知多智能体交通控制（框架与方法）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NeurIPS 2025 收录论文 | 作者：Ming Cheng, Hao Chen, Senzhang Wang 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88950" y="1585595"/>
            <a:ext cx="5080000" cy="3934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问题与动机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在紧急交通场景下，传统交通控制系统采用固定配时方案，难以调和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紧急车辆（EMV）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的优先通行需求与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普通车流（REV）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的整体通行效率。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现有方法多为静态优先级设定，缺乏对交通参与者动态关系的感知，导致协作低效、策略泛化性差。因此，亟需一种能让智能体（交通灯、车辆）根据与EMV的实时关系自适应调整行为的动态协同控制机制。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0" y="177800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核心方法框架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350000" y="2298065"/>
          <a:ext cx="4953000" cy="165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"/>
                <a:gridCol w="4572000"/>
              </a:tblGrid>
              <a:tr h="412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HTTG异构时序交通图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：刻画多智能体时空交互与动态依赖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12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动态角色智能推断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：基于图结构实时推断智能体“角色”属性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12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角色感知MARL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：将角色作为策略输入，锚定全局协作目标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127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角色一致性内在奖励</a:t>
                      </a: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：引导行为协同，加速策略收敛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4024630"/>
            <a:ext cx="6298565" cy="2736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RMTC实验设置与预期效果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实验设置与环境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387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仿真平台：SUMO交通仿真器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SUMO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Simulation of Urban MObility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）交通仿真器，通过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TraCI API 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控制车辆运动和信号灯。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276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多维路网：合成与真实场景结合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覆盖Grid4x4等合成路网及Cologne8、FengLin真实城市路网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共计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4 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个交通场景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，验证算法泛化性。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91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165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全面对标：8+种主流基线算法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对比Fixed-Time、MaxPressure等传统控制，及IPPO、CoLight等先进MARL模型。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08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5054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核心指标：双重视角评估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重点考核紧急车辆(EMV)平均旅行时间(T_env)与社会车辆(REV)平均延误。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397000"/>
            <a:ext cx="5207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预期效果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413000"/>
            <a:ext cx="4826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254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Cologne8 场景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EMV 平均旅行时间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23.4%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90000" y="2540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FengLin 场景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EMV 平均旅行时间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23.5%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064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4254500"/>
            <a:ext cx="457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核心突破：打破“跷跷板”实现双赢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大幅降低EMV通行时间，社会车辆(REV)平均延误同步改善 5-8%。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复杂场景（多EMV并发、高峰拥堵）下保持鲁棒性，兼顾效率与公平。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MARVEL：受限视场多机器人探索（框架与方法）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ICRA 2025 | Jimmy Chiun, Shizhe Zhang, Yuhong Cao, Guillaume Sartoretti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3B82F6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问题与动机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4572000" cy="2210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轻量无人机等移动机器人常受限于传感器视场（FoV）约束，需同步规划移动位置与传感器朝向，导致动作空间急剧膨胀。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同时，未知环境探索任务存在奖励稀疏、多机器人间信用分配困难等核心挑战，传统单一体探索算法难以高效应对，亟需设计针对性的多智能体协作探索框架。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391400" y="1316990"/>
          <a:ext cx="3714115" cy="27228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71320"/>
                <a:gridCol w="2042795"/>
              </a:tblGrid>
              <a:tr h="447040">
                <a:tc gridSpan="2"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E3A8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核心方法框架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 hMerge="1">
                  <a:tcPr marL="101600" marR="101600" marT="101600" marB="101600" anchor="ctr">
                    <a:lnL>
                      <a:noFill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89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GAT策略网络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以图注意力机制建模多机拓扑关联与协作依赖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89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前沿-朝向特征融合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编码环境前沿分布，增强状态表征判别性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89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信息驱动动作剪枝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基于互信息增益筛选高价值动作，降低空间维度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89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CTDE协同范式</a:t>
                      </a:r>
                      <a:endParaRPr lang="en-US" sz="1100"/>
                    </a:p>
                  </a:txBody>
                  <a:tcPr marL="127000" marR="101600" marT="101600" marB="101600" anchor="t" anchorCtr="0">
                    <a:lnL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集中训练、分散执行，适配动态编队规模</a:t>
                      </a:r>
                      <a:endParaRPr lang="en-US" sz="1100"/>
                    </a:p>
                  </a:txBody>
                  <a:tcPr marL="127000" marR="1270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82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135" y="4039870"/>
            <a:ext cx="5668645" cy="27609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67030"/>
            <a:ext cx="56235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MARVEL实验设置与预期效果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09980"/>
            <a:ext cx="5019675" cy="5564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▍实验设置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训练数据集：使用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5,663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张随机生成的大型室内二维地图（训练时未见过的地图用于泛化测试）</a:t>
            </a:r>
            <a:endParaRPr lang="zh-CN" alt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环境规模：地图大小为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90m </a:t>
            </a:r>
            <a:r>
              <a:rPr lang="en-US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×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90m</a:t>
            </a:r>
            <a:endParaRPr lang="zh-CN" alt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训练代理数量：固定为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4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</a:t>
            </a:r>
            <a:endParaRPr lang="zh-CN" alt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评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传感器默认参数：视场角（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FoV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）为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120</a:t>
            </a:r>
            <a:r>
              <a:rPr lang="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°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，传感器探测范围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d = 10m</a:t>
            </a:r>
            <a:endParaRPr lang="zh-CN" alt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测试数据集：额外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100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未在训练中出现过的全新大型地图（同样是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90m </a:t>
            </a:r>
            <a:r>
              <a:rPr lang="en-US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×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90m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）。</a:t>
            </a:r>
            <a:endParaRPr lang="zh-CN" altLang="en-US" sz="15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评估指标：轨迹长度（完成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99%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覆盖和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覆盖所需的移动距离，越低越好）；重叠率（代理间共享感测区域的比例，衡量协作效率）；成功率（在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128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步内达到</a:t>
            </a:r>
            <a:r>
              <a:rPr lang="en-US" altLang="zh-CN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99%</a:t>
            </a:r>
            <a:r>
              <a:rPr lang="zh-CN" alt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覆盖的测试百分比）。</a:t>
            </a:r>
            <a:endParaRPr lang="zh-CN" altLang="en-US" sz="15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5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对比基线：包括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Nearest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（最近前沿点）、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MMPF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（人工势场法）、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NBVP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（基于采样的下一最佳视角）、</a:t>
            </a:r>
            <a:r>
              <a:rPr lang="en-US" altLang="zh-CN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Learnt-Greedy</a:t>
            </a:r>
            <a:r>
              <a:rPr lang="zh-CN" alt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（基于图注意力的强化学习方法）。</a:t>
            </a:r>
            <a:endParaRPr lang="zh-CN" altLang="en-US" sz="15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▍预期效果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223000" y="4826000"/>
          <a:ext cx="5080000" cy="152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429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评估指标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预期结果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轨迹长度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较基线算法降低14.2%，效率显著提升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任务完成率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实现100%任务完成，鲁棒性强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780" y="1236980"/>
            <a:ext cx="428244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PPO in Cooperative MARL（框架与方法）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NeurIPS 2022 | Chao Yu, Akash Velu, Eugene Vinitsky, Yi Wu 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2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核心发现与动机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固有认知</a:t>
            </a:r>
            <a:endParaRPr lang="en-US" sz="15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传统观点认为，PPO作为on-policy算法，在多智能体场景下因样本利用率低，性能难以匹敌off-policy类算法。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核心发现</a:t>
            </a:r>
            <a:endParaRPr lang="en-US" sz="15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实验证明，经适当配置的PPO在协作MARL中表现优异，性能媲美甚至超越当前SOTA的off-policy方法。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核心贡献</a:t>
            </a:r>
            <a:endParaRPr lang="en-US" sz="1500" b="1" i="0" u="none" strike="noStrike">
              <a:solidFill>
                <a:srgbClr val="22C55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系统识别出5个对PPO性能起决定性作用的配置因素，为领域提供了一个强大且易于实现的基准基线。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5大关键配置因素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值归一化 (Value Norm)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：抑制数值波动，稳定训练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混合状态输入 (AS/FP)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：融合全局与局部特征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限制复用 (10-15 Epochs)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：平衡利用率与稳定性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保守裁剪系数 (ε ≤ 0.2)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：确保更新稳定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充足的 Batch Size 规模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：降低梯度方差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4524375"/>
            <a:ext cx="6332220" cy="18364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PPO in MARL实验验证与预期效果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5080000"/>
          </a:xfrm>
          <a:prstGeom prst="roundRect">
            <a:avLst>
              <a:gd name="adj" fmla="val 3571"/>
            </a:avLst>
          </a:prstGeom>
          <a:solidFill>
            <a:srgbClr val="F9FAFB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实验设置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323">
            <a:off x="1016013" y="2279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2540000"/>
            <a:ext cx="3048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多场景测试环境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覆盖MPE、SMAC、GRF及Hanabi，涵盖协作与竞争场景。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主流基线对比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对标QMIX、MADDPG、VDN等经典及SOTA算法。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两种核心变体</a:t>
            </a:r>
            <a:endParaRPr lang="en-US" sz="14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MAPPO（中心化训练）与IPPO（独立训练）并行验证。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826000" y="15240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预期效果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6875">
            <a:off x="4826006" y="2025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4826000" y="2222500"/>
            <a:ext cx="635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MPE协作环境：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MAPPO性能媲美甚至优于QMIX与MADDPG，稳定性与收敛速度表现优异。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SMAC星际争霸II：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在多数困难地图上达到或超越RODE等算法，策略泛化性极强。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GRF谷歌足球：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表现显著优于QMix，对高维动作空间适应性良好。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Hanabi纸牌游戏：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部分可观测场景下与SOTA方法相当或更优，验证通信协作潜力。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445" y="3619500"/>
            <a:ext cx="4563110" cy="3217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三篇复现论文对比与工作安排</a:t>
            </a:r>
            <a:endParaRPr lang="en-US" sz="1100"/>
          </a:p>
        </p:txBody>
      </p:sp>
      <p:sp>
        <p:nvSpPr>
          <p:cNvPr id="9" name="AutoShape 4"/>
          <p:cNvSpPr/>
          <p:nvPr/>
        </p:nvSpPr>
        <p:spPr>
          <a:xfrm>
            <a:off x="762000" y="152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0" name="AutoShape 5"/>
          <p:cNvSpPr/>
          <p:nvPr/>
        </p:nvSpPr>
        <p:spPr>
          <a:xfrm>
            <a:off x="8890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RMTC (NeurIPS 2025)</a:t>
            </a:r>
            <a:endParaRPr lang="en-US" sz="1100"/>
          </a:p>
        </p:txBody>
      </p:sp>
      <p:cxnSp>
        <p:nvCxnSpPr>
          <p:cNvPr id="11" name="Connector 6"/>
          <p:cNvCxnSpPr/>
          <p:nvPr/>
        </p:nvCxnSpPr>
        <p:spPr>
          <a:xfrm rot="-13974">
            <a:off x="889013" y="215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7"/>
          <p:cNvSpPr/>
          <p:nvPr/>
        </p:nvSpPr>
        <p:spPr>
          <a:xfrm>
            <a:off x="889000" y="2286000"/>
            <a:ext cx="312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城市交通信号控制优化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角色感知PPO + HTTG时空图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动态角色学习机制，解决异质智能体协作难题，提升路网通行效率。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4394200" y="152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4" name="AutoShape 9"/>
          <p:cNvSpPr/>
          <p:nvPr/>
        </p:nvSpPr>
        <p:spPr>
          <a:xfrm>
            <a:off x="45212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MARVEL (ICRA 2025)</a:t>
            </a:r>
            <a:endParaRPr lang="en-US" sz="1100"/>
          </a:p>
        </p:txBody>
      </p:sp>
      <p:cxnSp>
        <p:nvCxnSpPr>
          <p:cNvPr id="15" name="Connector 10"/>
          <p:cNvCxnSpPr/>
          <p:nvPr/>
        </p:nvCxnSpPr>
        <p:spPr>
          <a:xfrm rot="-13974">
            <a:off x="4521213" y="215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1"/>
          <p:cNvSpPr/>
          <p:nvPr/>
        </p:nvSpPr>
        <p:spPr>
          <a:xfrm>
            <a:off x="4521200" y="2286000"/>
            <a:ext cx="312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未知环境下的多机器人协同探索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GAT图注意力 + 动作剪枝策略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融合朝向特征，降低通信开销，加速未知环境下的地图构建与目标搜索。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2"/>
          <p:cNvSpPr/>
          <p:nvPr/>
        </p:nvSpPr>
        <p:spPr>
          <a:xfrm>
            <a:off x="8026400" y="1524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18" name="AutoShape 13"/>
          <p:cNvSpPr/>
          <p:nvPr/>
        </p:nvSpPr>
        <p:spPr>
          <a:xfrm>
            <a:off x="8153400" y="1714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PPO in MARL (NeurIPS 2022)</a:t>
            </a:r>
            <a:endParaRPr lang="en-US" sz="1100"/>
          </a:p>
        </p:txBody>
      </p:sp>
      <p:cxnSp>
        <p:nvCxnSpPr>
          <p:cNvPr id="19" name="Connector 14"/>
          <p:cNvCxnSpPr/>
          <p:nvPr/>
        </p:nvCxnSpPr>
        <p:spPr>
          <a:xfrm rot="-13974">
            <a:off x="8153413" y="2152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15"/>
          <p:cNvSpPr/>
          <p:nvPr/>
        </p:nvSpPr>
        <p:spPr>
          <a:xfrm>
            <a:off x="8153400" y="2286000"/>
            <a:ext cx="3124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通用多智能体强化学习基准验证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MAPPO / IPPO 算法深度剖析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揭示算法性能的五大关键配置因素，为MARL算法调优提供理论与实践参考。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16"/>
          <p:cNvSpPr/>
          <p:nvPr/>
        </p:nvSpPr>
        <p:spPr>
          <a:xfrm>
            <a:off x="762000" y="4127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2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318000"/>
            <a:ext cx="304800" cy="304800"/>
          </a:xfrm>
          <a:prstGeom prst="rect">
            <a:avLst/>
          </a:prstGeom>
        </p:spPr>
      </p:pic>
      <p:sp>
        <p:nvSpPr>
          <p:cNvPr id="23" name="AutoShape 18"/>
          <p:cNvSpPr/>
          <p:nvPr/>
        </p:nvSpPr>
        <p:spPr>
          <a:xfrm>
            <a:off x="1397000" y="431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RMTC 复现核心攻坚</a:t>
            </a:r>
            <a:endParaRPr lang="en-US" sz="1100"/>
          </a:p>
        </p:txBody>
      </p:sp>
      <p:sp>
        <p:nvSpPr>
          <p:cNvPr id="24" name="AutoShape 19"/>
          <p:cNvSpPr/>
          <p:nvPr/>
        </p:nvSpPr>
        <p:spPr>
          <a:xfrm>
            <a:off x="952500" y="4699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重点构建HTTG时空图模型，实现基于任务相关性的动态角色划分与切换模块，设计角色感知的内在奖励函数，引导智能体形成高效协作。</a:t>
            </a:r>
            <a:endParaRPr lang="en-US" sz="1100"/>
          </a:p>
        </p:txBody>
      </p:sp>
      <p:sp>
        <p:nvSpPr>
          <p:cNvPr id="25" name="AutoShape 20"/>
          <p:cNvSpPr/>
          <p:nvPr/>
        </p:nvSpPr>
        <p:spPr>
          <a:xfrm>
            <a:off x="6159500" y="4127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26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318000"/>
            <a:ext cx="304800" cy="304800"/>
          </a:xfrm>
          <a:prstGeom prst="rect">
            <a:avLst/>
          </a:prstGeom>
        </p:spPr>
      </p:pic>
      <p:sp>
        <p:nvSpPr>
          <p:cNvPr id="27" name="AutoShape 22"/>
          <p:cNvSpPr/>
          <p:nvPr/>
        </p:nvSpPr>
        <p:spPr>
          <a:xfrm>
            <a:off x="6794500" y="431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MARVEL 关键技术复现</a:t>
            </a:r>
            <a:endParaRPr lang="en-US" sz="1100"/>
          </a:p>
        </p:txBody>
      </p:sp>
      <p:sp>
        <p:nvSpPr>
          <p:cNvPr id="28" name="AutoShape 23"/>
          <p:cNvSpPr/>
          <p:nvPr/>
        </p:nvSpPr>
        <p:spPr>
          <a:xfrm>
            <a:off x="6350000" y="4699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实现基于GAT的编码器-解码器架构，复现前沿与朝向特征的融合机制，验证基于通信效率的动作剪枝策略在降低延迟方面的有效性。</a:t>
            </a:r>
            <a:endParaRPr lang="en-US" sz="1100"/>
          </a:p>
        </p:txBody>
      </p:sp>
      <p:sp>
        <p:nvSpPr>
          <p:cNvPr id="29" name="AutoShape 24"/>
          <p:cNvSpPr/>
          <p:nvPr/>
        </p:nvSpPr>
        <p:spPr>
          <a:xfrm>
            <a:off x="762000" y="5397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0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588000"/>
            <a:ext cx="304800" cy="304800"/>
          </a:xfrm>
          <a:prstGeom prst="rect">
            <a:avLst/>
          </a:prstGeom>
        </p:spPr>
      </p:pic>
      <p:sp>
        <p:nvSpPr>
          <p:cNvPr id="31" name="AutoShape 26"/>
          <p:cNvSpPr/>
          <p:nvPr/>
        </p:nvSpPr>
        <p:spPr>
          <a:xfrm>
            <a:off x="1397000" y="558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PPO 算法与消融实验</a:t>
            </a:r>
            <a:endParaRPr lang="en-US" sz="1100"/>
          </a:p>
        </p:txBody>
      </p:sp>
      <p:sp>
        <p:nvSpPr>
          <p:cNvPr id="32" name="AutoShape 27"/>
          <p:cNvSpPr/>
          <p:nvPr/>
        </p:nvSpPr>
        <p:spPr>
          <a:xfrm>
            <a:off x="952500" y="5969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完整复现MAPPO与IPPO核心逻辑，针对论文提出的中心化训练、策略正则化等五大关键配置因素开展对照实验，量化分析各因素对性能的影响。</a:t>
            </a:r>
            <a:endParaRPr lang="en-US" sz="1100"/>
          </a:p>
        </p:txBody>
      </p:sp>
      <p:sp>
        <p:nvSpPr>
          <p:cNvPr id="33" name="AutoShape 28"/>
          <p:cNvSpPr/>
          <p:nvPr/>
        </p:nvSpPr>
        <p:spPr>
          <a:xfrm>
            <a:off x="6159500" y="53975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pic>
        <p:nvPicPr>
          <p:cNvPr id="34" name="Pictur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5588000"/>
            <a:ext cx="304800" cy="304800"/>
          </a:xfrm>
          <a:prstGeom prst="rect">
            <a:avLst/>
          </a:prstGeom>
        </p:spPr>
      </p:pic>
      <p:sp>
        <p:nvSpPr>
          <p:cNvPr id="35" name="AutoShape 30"/>
          <p:cNvSpPr/>
          <p:nvPr/>
        </p:nvSpPr>
        <p:spPr>
          <a:xfrm>
            <a:off x="6794500" y="5588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周期规划与交付成果</a:t>
            </a:r>
            <a:endParaRPr lang="en-US" sz="1100"/>
          </a:p>
        </p:txBody>
      </p:sp>
      <p:sp>
        <p:nvSpPr>
          <p:cNvPr id="36" name="AutoShape 31"/>
          <p:cNvSpPr/>
          <p:nvPr/>
        </p:nvSpPr>
        <p:spPr>
          <a:xfrm>
            <a:off x="6350000" y="59690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预计耗时2-3周，分阶段完成环境搭建、算法实现与全量实验验证；最终交付可一键复现的开源代码库、详细实验报告及核心指标的性能对比分析。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2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3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4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5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6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7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8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9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0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1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2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3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4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5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6.xml><?xml version="1.0" encoding="utf-8"?>
<p:tagLst xmlns:p="http://schemas.openxmlformats.org/presentationml/2006/main">
  <p:tag name="KSO_WM_DIAGRAM_VIRTUALLY_FRAME" val="{&quot;height&quot;:260,&quot;left&quot;:500,&quot;top&quot;:165,&quot;width&quot;:410}"/>
</p:tagLst>
</file>

<file path=ppt/tags/tag17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18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19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0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1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2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3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4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5.xml><?xml version="1.0" encoding="utf-8"?>
<p:tagLst xmlns:p="http://schemas.openxmlformats.org/presentationml/2006/main">
  <p:tag name="KSO_WM_DIAGRAM_VIRTUALLY_FRAME" val="{&quot;height&quot;:408.35,&quot;left&quot;:60,&quot;top&quot;:109.3,&quot;width&quot;:840}"/>
</p:tagLst>
</file>

<file path=ppt/tags/tag26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27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28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29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0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1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2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3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4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5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6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7.xml><?xml version="1.0" encoding="utf-8"?>
<p:tagLst xmlns:p="http://schemas.openxmlformats.org/presentationml/2006/main">
  <p:tag name="KSO_WM_DIAGRAM_VIRTUALLY_FRAME" val="{&quot;height&quot;:185,&quot;left&quot;:60,&quot;top&quot;:110,&quot;width&quot;:840}"/>
</p:tagLst>
</file>

<file path=ppt/tags/tag38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39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0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1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2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3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4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5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6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7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8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49.xml><?xml version="1.0" encoding="utf-8"?>
<p:tagLst xmlns:p="http://schemas.openxmlformats.org/presentationml/2006/main">
  <p:tag name="KSO_WM_DIAGRAM_VIRTUALLY_FRAME" val="{&quot;height&quot;:369.3,&quot;left&quot;:60,&quot;top&quot;:130,&quot;width&quot;:460}"/>
</p:tagLst>
</file>

<file path=ppt/tags/tag50.xml><?xml version="1.0" encoding="utf-8"?>
<p:tagLst xmlns:p="http://schemas.openxmlformats.org/presentationml/2006/main">
  <p:tag name="TABLE_ENDDRAG_ORIGIN_RECT" val="390*129"/>
  <p:tag name="TABLE_ENDDRAG_RECT" val="500*180*390*129"/>
</p:tagLst>
</file>

<file path=ppt/tags/tag51.xml><?xml version="1.0" encoding="utf-8"?>
<p:tagLst xmlns:p="http://schemas.openxmlformats.org/presentationml/2006/main">
  <p:tag name="TABLE_ENDDRAG_ORIGIN_RECT" val="292*181"/>
  <p:tag name="TABLE_ENDDRAG_RECT" val="582*114*292*181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6378</Words>
  <Application>WPS 演示</Application>
  <PresentationFormat/>
  <Paragraphs>359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WPS_1686359452</cp:lastModifiedBy>
  <cp:revision>45</cp:revision>
  <dcterms:created xsi:type="dcterms:W3CDTF">2026-07-06T05:42:02Z</dcterms:created>
  <dcterms:modified xsi:type="dcterms:W3CDTF">2026-07-06T07:10:31Z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{"Label":"1","ContentProducer":"001191110102MACQD9K64010000","ProduceID":"7659285321406008542","ReservedCode1":"","ContentPropagator":"","PropagateID":"","ReservedCode2":""}</vt:lpwstr>
  </property>
  <property fmtid="{D5CDD505-2E9C-101B-9397-08002B2CF9AE}" pid="3" name="ICV">
    <vt:lpwstr>E9B10FB93FB3427382B869156E751FEE_12</vt:lpwstr>
  </property>
  <property fmtid="{D5CDD505-2E9C-101B-9397-08002B2CF9AE}" pid="4" name="KSOProductBuildVer">
    <vt:lpwstr>2052-12.1.0.21541</vt:lpwstr>
  </property>
</Properties>
</file>