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5.svg" ContentType="image/svg+xml"/>
  <Override PartName="/ppt/media/image1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9"/>
  </p:handoutMasterIdLst>
  <p:sldIdLst>
    <p:sldId id="5820" r:id="rId3"/>
    <p:sldId id="261" r:id="rId5"/>
    <p:sldId id="262" r:id="rId6"/>
    <p:sldId id="5850" r:id="rId7"/>
    <p:sldId id="5851" r:id="rId8"/>
    <p:sldId id="5852" r:id="rId9"/>
    <p:sldId id="5853" r:id="rId10"/>
    <p:sldId id="5855" r:id="rId11"/>
    <p:sldId id="5856" r:id="rId12"/>
    <p:sldId id="5857" r:id="rId13"/>
    <p:sldId id="5858" r:id="rId14"/>
    <p:sldId id="5825" r:id="rId15"/>
    <p:sldId id="5826" r:id="rId16"/>
    <p:sldId id="5827" r:id="rId17"/>
    <p:sldId id="5828" r:id="rId18"/>
    <p:sldId id="5829" r:id="rId19"/>
    <p:sldId id="5854" r:id="rId20"/>
    <p:sldId id="5831" r:id="rId21"/>
    <p:sldId id="5832" r:id="rId22"/>
    <p:sldId id="5833" r:id="rId23"/>
    <p:sldId id="5834" r:id="rId24"/>
    <p:sldId id="5835" r:id="rId25"/>
    <p:sldId id="5859" r:id="rId26"/>
    <p:sldId id="5841" r:id="rId27"/>
    <p:sldId id="5799" r:id="rId28"/>
  </p:sldIdLst>
  <p:sldSz cx="9144000" cy="5143500" type="screen16x9"/>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62" userDrawn="1">
          <p15:clr>
            <a:srgbClr val="A4A3A4"/>
          </p15:clr>
        </p15:guide>
        <p15:guide id="2" pos="292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M" initials="Z" lastIdx="1" clrIdx="0"/>
  <p:cmAuthor id="2" name="张萌" initials="张萌"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70C0"/>
    <a:srgbClr val="254061"/>
    <a:srgbClr val="C0504D"/>
    <a:srgbClr val="C00000"/>
    <a:srgbClr val="F2F2F2"/>
    <a:srgbClr val="9BBB59"/>
    <a:srgbClr val="8064A2"/>
    <a:srgbClr val="0F4A94"/>
    <a:srgbClr val="2D5493"/>
    <a:srgbClr val="C000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2" autoAdjust="0"/>
    <p:restoredTop sz="95904" autoAdjust="0"/>
  </p:normalViewPr>
  <p:slideViewPr>
    <p:cSldViewPr showGuides="1">
      <p:cViewPr varScale="1">
        <p:scale>
          <a:sx n="138" d="100"/>
          <a:sy n="138" d="100"/>
        </p:scale>
        <p:origin x="132" y="966"/>
      </p:cViewPr>
      <p:guideLst>
        <p:guide orient="horz" pos="1662"/>
        <p:guide pos="2920"/>
      </p:guideLst>
    </p:cSldViewPr>
  </p:slideViewPr>
  <p:notesTextViewPr>
    <p:cViewPr>
      <p:scale>
        <a:sx n="3" d="2"/>
        <a:sy n="3" d="2"/>
      </p:scale>
      <p:origin x="0" y="0"/>
    </p:cViewPr>
  </p:notesTextViewPr>
  <p:sorterViewPr>
    <p:cViewPr>
      <p:scale>
        <a:sx n="150" d="100"/>
        <a:sy n="150" d="100"/>
      </p:scale>
      <p:origin x="0" y="-1446"/>
    </p:cViewPr>
  </p:sorterViewPr>
  <p:notesViewPr>
    <p:cSldViewPr>
      <p:cViewPr varScale="1">
        <p:scale>
          <a:sx n="92" d="100"/>
          <a:sy n="92" d="100"/>
        </p:scale>
        <p:origin x="2892" y="9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commentAuthors" Target="commentAuthors.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5DB14B72-DD62-42EF-A56A-B0D0B29803F1}" type="datetimeFigureOut">
              <a:rPr lang="zh-CN" altLang="en-US" smtClean="0"/>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4818E657-4997-427D-A372-CFE44FC5B57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D82A5992-9D73-4015-9385-ABE035416B2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7795A699-AB68-4A20-99FB-6F69DC266D4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2565" algn="l" defTabSz="914400" rtl="0" eaLnBrk="1" latinLnBrk="0" hangingPunct="1">
      <a:defRPr sz="1200" kern="1200">
        <a:solidFill>
          <a:schemeClr val="tx1"/>
        </a:solidFill>
        <a:latin typeface="+mn-lt"/>
        <a:ea typeface="+mn-ea"/>
        <a:cs typeface="+mn-cs"/>
      </a:defRPr>
    </a:lvl7pPr>
    <a:lvl8pPr marL="3199765" algn="l" defTabSz="914400" rtl="0" eaLnBrk="1" latinLnBrk="0" hangingPunct="1">
      <a:defRPr sz="1200" kern="1200">
        <a:solidFill>
          <a:schemeClr val="tx1"/>
        </a:solidFill>
        <a:latin typeface="+mn-lt"/>
        <a:ea typeface="+mn-ea"/>
        <a:cs typeface="+mn-cs"/>
      </a:defRPr>
    </a:lvl8pPr>
    <a:lvl9pPr marL="3656965"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795A699-AB68-4A20-99FB-6F69DC266D4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094D71-69D5-466C-8BF6-9BF1B8D189F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094D71-69D5-466C-8BF6-9BF1B8D189F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094D71-69D5-466C-8BF6-9BF1B8D189F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接下来，我们进入第二部分，也是本次汇报的重点：复现中发现的问题。尽管RMTC模型在理论上非常吸引人，但在实际操作中，我们遇到了一系列严峻的工程和技术挑战。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首先看研究背景。随着城市化进程，紧急车辆的通行效率至关重要。然而，现有方法存在明显局限。传统的交通灯优化，往往会牺牲普通车辆的效率，导致“跷跷板”难题。更重要的是，紧急车辆、普通车辆和交通灯这三者构成了一个复杂的系统，但目前缺乏一个能够统一协调它们的框架。这使得整体交通效率难以达到最优。</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为了解决上述挑战，论文提出了RMTC框架。它的核心思想是“角色感知”。如这张框架图所示，RMTC主要由三部分构成。首先，通过异构时间交通图（HTTG）来动态建模所有交通元素之间的复杂关系。其次，基于这个图进行动态角色学习，让每个智能体都能理解自己在当前场景下的角色。最后，在强化学习阶段，智能体的决策会融合其角色信息，并通过一种新颖的角色感知内在奖励机制，激励它们进行有效的协同合作。</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为了解决上述挑战，论文提出了RMTC框架。它的核心思想是“角色感知”。如这张框架图所示，RMTC主要由三部分构成。首先，通过异构时间交通图（HTTG）来动态建模所有交通元素之间的复杂关系。其次，基于这个图进行动态角色学习，让每个智能体都能理解自己在当前场景下的角色。最后，在强化学习阶段，智能体的决策会融合其角色信息，并通过一种新颖的角色感知内在奖励机制，激励它们进行有效的协同合作。</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094D71-69D5-466C-8BF6-9BF1B8D189F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094D71-69D5-466C-8BF6-9BF1B8D189F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094D71-69D5-466C-8BF6-9BF1B8D189F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094D71-69D5-466C-8BF6-9BF1B8D189F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094D71-69D5-466C-8BF6-9BF1B8D189F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094D71-69D5-466C-8BF6-9BF1B8D189F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094D71-69D5-466C-8BF6-9BF1B8D189F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094D71-69D5-466C-8BF6-9BF1B8D189F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094D71-69D5-466C-8BF6-9BF1B8D189F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尽管本次复现遇到了诸多困难，未能达到预期的训练目标，但整个过程仍然给我们带来了宝贵的经验和深刻的反思。接下来，我们进入第三部分，分享我们的收获与展望。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我们为什么要复现这项研究呢？我们认为，复现的价值是多方面的。首先，它可以独立验证原论文研究的有效性。其次，这是一个深入理解多智能体强化学习和图神经网络在复杂系统中应用的绝佳机会。此外，我们还可以评估顶会论文开源代码的质量，为其他研究者提供参考。最后，这个过程能帮助我们建立一套系统的代码调试方法论，提升自身的工程实践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3FA9CE8-DC8B-40FB-8C66-92C7DA6D9C1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0070C0"/>
        </a:solidFill>
        <a:effectLst/>
      </p:bgPr>
    </p:bg>
    <p:spTree>
      <p:nvGrpSpPr>
        <p:cNvPr id="1" name=""/>
        <p:cNvGrpSpPr/>
        <p:nvPr/>
      </p:nvGrpSpPr>
      <p:grpSpPr>
        <a:xfrm>
          <a:off x="0" y="0"/>
          <a:ext cx="0" cy="0"/>
          <a:chOff x="0" y="0"/>
          <a:chExt cx="0" cy="0"/>
        </a:xfrm>
      </p:grpSpPr>
      <p:grpSp>
        <p:nvGrpSpPr>
          <p:cNvPr id="5" name="组合 4"/>
          <p:cNvGrpSpPr/>
          <p:nvPr userDrawn="1"/>
        </p:nvGrpSpPr>
        <p:grpSpPr>
          <a:xfrm>
            <a:off x="72006" y="87474"/>
            <a:ext cx="8999987" cy="4968553"/>
            <a:chOff x="72006" y="87474"/>
            <a:chExt cx="8999987" cy="4968553"/>
          </a:xfrm>
        </p:grpSpPr>
        <p:sp>
          <p:nvSpPr>
            <p:cNvPr id="6" name="矩形: 圆顶角 5"/>
            <p:cNvSpPr/>
            <p:nvPr/>
          </p:nvSpPr>
          <p:spPr>
            <a:xfrm rot="5400000">
              <a:off x="-126269" y="285749"/>
              <a:ext cx="4968552" cy="4572001"/>
            </a:xfrm>
            <a:prstGeom prst="round2SameRect">
              <a:avLst>
                <a:gd name="adj1" fmla="val 7312"/>
                <a:gd name="adj2" fmla="val 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solidFill>
                  <a:schemeClr val="bg1">
                    <a:lumMod val="95000"/>
                  </a:schemeClr>
                </a:solidFill>
              </a:endParaRPr>
            </a:p>
          </p:txBody>
        </p:sp>
        <p:sp>
          <p:nvSpPr>
            <p:cNvPr id="7" name="矩形: 圆顶角 6"/>
            <p:cNvSpPr/>
            <p:nvPr/>
          </p:nvSpPr>
          <p:spPr>
            <a:xfrm rot="16200000">
              <a:off x="4301717" y="285750"/>
              <a:ext cx="4968552" cy="4572001"/>
            </a:xfrm>
            <a:prstGeom prst="round2SameRect">
              <a:avLst>
                <a:gd name="adj1" fmla="val 7312"/>
                <a:gd name="adj2" fmla="val 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solidFill>
                  <a:schemeClr val="bg1">
                    <a:lumMod val="95000"/>
                  </a:schemeClr>
                </a:solidFill>
              </a:endParaRPr>
            </a:p>
          </p:txBody>
        </p:sp>
      </p:grpSp>
      <p:grpSp>
        <p:nvGrpSpPr>
          <p:cNvPr id="8" name="组合 7"/>
          <p:cNvGrpSpPr/>
          <p:nvPr userDrawn="1"/>
        </p:nvGrpSpPr>
        <p:grpSpPr>
          <a:xfrm>
            <a:off x="6776563" y="7919"/>
            <a:ext cx="2260777" cy="903588"/>
            <a:chOff x="6426681" y="455199"/>
            <a:chExt cx="2025654" cy="809614"/>
          </a:xfrm>
        </p:grpSpPr>
        <p:pic>
          <p:nvPicPr>
            <p:cNvPr id="9" name="图片 8"/>
            <p:cNvPicPr>
              <a:picLocks noChangeAspect="1"/>
            </p:cNvPicPr>
            <p:nvPr/>
          </p:nvPicPr>
          <p:blipFill rotWithShape="1">
            <a:blip r:embed="rId2" cstate="screen"/>
            <a:srcRect/>
            <a:stretch>
              <a:fillRect/>
            </a:stretch>
          </p:blipFill>
          <p:spPr>
            <a:xfrm>
              <a:off x="6426681" y="455199"/>
              <a:ext cx="444576" cy="801910"/>
            </a:xfrm>
            <a:prstGeom prst="rect">
              <a:avLst/>
            </a:prstGeom>
          </p:spPr>
        </p:pic>
        <p:pic>
          <p:nvPicPr>
            <p:cNvPr id="10" name="图片 9"/>
            <p:cNvPicPr>
              <a:picLocks noChangeAspect="1"/>
            </p:cNvPicPr>
            <p:nvPr/>
          </p:nvPicPr>
          <p:blipFill rotWithShape="1">
            <a:blip r:embed="rId3" cstate="screen">
              <a:grayscl/>
            </a:blip>
            <a:srcRect/>
            <a:stretch>
              <a:fillRect/>
            </a:stretch>
          </p:blipFill>
          <p:spPr>
            <a:xfrm>
              <a:off x="6885455" y="460071"/>
              <a:ext cx="1566880" cy="804742"/>
            </a:xfrm>
            <a:prstGeom prst="rect">
              <a:avLst/>
            </a:prstGeom>
          </p:spPr>
        </p:pic>
      </p:gr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竖排标题与文本">
    <p:spTree>
      <p:nvGrpSpPr>
        <p:cNvPr id="1" name=""/>
        <p:cNvGrpSpPr/>
        <p:nvPr/>
      </p:nvGrpSpPr>
      <p:grpSpPr>
        <a:xfrm>
          <a:off x="0" y="0"/>
          <a:ext cx="0" cy="0"/>
          <a:chOff x="0" y="0"/>
          <a:chExt cx="0" cy="0"/>
        </a:xfrm>
      </p:grpSpPr>
      <p:sp>
        <p:nvSpPr>
          <p:cNvPr id="7" name="矩形 6"/>
          <p:cNvSpPr/>
          <p:nvPr userDrawn="1"/>
        </p:nvSpPr>
        <p:spPr>
          <a:xfrm>
            <a:off x="0" y="0"/>
            <a:ext cx="9144000" cy="514350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8" name="矩形 7"/>
          <p:cNvSpPr/>
          <p:nvPr userDrawn="1"/>
        </p:nvSpPr>
        <p:spPr>
          <a:xfrm>
            <a:off x="96093" y="106208"/>
            <a:ext cx="8951814" cy="4940187"/>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3.jpe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05979"/>
            <a:ext cx="8229600" cy="857250"/>
          </a:xfrm>
          <a:prstGeom prst="rect">
            <a:avLst/>
          </a:prstGeom>
        </p:spPr>
        <p:txBody>
          <a:bodyPr vert="horz" lIns="91428" tIns="45714" rIns="91428" bIns="45714"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1" y="1200151"/>
            <a:ext cx="8229600" cy="3394472"/>
          </a:xfrm>
          <a:prstGeom prst="rect">
            <a:avLst/>
          </a:prstGeom>
        </p:spPr>
        <p:txBody>
          <a:bodyPr vert="horz" lIns="91428" tIns="45714" rIns="91428" bIns="45714"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1" y="4767264"/>
            <a:ext cx="2133600" cy="273844"/>
          </a:xfrm>
          <a:prstGeom prst="rect">
            <a:avLst/>
          </a:prstGeom>
        </p:spPr>
        <p:txBody>
          <a:bodyPr vert="horz" lIns="91428" tIns="45714" rIns="91428" bIns="45714" rtlCol="0" anchor="ctr"/>
          <a:lstStyle>
            <a:lvl1pPr algn="l">
              <a:defRPr sz="1200">
                <a:solidFill>
                  <a:schemeClr val="tx1">
                    <a:tint val="75000"/>
                  </a:schemeClr>
                </a:solidFill>
              </a:defRPr>
            </a:lvl1pPr>
          </a:lstStyle>
          <a:p>
            <a:fld id="{02854A03-91AF-448A-9954-517C0577E5F0}" type="datetimeFigureOut">
              <a:rPr lang="zh-CN" altLang="en-US" smtClean="0"/>
            </a:fld>
            <a:endParaRPr lang="zh-CN" altLang="en-US"/>
          </a:p>
        </p:txBody>
      </p:sp>
      <p:sp>
        <p:nvSpPr>
          <p:cNvPr id="5" name="页脚占位符 4"/>
          <p:cNvSpPr>
            <a:spLocks noGrp="1"/>
          </p:cNvSpPr>
          <p:nvPr>
            <p:ph type="ftr" sz="quarter" idx="3"/>
          </p:nvPr>
        </p:nvSpPr>
        <p:spPr>
          <a:xfrm>
            <a:off x="3124201" y="4767264"/>
            <a:ext cx="2895600" cy="273844"/>
          </a:xfrm>
          <a:prstGeom prst="rect">
            <a:avLst/>
          </a:prstGeom>
        </p:spPr>
        <p:txBody>
          <a:bodyPr vert="horz" lIns="91428" tIns="45714" rIns="91428" bIns="45714"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1" y="4767264"/>
            <a:ext cx="2133600" cy="273844"/>
          </a:xfrm>
          <a:prstGeom prst="rect">
            <a:avLst/>
          </a:prstGeom>
        </p:spPr>
        <p:txBody>
          <a:bodyPr vert="horz" lIns="91428" tIns="45714" rIns="91428" bIns="45714" rtlCol="0" anchor="ctr"/>
          <a:lstStyle>
            <a:lvl1pPr algn="r">
              <a:defRPr sz="1200">
                <a:solidFill>
                  <a:schemeClr val="tx1">
                    <a:tint val="75000"/>
                  </a:schemeClr>
                </a:solidFill>
              </a:defRPr>
            </a:lvl1pPr>
          </a:lstStyle>
          <a:p>
            <a:fld id="{2EEFC946-6D13-4F8C-9740-992A906A613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3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5.png"/><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tags" Target="../tags/tag2.xml"/><Relationship Id="rId16" Type="http://schemas.openxmlformats.org/officeDocument/2006/relationships/slideLayout" Target="../slideLayouts/slideLayout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image" Target="../media/image5.png"/><Relationship Id="rId2" Type="http://schemas.openxmlformats.org/officeDocument/2006/relationships/image" Target="../media/image7.jpeg"/><Relationship Id="rId12" Type="http://schemas.openxmlformats.org/officeDocument/2006/relationships/slideLayout" Target="../slideLayouts/slideLayout3.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tags" Target="../tags/tag24.xml"/><Relationship Id="rId10" Type="http://schemas.openxmlformats.org/officeDocument/2006/relationships/notesSlide" Target="../notesSlides/notesSlide3.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4.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image" Target="../media/image5.png"/><Relationship Id="rId3" Type="http://schemas.openxmlformats.org/officeDocument/2006/relationships/image" Target="../media/image7.jpeg"/><Relationship Id="rId2" Type="http://schemas.openxmlformats.org/officeDocument/2006/relationships/image" Target="../media/image6.jpeg"/><Relationship Id="rId13" Type="http://schemas.openxmlformats.org/officeDocument/2006/relationships/notesSlide" Target="../notesSlides/notesSlide5.xml"/><Relationship Id="rId12" Type="http://schemas.openxmlformats.org/officeDocument/2006/relationships/slideLayout" Target="../slideLayouts/slideLayout2.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tags" Target="../tags/tag31.xml"/></Relationships>
</file>

<file path=ppt/slides/_rels/slide8.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image" Target="../media/image5.png"/><Relationship Id="rId2" Type="http://schemas.openxmlformats.org/officeDocument/2006/relationships/image" Target="../media/image7.jpeg"/><Relationship Id="rId12" Type="http://schemas.openxmlformats.org/officeDocument/2006/relationships/slideLayout" Target="../slideLayouts/slideLayout3.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2" Type="http://schemas.openxmlformats.org/officeDocument/2006/relationships/notesSlide" Target="../notesSlides/notesSlide8.xml"/><Relationship Id="rId11" Type="http://schemas.openxmlformats.org/officeDocument/2006/relationships/slideLayout" Target="../slideLayouts/slideLayout2.xml"/><Relationship Id="rId10" Type="http://schemas.openxmlformats.org/officeDocument/2006/relationships/tags" Target="../tags/tag59.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image" Target="../media/image5.png"/><Relationship Id="rId2" Type="http://schemas.openxmlformats.org/officeDocument/2006/relationships/image" Target="../media/image7.jpeg"/><Relationship Id="rId12" Type="http://schemas.openxmlformats.org/officeDocument/2006/relationships/slideLayout" Target="../slideLayouts/slideLayout3.xml"/><Relationship Id="rId11" Type="http://schemas.openxmlformats.org/officeDocument/2006/relationships/tags" Target="../tags/tag67.xml"/><Relationship Id="rId10" Type="http://schemas.openxmlformats.org/officeDocument/2006/relationships/tags" Target="../tags/tag66.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2" Type="http://schemas.openxmlformats.org/officeDocument/2006/relationships/notesSlide" Target="../notesSlides/notesSlide9.xml"/><Relationship Id="rId11" Type="http://schemas.openxmlformats.org/officeDocument/2006/relationships/slideLayout" Target="../slideLayouts/slideLayout4.xml"/><Relationship Id="rId10" Type="http://schemas.openxmlformats.org/officeDocument/2006/relationships/image" Target="../media/image13.pn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4.xml"/><Relationship Id="rId4" Type="http://schemas.openxmlformats.org/officeDocument/2006/relationships/image" Target="../media/image16.png"/><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4.xml"/><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4.xml"/><Relationship Id="rId2" Type="http://schemas.openxmlformats.org/officeDocument/2006/relationships/image" Target="../media/image19.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image" Target="../media/image5.png"/><Relationship Id="rId2" Type="http://schemas.openxmlformats.org/officeDocument/2006/relationships/image" Target="../media/image7.jpeg"/><Relationship Id="rId12" Type="http://schemas.openxmlformats.org/officeDocument/2006/relationships/slideLayout" Target="../slideLayouts/slideLayout3.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4.xml"/><Relationship Id="rId2" Type="http://schemas.openxmlformats.org/officeDocument/2006/relationships/image" Target="../media/image20.png"/><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4.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4.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4.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4.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image" Target="../media/image6.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screen"/>
          <a:stretch>
            <a:fillRect/>
          </a:stretch>
        </p:blipFill>
        <p:spPr>
          <a:xfrm>
            <a:off x="0" y="0"/>
            <a:ext cx="9142839" cy="5143500"/>
          </a:xfrm>
          <a:prstGeom prst="rect">
            <a:avLst/>
          </a:prstGeom>
        </p:spPr>
      </p:pic>
      <p:sp>
        <p:nvSpPr>
          <p:cNvPr id="3" name="任意多边形 29"/>
          <p:cNvSpPr/>
          <p:nvPr/>
        </p:nvSpPr>
        <p:spPr>
          <a:xfrm>
            <a:off x="7711017" y="521350"/>
            <a:ext cx="3903947" cy="5383178"/>
          </a:xfrm>
          <a:custGeom>
            <a:avLst/>
            <a:gdLst>
              <a:gd name="connsiteX0" fmla="*/ 3432215 w 5205262"/>
              <a:gd name="connsiteY0" fmla="*/ 0 h 7177570"/>
              <a:gd name="connsiteX1" fmla="*/ 5205262 w 5205262"/>
              <a:gd name="connsiteY1" fmla="*/ 0 h 7177570"/>
              <a:gd name="connsiteX2" fmla="*/ 5205262 w 5205262"/>
              <a:gd name="connsiteY2" fmla="*/ 7177570 h 7177570"/>
              <a:gd name="connsiteX3" fmla="*/ 0 w 5205262"/>
              <a:gd name="connsiteY3" fmla="*/ 7177570 h 7177570"/>
            </a:gdLst>
            <a:ahLst/>
            <a:cxnLst>
              <a:cxn ang="0">
                <a:pos x="connsiteX0" y="connsiteY0"/>
              </a:cxn>
              <a:cxn ang="0">
                <a:pos x="connsiteX1" y="connsiteY1"/>
              </a:cxn>
              <a:cxn ang="0">
                <a:pos x="connsiteX2" y="connsiteY2"/>
              </a:cxn>
              <a:cxn ang="0">
                <a:pos x="connsiteX3" y="connsiteY3"/>
              </a:cxn>
            </a:cxnLst>
            <a:rect l="l" t="t" r="r" b="b"/>
            <a:pathLst>
              <a:path w="5205262" h="7177570">
                <a:moveTo>
                  <a:pt x="3432215" y="0"/>
                </a:moveTo>
                <a:lnTo>
                  <a:pt x="5205262" y="0"/>
                </a:lnTo>
                <a:lnTo>
                  <a:pt x="5205262" y="7177570"/>
                </a:lnTo>
                <a:lnTo>
                  <a:pt x="0" y="7177570"/>
                </a:lnTo>
                <a:close/>
              </a:path>
            </a:pathLst>
          </a:custGeom>
          <a:solidFill>
            <a:schemeClr val="bg1">
              <a:alpha val="2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70" dirty="0"/>
          </a:p>
        </p:txBody>
      </p:sp>
      <p:sp>
        <p:nvSpPr>
          <p:cNvPr id="4" name="任意多边形 31"/>
          <p:cNvSpPr/>
          <p:nvPr/>
        </p:nvSpPr>
        <p:spPr>
          <a:xfrm rot="10800000">
            <a:off x="-2448107" y="-999043"/>
            <a:ext cx="3903947" cy="5383178"/>
          </a:xfrm>
          <a:custGeom>
            <a:avLst/>
            <a:gdLst>
              <a:gd name="connsiteX0" fmla="*/ 3432215 w 5205262"/>
              <a:gd name="connsiteY0" fmla="*/ 0 h 7177570"/>
              <a:gd name="connsiteX1" fmla="*/ 5205262 w 5205262"/>
              <a:gd name="connsiteY1" fmla="*/ 0 h 7177570"/>
              <a:gd name="connsiteX2" fmla="*/ 5205262 w 5205262"/>
              <a:gd name="connsiteY2" fmla="*/ 7177570 h 7177570"/>
              <a:gd name="connsiteX3" fmla="*/ 0 w 5205262"/>
              <a:gd name="connsiteY3" fmla="*/ 7177570 h 7177570"/>
            </a:gdLst>
            <a:ahLst/>
            <a:cxnLst>
              <a:cxn ang="0">
                <a:pos x="connsiteX0" y="connsiteY0"/>
              </a:cxn>
              <a:cxn ang="0">
                <a:pos x="connsiteX1" y="connsiteY1"/>
              </a:cxn>
              <a:cxn ang="0">
                <a:pos x="connsiteX2" y="connsiteY2"/>
              </a:cxn>
              <a:cxn ang="0">
                <a:pos x="connsiteX3" y="connsiteY3"/>
              </a:cxn>
            </a:cxnLst>
            <a:rect l="l" t="t" r="r" b="b"/>
            <a:pathLst>
              <a:path w="5205262" h="7177570">
                <a:moveTo>
                  <a:pt x="3432215" y="0"/>
                </a:moveTo>
                <a:lnTo>
                  <a:pt x="5205262" y="0"/>
                </a:lnTo>
                <a:lnTo>
                  <a:pt x="5205262" y="7177570"/>
                </a:lnTo>
                <a:lnTo>
                  <a:pt x="0" y="7177570"/>
                </a:lnTo>
                <a:close/>
              </a:path>
            </a:pathLst>
          </a:custGeom>
          <a:solidFill>
            <a:schemeClr val="bg1">
              <a:alpha val="2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70" dirty="0"/>
          </a:p>
        </p:txBody>
      </p:sp>
      <p:sp>
        <p:nvSpPr>
          <p:cNvPr id="5" name="文本框 4"/>
          <p:cNvSpPr txBox="1"/>
          <p:nvPr/>
        </p:nvSpPr>
        <p:spPr>
          <a:xfrm>
            <a:off x="1985645" y="2952115"/>
            <a:ext cx="5166360" cy="829945"/>
          </a:xfrm>
          <a:prstGeom prst="rect">
            <a:avLst/>
          </a:prstGeom>
          <a:noFill/>
        </p:spPr>
        <p:txBody>
          <a:bodyPr wrap="square" rtlCol="0">
            <a:spAutoFit/>
          </a:bodyPr>
          <a:lstStyle/>
          <a:p>
            <a:pPr algn="ctr"/>
            <a:r>
              <a:rPr lang="zh-CN" altLang="en-US"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答辩小组：徐昊天、孟家祺、蔡佳兴</a:t>
            </a:r>
            <a:endParaRPr lang="en-US" altLang="zh-CN"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endParaRPr>
          </a:p>
          <a:p>
            <a:pPr algn="ctr"/>
            <a:r>
              <a:rPr lang="en-US" altLang="zh-CN"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2026</a:t>
            </a:r>
            <a:r>
              <a:rPr lang="zh-CN" altLang="en-US"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年</a:t>
            </a:r>
            <a:r>
              <a:rPr lang="en-US" altLang="zh-CN"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07</a:t>
            </a:r>
            <a:r>
              <a:rPr lang="zh-CN" altLang="en-US"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月</a:t>
            </a:r>
            <a:r>
              <a:rPr lang="en-US" altLang="zh-CN"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24</a:t>
            </a:r>
            <a:r>
              <a:rPr lang="zh-CN" altLang="en-US"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日</a:t>
            </a:r>
            <a:endParaRPr lang="zh-CN" altLang="en-US"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endParaRPr>
          </a:p>
        </p:txBody>
      </p:sp>
      <p:sp>
        <p:nvSpPr>
          <p:cNvPr id="6" name="文本框 5"/>
          <p:cNvSpPr txBox="1"/>
          <p:nvPr/>
        </p:nvSpPr>
        <p:spPr>
          <a:xfrm>
            <a:off x="221156" y="1916745"/>
            <a:ext cx="8922844" cy="706755"/>
          </a:xfrm>
          <a:prstGeom prst="rect">
            <a:avLst/>
          </a:prstGeom>
          <a:noFill/>
        </p:spPr>
        <p:txBody>
          <a:bodyPr wrap="square" rtlCol="0">
            <a:spAutoFit/>
          </a:bodyPr>
          <a:lstStyle/>
          <a:p>
            <a:pPr algn="ctr">
              <a:lnSpc>
                <a:spcPts val="4800"/>
              </a:lnSpc>
            </a:pPr>
            <a:r>
              <a:rPr lang="zh-CN" altLang="en-US" sz="4000" b="1" spc="173"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专业方向课程设计最终</a:t>
            </a:r>
            <a:r>
              <a:rPr lang="zh-CN" altLang="en-US" sz="4000" b="1" spc="173"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答辩</a:t>
            </a:r>
            <a:endParaRPr lang="zh-CN" altLang="en-US" sz="4000" b="1" spc="173"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endParaRPr>
          </a:p>
        </p:txBody>
      </p:sp>
      <p:cxnSp>
        <p:nvCxnSpPr>
          <p:cNvPr id="7" name="直接连接符 6"/>
          <p:cNvCxnSpPr/>
          <p:nvPr/>
        </p:nvCxnSpPr>
        <p:spPr>
          <a:xfrm flipH="1">
            <a:off x="0" y="2787774"/>
            <a:ext cx="9144000" cy="0"/>
          </a:xfrm>
          <a:prstGeom prst="line">
            <a:avLst/>
          </a:prstGeom>
          <a:ln w="28575">
            <a:gradFill flip="none" rotWithShape="1">
              <a:gsLst>
                <a:gs pos="84000">
                  <a:srgbClr val="FFFFFF">
                    <a:alpha val="17000"/>
                  </a:srgbClr>
                </a:gs>
                <a:gs pos="0">
                  <a:schemeClr val="bg1">
                    <a:alpha val="0"/>
                  </a:schemeClr>
                </a:gs>
                <a:gs pos="42000">
                  <a:srgbClr val="FFFFFF">
                    <a:alpha val="90000"/>
                  </a:srgbClr>
                </a:gs>
                <a:gs pos="100000">
                  <a:schemeClr val="bg1">
                    <a:alpha val="0"/>
                  </a:schemeClr>
                </a:gs>
                <a:gs pos="19000">
                  <a:schemeClr val="bg1">
                    <a:alpha val="25000"/>
                  </a:schemeClr>
                </a:gs>
                <a:gs pos="56000">
                  <a:schemeClr val="bg1">
                    <a:alpha val="90000"/>
                  </a:schemeClr>
                </a:gs>
              </a:gsLst>
              <a:lin ang="4800000" scaled="0"/>
              <a:tileRect/>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0" y="1707654"/>
            <a:ext cx="9144000" cy="0"/>
          </a:xfrm>
          <a:prstGeom prst="line">
            <a:avLst/>
          </a:prstGeom>
          <a:ln w="28575">
            <a:gradFill flip="none" rotWithShape="1">
              <a:gsLst>
                <a:gs pos="84000">
                  <a:srgbClr val="FFFFFF">
                    <a:alpha val="17000"/>
                  </a:srgbClr>
                </a:gs>
                <a:gs pos="0">
                  <a:schemeClr val="bg1">
                    <a:alpha val="0"/>
                  </a:schemeClr>
                </a:gs>
                <a:gs pos="42000">
                  <a:srgbClr val="FFFFFF">
                    <a:alpha val="90000"/>
                  </a:srgbClr>
                </a:gs>
                <a:gs pos="100000">
                  <a:schemeClr val="bg1">
                    <a:alpha val="0"/>
                  </a:schemeClr>
                </a:gs>
                <a:gs pos="19000">
                  <a:schemeClr val="bg1">
                    <a:alpha val="25000"/>
                  </a:schemeClr>
                </a:gs>
                <a:gs pos="56000">
                  <a:schemeClr val="bg1">
                    <a:alpha val="90000"/>
                  </a:schemeClr>
                </a:gs>
              </a:gsLst>
              <a:lin ang="4800000" scaled="0"/>
              <a:tileRect/>
            </a:gra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rotWithShape="1">
          <a:blip r:embed="rId2" cstate="screen"/>
          <a:srcRect t="26606" b="23577"/>
          <a:stretch>
            <a:fillRect/>
          </a:stretch>
        </p:blipFill>
        <p:spPr>
          <a:xfrm>
            <a:off x="3706774" y="759133"/>
            <a:ext cx="1592566" cy="494778"/>
          </a:xfrm>
          <a:prstGeom prst="rect">
            <a:avLst/>
          </a:prstGeom>
          <a:effec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custDataLst>
              <p:tags r:id="rId1"/>
            </p:custDataLst>
          </p:nvPr>
        </p:nvSpPr>
        <p:spPr>
          <a:xfrm>
            <a:off x="3036734" y="1023932"/>
            <a:ext cx="5869668" cy="737877"/>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custDataLst>
              <p:tags r:id="rId2"/>
            </p:custDataLst>
          </p:nvPr>
        </p:nvSpPr>
        <p:spPr>
          <a:xfrm>
            <a:off x="3157220" y="1184910"/>
            <a:ext cx="5749925" cy="460375"/>
          </a:xfrm>
          <a:prstGeom prst="rect">
            <a:avLst/>
          </a:prstGeom>
        </p:spPr>
        <p:txBody>
          <a:bodyPr wrap="square">
            <a:spAutoFit/>
          </a:bodyPr>
          <a:lstStyle/>
          <a:p>
            <a:pPr lvl="0" algn="ctr">
              <a:defRPr/>
            </a:pPr>
            <a:r>
              <a:rPr lang="zh-CN" altLang="en-US" sz="2400" spc="-300" dirty="0">
                <a:solidFill>
                  <a:srgbClr val="0070C0"/>
                </a:solidFill>
                <a:latin typeface="方正粗黑宋简体" panose="02000000000000000000" pitchFamily="2" charset="-122"/>
                <a:ea typeface="方正粗黑宋简体" panose="02000000000000000000" pitchFamily="2" charset="-122"/>
              </a:rPr>
              <a:t>前期准备</a:t>
            </a:r>
            <a:r>
              <a:rPr lang="en-US" altLang="zh-CN" sz="2400" spc="-300" dirty="0">
                <a:solidFill>
                  <a:srgbClr val="0070C0"/>
                </a:solidFill>
                <a:latin typeface="方正粗黑宋简体" panose="02000000000000000000" pitchFamily="2" charset="-122"/>
                <a:ea typeface="方正粗黑宋简体" panose="02000000000000000000" pitchFamily="2" charset="-122"/>
              </a:rPr>
              <a:t>——</a:t>
            </a:r>
            <a:r>
              <a:rPr lang="zh-CN" altLang="en-US" sz="2400" spc="-300" dirty="0">
                <a:solidFill>
                  <a:srgbClr val="0070C0"/>
                </a:solidFill>
                <a:latin typeface="方正粗黑宋简体" panose="02000000000000000000" pitchFamily="2" charset="-122"/>
                <a:ea typeface="方正粗黑宋简体" panose="02000000000000000000" pitchFamily="2" charset="-122"/>
              </a:rPr>
              <a:t>论文</a:t>
            </a:r>
            <a:r>
              <a:rPr lang="zh-CN" altLang="en-US" sz="2400" spc="-300" dirty="0">
                <a:solidFill>
                  <a:srgbClr val="0070C0"/>
                </a:solidFill>
                <a:latin typeface="方正粗黑宋简体" panose="02000000000000000000" pitchFamily="2" charset="-122"/>
                <a:ea typeface="方正粗黑宋简体" panose="02000000000000000000" pitchFamily="2" charset="-122"/>
              </a:rPr>
              <a:t>调研</a:t>
            </a:r>
            <a:endParaRPr lang="zh-CN" altLang="en-US" sz="2400" spc="-300" dirty="0">
              <a:solidFill>
                <a:srgbClr val="0070C0"/>
              </a:solidFill>
              <a:latin typeface="方正粗黑宋简体" panose="02000000000000000000" pitchFamily="2" charset="-122"/>
              <a:ea typeface="方正粗黑宋简体" panose="02000000000000000000" pitchFamily="2" charset="-122"/>
            </a:endParaRPr>
          </a:p>
        </p:txBody>
      </p:sp>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l="35132" r="34068"/>
          <a:stretch>
            <a:fillRect/>
          </a:stretch>
        </p:blipFill>
        <p:spPr>
          <a:xfrm>
            <a:off x="0" y="0"/>
            <a:ext cx="2376264" cy="5143500"/>
          </a:xfrm>
          <a:prstGeom prst="rect">
            <a:avLst/>
          </a:prstGeom>
        </p:spPr>
      </p:pic>
      <p:grpSp>
        <p:nvGrpSpPr>
          <p:cNvPr id="3" name="组合 2"/>
          <p:cNvGrpSpPr/>
          <p:nvPr/>
        </p:nvGrpSpPr>
        <p:grpSpPr>
          <a:xfrm>
            <a:off x="645697" y="1023932"/>
            <a:ext cx="2071314" cy="3069126"/>
            <a:chOff x="1475656" y="1023932"/>
            <a:chExt cx="2071314" cy="3069126"/>
          </a:xfrm>
        </p:grpSpPr>
        <p:sp>
          <p:nvSpPr>
            <p:cNvPr id="2" name="矩形 1"/>
            <p:cNvSpPr/>
            <p:nvPr/>
          </p:nvSpPr>
          <p:spPr>
            <a:xfrm>
              <a:off x="1475656" y="1023932"/>
              <a:ext cx="2034790" cy="30691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2700000">
              <a:off x="2592171" y="2073019"/>
              <a:ext cx="956916" cy="95268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3" name="Object 303"/>
          <p:cNvSpPr txBox="1"/>
          <p:nvPr/>
        </p:nvSpPr>
        <p:spPr>
          <a:xfrm>
            <a:off x="878506" y="3012281"/>
            <a:ext cx="1743075" cy="342900"/>
          </a:xfrm>
          <a:prstGeom prst="rect">
            <a:avLst/>
          </a:prstGeom>
        </p:spPr>
        <p:txBody>
          <a:bodyPr vert="horz" rtlCol="0" anchor="t" anchorCtr="0">
            <a:noAutofit/>
          </a:bodyPr>
          <a:lstStyle/>
          <a:p>
            <a:pPr algn="l">
              <a:lnSpc>
                <a:spcPct val="100000"/>
              </a:lnSpc>
            </a:pPr>
            <a:r>
              <a:rPr lang="en-US" altLang="zh-CN" sz="2250" dirty="0">
                <a:solidFill>
                  <a:srgbClr val="FFFFFF"/>
                </a:solidFill>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rPr>
              <a:t>Content</a:t>
            </a:r>
            <a:endParaRPr lang="zh-CN" altLang="en-US" sz="675" dirty="0">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endParaRPr>
          </a:p>
        </p:txBody>
      </p:sp>
      <p:sp>
        <p:nvSpPr>
          <p:cNvPr id="304" name="Object 304"/>
          <p:cNvSpPr txBox="1"/>
          <p:nvPr/>
        </p:nvSpPr>
        <p:spPr>
          <a:xfrm>
            <a:off x="799322" y="2313719"/>
            <a:ext cx="1695450" cy="409575"/>
          </a:xfrm>
          <a:prstGeom prst="rect">
            <a:avLst/>
          </a:prstGeom>
        </p:spPr>
        <p:txBody>
          <a:bodyPr vert="horz" rtlCol="0" anchor="t" anchorCtr="0">
            <a:noAutofit/>
          </a:bodyPr>
          <a:lstStyle/>
          <a:p>
            <a:pPr algn="l">
              <a:lnSpc>
                <a:spcPct val="100000"/>
              </a:lnSpc>
            </a:pPr>
            <a:r>
              <a:rPr lang="zh-CN" altLang="en-US" sz="4000" spc="540" dirty="0">
                <a:solidFill>
                  <a:srgbClr val="FFFFFF"/>
                </a:solidFill>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rPr>
              <a:t>目录</a:t>
            </a:r>
            <a:endParaRPr lang="zh-CN" altLang="en-US" sz="1050" dirty="0">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endParaRPr>
          </a:p>
        </p:txBody>
      </p:sp>
      <p:pic>
        <p:nvPicPr>
          <p:cNvPr id="305" name="image 305"/>
          <p:cNvPicPr>
            <a:picLocks noChangeAspect="1"/>
          </p:cNvPicPr>
          <p:nvPr/>
        </p:nvPicPr>
        <p:blipFill>
          <a:blip r:embed="rId4"/>
          <a:srcRect/>
          <a:stretch>
            <a:fillRect/>
          </a:stretch>
        </p:blipFill>
        <p:spPr>
          <a:xfrm>
            <a:off x="942799" y="2170065"/>
            <a:ext cx="1614488" cy="38100"/>
          </a:xfrm>
          <a:prstGeom prst="rect">
            <a:avLst/>
          </a:prstGeom>
        </p:spPr>
      </p:pic>
      <p:pic>
        <p:nvPicPr>
          <p:cNvPr id="22" name="图片 21"/>
          <p:cNvPicPr>
            <a:picLocks noChangeAspect="1"/>
          </p:cNvPicPr>
          <p:nvPr/>
        </p:nvPicPr>
        <p:blipFill rotWithShape="1">
          <a:blip r:embed="rId5" cstate="screen"/>
          <a:srcRect t="26606" b="23577"/>
          <a:stretch>
            <a:fillRect/>
          </a:stretch>
        </p:blipFill>
        <p:spPr>
          <a:xfrm>
            <a:off x="914225" y="1608604"/>
            <a:ext cx="1180554" cy="366774"/>
          </a:xfrm>
          <a:prstGeom prst="rect">
            <a:avLst/>
          </a:prstGeom>
          <a:effectLst/>
        </p:spPr>
      </p:pic>
      <p:sp>
        <p:nvSpPr>
          <p:cNvPr id="23" name="矩形 22"/>
          <p:cNvSpPr/>
          <p:nvPr>
            <p:custDataLst>
              <p:tags r:id="rId6"/>
            </p:custDataLst>
          </p:nvPr>
        </p:nvSpPr>
        <p:spPr>
          <a:xfrm>
            <a:off x="3036734" y="2183029"/>
            <a:ext cx="5869668" cy="737877"/>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custDataLst>
              <p:tags r:id="rId7"/>
            </p:custDataLst>
          </p:nvPr>
        </p:nvSpPr>
        <p:spPr>
          <a:xfrm>
            <a:off x="3036734" y="3355181"/>
            <a:ext cx="5869668" cy="737877"/>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左箭头 28"/>
          <p:cNvSpPr/>
          <p:nvPr>
            <p:custDataLst>
              <p:tags r:id="rId8"/>
            </p:custDataLst>
          </p:nvPr>
        </p:nvSpPr>
        <p:spPr>
          <a:xfrm flipH="1">
            <a:off x="3024206" y="1023932"/>
            <a:ext cx="702183" cy="737877"/>
          </a:xfrm>
          <a:prstGeom prst="leftArrow">
            <a:avLst>
              <a:gd name="adj1" fmla="val 100000"/>
              <a:gd name="adj2" fmla="val 2805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endParaRPr lang="zh-CN" altLang="en-US" sz="2000" dirty="0">
              <a:latin typeface="+mj-ea"/>
              <a:ea typeface="+mj-ea"/>
            </a:endParaRPr>
          </a:p>
        </p:txBody>
      </p:sp>
      <p:sp>
        <p:nvSpPr>
          <p:cNvPr id="30" name="左箭头 29"/>
          <p:cNvSpPr/>
          <p:nvPr>
            <p:custDataLst>
              <p:tags r:id="rId9"/>
            </p:custDataLst>
          </p:nvPr>
        </p:nvSpPr>
        <p:spPr>
          <a:xfrm flipH="1">
            <a:off x="3024206" y="2174654"/>
            <a:ext cx="702183" cy="737877"/>
          </a:xfrm>
          <a:prstGeom prst="leftArrow">
            <a:avLst>
              <a:gd name="adj1" fmla="val 100000"/>
              <a:gd name="adj2" fmla="val 2805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endParaRPr lang="zh-CN" altLang="en-US" sz="2000" dirty="0">
              <a:latin typeface="+mj-ea"/>
              <a:ea typeface="+mj-ea"/>
            </a:endParaRPr>
          </a:p>
        </p:txBody>
      </p:sp>
      <p:sp>
        <p:nvSpPr>
          <p:cNvPr id="31" name="左箭头 30"/>
          <p:cNvSpPr/>
          <p:nvPr>
            <p:custDataLst>
              <p:tags r:id="rId10"/>
            </p:custDataLst>
          </p:nvPr>
        </p:nvSpPr>
        <p:spPr>
          <a:xfrm flipH="1">
            <a:off x="3024206" y="3359087"/>
            <a:ext cx="702183" cy="737877"/>
          </a:xfrm>
          <a:prstGeom prst="leftArrow">
            <a:avLst>
              <a:gd name="adj1" fmla="val 100000"/>
              <a:gd name="adj2" fmla="val 2805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endParaRPr lang="zh-CN" altLang="en-US" sz="2000" dirty="0">
              <a:latin typeface="+mj-ea"/>
              <a:ea typeface="+mj-ea"/>
            </a:endParaRPr>
          </a:p>
        </p:txBody>
      </p:sp>
      <p:sp>
        <p:nvSpPr>
          <p:cNvPr id="32" name="矩形 31"/>
          <p:cNvSpPr/>
          <p:nvPr>
            <p:custDataLst>
              <p:tags r:id="rId11"/>
            </p:custDataLst>
          </p:nvPr>
        </p:nvSpPr>
        <p:spPr>
          <a:xfrm>
            <a:off x="2843808" y="1167526"/>
            <a:ext cx="984376" cy="507831"/>
          </a:xfrm>
          <a:prstGeom prst="rect">
            <a:avLst/>
          </a:prstGeom>
        </p:spPr>
        <p:txBody>
          <a:bodyPr wrap="square">
            <a:spAutoFit/>
          </a:bodyPr>
          <a:lstStyle/>
          <a:p>
            <a:pPr lvl="0" algn="ctr">
              <a:defRPr/>
            </a:pPr>
            <a:r>
              <a:rPr lang="zh-CN" altLang="en-US" sz="2700" spc="-1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rPr>
              <a:t>一</a:t>
            </a:r>
            <a:endParaRPr lang="zh-CN" altLang="en-US" sz="2700" spc="-1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endParaRPr>
          </a:p>
        </p:txBody>
      </p:sp>
      <p:sp>
        <p:nvSpPr>
          <p:cNvPr id="33" name="矩形 32"/>
          <p:cNvSpPr/>
          <p:nvPr>
            <p:custDataLst>
              <p:tags r:id="rId12"/>
            </p:custDataLst>
          </p:nvPr>
        </p:nvSpPr>
        <p:spPr>
          <a:xfrm>
            <a:off x="2843808" y="2389022"/>
            <a:ext cx="984376" cy="507831"/>
          </a:xfrm>
          <a:prstGeom prst="rect">
            <a:avLst/>
          </a:prstGeom>
        </p:spPr>
        <p:txBody>
          <a:bodyPr wrap="square">
            <a:spAutoFit/>
          </a:bodyPr>
          <a:lstStyle/>
          <a:p>
            <a:pPr lvl="0" algn="ctr">
              <a:defRPr/>
            </a:pPr>
            <a:r>
              <a:rPr lang="zh-CN" altLang="en-US" sz="2700" spc="-1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rPr>
              <a:t>二</a:t>
            </a:r>
            <a:endParaRPr lang="zh-CN" altLang="en-US" sz="2700" spc="-1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endParaRPr>
          </a:p>
        </p:txBody>
      </p:sp>
      <p:sp>
        <p:nvSpPr>
          <p:cNvPr id="34" name="矩形 33"/>
          <p:cNvSpPr/>
          <p:nvPr>
            <p:custDataLst>
              <p:tags r:id="rId13"/>
            </p:custDataLst>
          </p:nvPr>
        </p:nvSpPr>
        <p:spPr>
          <a:xfrm>
            <a:off x="2843808" y="3491774"/>
            <a:ext cx="984376" cy="507831"/>
          </a:xfrm>
          <a:prstGeom prst="rect">
            <a:avLst/>
          </a:prstGeom>
        </p:spPr>
        <p:txBody>
          <a:bodyPr wrap="square">
            <a:spAutoFit/>
          </a:bodyPr>
          <a:lstStyle/>
          <a:p>
            <a:pPr lvl="0" algn="ctr">
              <a:defRPr/>
            </a:pPr>
            <a:r>
              <a:rPr lang="zh-CN" altLang="en-US" sz="2700" spc="-1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rPr>
              <a:t>三</a:t>
            </a:r>
            <a:endParaRPr lang="zh-CN" altLang="en-US" sz="2700" spc="-1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endParaRPr>
          </a:p>
        </p:txBody>
      </p:sp>
      <p:sp>
        <p:nvSpPr>
          <p:cNvPr id="25" name="矩形 24"/>
          <p:cNvSpPr/>
          <p:nvPr>
            <p:custDataLst>
              <p:tags r:id="rId14"/>
            </p:custDataLst>
          </p:nvPr>
        </p:nvSpPr>
        <p:spPr>
          <a:xfrm>
            <a:off x="3157220" y="2341245"/>
            <a:ext cx="5749290" cy="460375"/>
          </a:xfrm>
          <a:prstGeom prst="rect">
            <a:avLst/>
          </a:prstGeom>
        </p:spPr>
        <p:txBody>
          <a:bodyPr wrap="square">
            <a:spAutoFit/>
          </a:bodyPr>
          <a:lstStyle/>
          <a:p>
            <a:pPr lvl="0" algn="ctr">
              <a:defRPr/>
            </a:pPr>
            <a:r>
              <a:rPr lang="zh-CN" altLang="en-US" sz="2400" spc="-300" dirty="0">
                <a:solidFill>
                  <a:srgbClr val="0070C0"/>
                </a:solidFill>
                <a:latin typeface="方正粗黑宋简体" panose="02000000000000000000" pitchFamily="2" charset="-122"/>
                <a:ea typeface="方正粗黑宋简体" panose="02000000000000000000" pitchFamily="2" charset="-122"/>
              </a:rPr>
              <a:t>中期实验</a:t>
            </a:r>
            <a:r>
              <a:rPr lang="en-US" altLang="zh-CN" sz="2400" spc="-300" dirty="0">
                <a:solidFill>
                  <a:srgbClr val="0070C0"/>
                </a:solidFill>
                <a:latin typeface="方正粗黑宋简体" panose="02000000000000000000" pitchFamily="2" charset="-122"/>
                <a:ea typeface="方正粗黑宋简体" panose="02000000000000000000" pitchFamily="2" charset="-122"/>
              </a:rPr>
              <a:t>——</a:t>
            </a:r>
            <a:r>
              <a:rPr lang="zh-CN" altLang="en-US" sz="2400" spc="-300" dirty="0">
                <a:solidFill>
                  <a:srgbClr val="0070C0"/>
                </a:solidFill>
                <a:latin typeface="方正粗黑宋简体" panose="02000000000000000000" pitchFamily="2" charset="-122"/>
                <a:ea typeface="方正粗黑宋简体" panose="02000000000000000000" pitchFamily="2" charset="-122"/>
              </a:rPr>
              <a:t>论文复现</a:t>
            </a:r>
            <a:endParaRPr lang="zh-CN" altLang="en-US" sz="2400" spc="-300" dirty="0">
              <a:solidFill>
                <a:srgbClr val="0070C0"/>
              </a:solidFill>
              <a:latin typeface="方正粗黑宋简体" panose="02000000000000000000" pitchFamily="2" charset="-122"/>
              <a:ea typeface="方正粗黑宋简体" panose="02000000000000000000" pitchFamily="2" charset="-122"/>
            </a:endParaRPr>
          </a:p>
        </p:txBody>
      </p:sp>
      <p:sp>
        <p:nvSpPr>
          <p:cNvPr id="28" name="矩形 27"/>
          <p:cNvSpPr/>
          <p:nvPr>
            <p:custDataLst>
              <p:tags r:id="rId15"/>
            </p:custDataLst>
          </p:nvPr>
        </p:nvSpPr>
        <p:spPr>
          <a:xfrm>
            <a:off x="3157220" y="3514725"/>
            <a:ext cx="5749290" cy="460375"/>
          </a:xfrm>
          <a:prstGeom prst="rect">
            <a:avLst/>
          </a:prstGeom>
        </p:spPr>
        <p:txBody>
          <a:bodyPr wrap="square">
            <a:spAutoFit/>
          </a:bodyPr>
          <a:lstStyle/>
          <a:p>
            <a:pPr lvl="0" algn="ctr">
              <a:defRPr/>
            </a:pPr>
            <a:r>
              <a:rPr lang="zh-CN" altLang="en-US" sz="2400" spc="-300" dirty="0">
                <a:solidFill>
                  <a:srgbClr val="0070C0"/>
                </a:solidFill>
                <a:latin typeface="方正粗黑宋简体" panose="02000000000000000000" pitchFamily="2" charset="-122"/>
                <a:ea typeface="方正粗黑宋简体" panose="02000000000000000000" pitchFamily="2" charset="-122"/>
              </a:rPr>
              <a:t>总结</a:t>
            </a:r>
            <a:r>
              <a:rPr lang="zh-CN" altLang="en-US" sz="2400" spc="-300" dirty="0">
                <a:solidFill>
                  <a:srgbClr val="0070C0"/>
                </a:solidFill>
                <a:latin typeface="方正粗黑宋简体" panose="02000000000000000000" pitchFamily="2" charset="-122"/>
                <a:ea typeface="方正粗黑宋简体" panose="02000000000000000000" pitchFamily="2" charset="-122"/>
              </a:rPr>
              <a:t>提高</a:t>
            </a:r>
            <a:endParaRPr lang="zh-CN" altLang="en-US" sz="2400" spc="-300" dirty="0">
              <a:solidFill>
                <a:srgbClr val="0070C0"/>
              </a:solidFill>
              <a:latin typeface="方正粗黑宋简体" panose="02000000000000000000" pitchFamily="2" charset="-122"/>
              <a:ea typeface="方正粗黑宋简体" panose="02000000000000000000"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3036734" y="1623794"/>
            <a:ext cx="5869668" cy="737877"/>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35132" r="34068"/>
          <a:stretch>
            <a:fillRect/>
          </a:stretch>
        </p:blipFill>
        <p:spPr>
          <a:xfrm>
            <a:off x="0" y="0"/>
            <a:ext cx="2376264" cy="5143500"/>
          </a:xfrm>
          <a:prstGeom prst="rect">
            <a:avLst/>
          </a:prstGeom>
        </p:spPr>
      </p:pic>
      <p:grpSp>
        <p:nvGrpSpPr>
          <p:cNvPr id="3" name="组合 2"/>
          <p:cNvGrpSpPr/>
          <p:nvPr/>
        </p:nvGrpSpPr>
        <p:grpSpPr>
          <a:xfrm>
            <a:off x="645697" y="1023932"/>
            <a:ext cx="2071314" cy="3069126"/>
            <a:chOff x="1475656" y="1023932"/>
            <a:chExt cx="2071314" cy="3069126"/>
          </a:xfrm>
        </p:grpSpPr>
        <p:sp>
          <p:nvSpPr>
            <p:cNvPr id="2" name="矩形 1"/>
            <p:cNvSpPr/>
            <p:nvPr/>
          </p:nvSpPr>
          <p:spPr>
            <a:xfrm>
              <a:off x="1475656" y="1023932"/>
              <a:ext cx="2034790" cy="30691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2700000">
              <a:off x="2592171" y="2073019"/>
              <a:ext cx="956916" cy="95268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3" name="Object 303"/>
          <p:cNvSpPr txBox="1"/>
          <p:nvPr/>
        </p:nvSpPr>
        <p:spPr>
          <a:xfrm>
            <a:off x="878506" y="3012281"/>
            <a:ext cx="1743075" cy="342900"/>
          </a:xfrm>
          <a:prstGeom prst="rect">
            <a:avLst/>
          </a:prstGeom>
        </p:spPr>
        <p:txBody>
          <a:bodyPr vert="horz" rtlCol="0" anchor="t" anchorCtr="0">
            <a:noAutofit/>
          </a:bodyPr>
          <a:lstStyle/>
          <a:p>
            <a:pPr algn="l">
              <a:lnSpc>
                <a:spcPct val="100000"/>
              </a:lnSpc>
            </a:pPr>
            <a:r>
              <a:rPr lang="en-US" altLang="zh-CN" sz="2250" dirty="0">
                <a:solidFill>
                  <a:srgbClr val="FFFFFF"/>
                </a:solidFill>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rPr>
              <a:t>Content</a:t>
            </a:r>
            <a:endParaRPr lang="zh-CN" altLang="en-US" sz="675" dirty="0">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endParaRPr>
          </a:p>
        </p:txBody>
      </p:sp>
      <p:sp>
        <p:nvSpPr>
          <p:cNvPr id="304" name="Object 304"/>
          <p:cNvSpPr txBox="1"/>
          <p:nvPr/>
        </p:nvSpPr>
        <p:spPr>
          <a:xfrm>
            <a:off x="799322" y="2313719"/>
            <a:ext cx="1695450" cy="409575"/>
          </a:xfrm>
          <a:prstGeom prst="rect">
            <a:avLst/>
          </a:prstGeom>
        </p:spPr>
        <p:txBody>
          <a:bodyPr vert="horz" rtlCol="0" anchor="t" anchorCtr="0">
            <a:noAutofit/>
          </a:bodyPr>
          <a:lstStyle/>
          <a:p>
            <a:pPr algn="l">
              <a:lnSpc>
                <a:spcPct val="100000"/>
              </a:lnSpc>
            </a:pPr>
            <a:r>
              <a:rPr lang="zh-CN" altLang="en-US" sz="4000" spc="540" dirty="0">
                <a:solidFill>
                  <a:srgbClr val="FFFFFF"/>
                </a:solidFill>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rPr>
              <a:t>目录</a:t>
            </a:r>
            <a:endParaRPr lang="zh-CN" altLang="en-US" sz="1050" dirty="0">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endParaRPr>
          </a:p>
        </p:txBody>
      </p:sp>
      <p:pic>
        <p:nvPicPr>
          <p:cNvPr id="305" name="image 305"/>
          <p:cNvPicPr>
            <a:picLocks noChangeAspect="1"/>
          </p:cNvPicPr>
          <p:nvPr/>
        </p:nvPicPr>
        <p:blipFill>
          <a:blip r:embed="rId2"/>
          <a:srcRect/>
          <a:stretch>
            <a:fillRect/>
          </a:stretch>
        </p:blipFill>
        <p:spPr>
          <a:xfrm>
            <a:off x="942799" y="2170065"/>
            <a:ext cx="1614488" cy="38100"/>
          </a:xfrm>
          <a:prstGeom prst="rect">
            <a:avLst/>
          </a:prstGeom>
        </p:spPr>
      </p:pic>
      <p:pic>
        <p:nvPicPr>
          <p:cNvPr id="22" name="图片 21"/>
          <p:cNvPicPr>
            <a:picLocks noChangeAspect="1"/>
          </p:cNvPicPr>
          <p:nvPr/>
        </p:nvPicPr>
        <p:blipFill rotWithShape="1">
          <a:blip r:embed="rId3" cstate="screen"/>
          <a:srcRect t="26606" b="23577"/>
          <a:stretch>
            <a:fillRect/>
          </a:stretch>
        </p:blipFill>
        <p:spPr>
          <a:xfrm>
            <a:off x="914225" y="1608604"/>
            <a:ext cx="1180554" cy="366774"/>
          </a:xfrm>
          <a:prstGeom prst="rect">
            <a:avLst/>
          </a:prstGeom>
          <a:effectLst/>
        </p:spPr>
      </p:pic>
      <p:sp>
        <p:nvSpPr>
          <p:cNvPr id="29" name="左箭头 28"/>
          <p:cNvSpPr/>
          <p:nvPr/>
        </p:nvSpPr>
        <p:spPr>
          <a:xfrm flipH="1">
            <a:off x="3024206" y="1623794"/>
            <a:ext cx="702183" cy="737877"/>
          </a:xfrm>
          <a:prstGeom prst="leftArrow">
            <a:avLst>
              <a:gd name="adj1" fmla="val 100000"/>
              <a:gd name="adj2" fmla="val 2805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endParaRPr lang="zh-CN" altLang="en-US" sz="2000" dirty="0">
              <a:latin typeface="+mj-ea"/>
              <a:ea typeface="+mj-ea"/>
            </a:endParaRPr>
          </a:p>
        </p:txBody>
      </p:sp>
      <p:sp>
        <p:nvSpPr>
          <p:cNvPr id="32" name="矩形 31"/>
          <p:cNvSpPr/>
          <p:nvPr/>
        </p:nvSpPr>
        <p:spPr>
          <a:xfrm>
            <a:off x="2843808" y="1767387"/>
            <a:ext cx="984376" cy="507831"/>
          </a:xfrm>
          <a:prstGeom prst="rect">
            <a:avLst/>
          </a:prstGeom>
        </p:spPr>
        <p:txBody>
          <a:bodyPr wrap="square">
            <a:spAutoFit/>
          </a:bodyPr>
          <a:lstStyle/>
          <a:p>
            <a:pPr lvl="0" algn="ctr">
              <a:defRPr/>
            </a:pPr>
            <a:r>
              <a:rPr lang="zh-CN" altLang="en-US" sz="2700" spc="-1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rPr>
              <a:t>一</a:t>
            </a:r>
            <a:endParaRPr lang="zh-CN" altLang="en-US" sz="2700" spc="-1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endParaRPr>
          </a:p>
        </p:txBody>
      </p:sp>
      <p:sp>
        <p:nvSpPr>
          <p:cNvPr id="23" name="矩形 22"/>
          <p:cNvSpPr/>
          <p:nvPr/>
        </p:nvSpPr>
        <p:spPr>
          <a:xfrm>
            <a:off x="3185160" y="1769745"/>
            <a:ext cx="5721350" cy="460375"/>
          </a:xfrm>
          <a:prstGeom prst="rect">
            <a:avLst/>
          </a:prstGeom>
        </p:spPr>
        <p:txBody>
          <a:bodyPr wrap="square">
            <a:spAutoFit/>
          </a:bodyPr>
          <a:lstStyle/>
          <a:p>
            <a:pPr lvl="0" algn="ctr">
              <a:defRPr/>
            </a:pPr>
            <a:r>
              <a:rPr lang="zh-CN" altLang="en-US" sz="2400" spc="-300" dirty="0">
                <a:solidFill>
                  <a:srgbClr val="0070C0"/>
                </a:solidFill>
                <a:latin typeface="方正粗黑宋简体" panose="02000000000000000000" pitchFamily="2" charset="-122"/>
                <a:ea typeface="方正粗黑宋简体" panose="02000000000000000000" pitchFamily="2" charset="-122"/>
              </a:rPr>
              <a:t>前期准备</a:t>
            </a:r>
            <a:r>
              <a:rPr lang="en-US" altLang="zh-CN" sz="2400" spc="-300" dirty="0">
                <a:solidFill>
                  <a:srgbClr val="0070C0"/>
                </a:solidFill>
                <a:latin typeface="方正粗黑宋简体" panose="02000000000000000000" pitchFamily="2" charset="-122"/>
                <a:ea typeface="方正粗黑宋简体" panose="02000000000000000000" pitchFamily="2" charset="-122"/>
              </a:rPr>
              <a:t>——</a:t>
            </a:r>
            <a:r>
              <a:rPr lang="zh-CN" altLang="en-US" sz="2400" spc="-300" dirty="0">
                <a:solidFill>
                  <a:srgbClr val="0070C0"/>
                </a:solidFill>
                <a:latin typeface="方正粗黑宋简体" panose="02000000000000000000" pitchFamily="2" charset="-122"/>
                <a:ea typeface="方正粗黑宋简体" panose="02000000000000000000" pitchFamily="2" charset="-122"/>
              </a:rPr>
              <a:t>论文</a:t>
            </a:r>
            <a:r>
              <a:rPr lang="zh-CN" altLang="en-US" sz="2400" spc="-300" dirty="0">
                <a:solidFill>
                  <a:srgbClr val="0070C0"/>
                </a:solidFill>
                <a:latin typeface="方正粗黑宋简体" panose="02000000000000000000" pitchFamily="2" charset="-122"/>
                <a:ea typeface="方正粗黑宋简体" panose="02000000000000000000" pitchFamily="2" charset="-122"/>
              </a:rPr>
              <a:t>调研</a:t>
            </a:r>
            <a:endParaRPr lang="zh-CN" altLang="en-US" sz="2400" spc="-300" dirty="0">
              <a:solidFill>
                <a:srgbClr val="0070C0"/>
              </a:solidFill>
              <a:latin typeface="方正粗黑宋简体" panose="02000000000000000000" pitchFamily="2" charset="-122"/>
              <a:ea typeface="方正粗黑宋简体" panose="02000000000000000000" pitchFamily="2" charset="-122"/>
            </a:endParaRPr>
          </a:p>
        </p:txBody>
      </p:sp>
      <p:sp>
        <p:nvSpPr>
          <p:cNvPr id="4" name="AutoShape 2"/>
          <p:cNvSpPr/>
          <p:nvPr>
            <p:custDataLst>
              <p:tags r:id="rId4"/>
            </p:custDataLst>
          </p:nvPr>
        </p:nvSpPr>
        <p:spPr>
          <a:xfrm rot="5400000">
            <a:off x="4749800" y="1104900"/>
            <a:ext cx="609600" cy="4089400"/>
          </a:xfrm>
          <a:prstGeom prst="roundRect">
            <a:avLst>
              <a:gd name="adj" fmla="val 0"/>
            </a:avLst>
          </a:prstGeom>
          <a:gradFill rotWithShape="0">
            <a:gsLst>
              <a:gs pos="0">
                <a:srgbClr val="FFFFFF">
                  <a:alpha val="0"/>
                </a:srgbClr>
              </a:gs>
              <a:gs pos="100000">
                <a:srgbClr val="0070C0">
                  <a:alpha val="100000"/>
                </a:srgbClr>
              </a:gs>
            </a:gsLst>
            <a:lin ang="5400000"/>
          </a:gradFill>
          <a:ln w="25400" cap="flat" cmpd="sng">
            <a:noFill/>
            <a:prstDash val="solid"/>
            <a:round/>
          </a:ln>
        </p:spPr>
        <p:txBody>
          <a:bodyPr vert="horz" wrap="square" lIns="63500" tIns="63500" rIns="63500" bIns="63500" rtlCol="0" anchor="ctr"/>
          <a:p>
            <a:pPr algn="ctr">
              <a:defRPr/>
            </a:pPr>
          </a:p>
        </p:txBody>
      </p:sp>
      <p:sp>
        <p:nvSpPr>
          <p:cNvPr id="13" name="AutoShape 13"/>
          <p:cNvSpPr/>
          <p:nvPr>
            <p:custDataLst>
              <p:tags r:id="rId5"/>
            </p:custDataLst>
          </p:nvPr>
        </p:nvSpPr>
        <p:spPr>
          <a:xfrm>
            <a:off x="3898900" y="2921000"/>
            <a:ext cx="2222500" cy="5080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l">
              <a:lnSpc>
                <a:spcPct val="100000"/>
              </a:lnSpc>
              <a:defRPr/>
            </a:pPr>
            <a:r>
              <a:rPr lang="en-US" sz="24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rPr>
              <a:t>探</a:t>
            </a:r>
            <a:r>
              <a:rPr lang="zh-CN" altLang="en-US" sz="24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rPr>
              <a:t>究</a:t>
            </a:r>
            <a:r>
              <a:rPr lang="en-US" sz="24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rPr>
              <a:t>研究缘起</a:t>
            </a:r>
            <a:endParaRPr lang="en-US" sz="2400"/>
          </a:p>
        </p:txBody>
      </p:sp>
      <p:sp>
        <p:nvSpPr>
          <p:cNvPr id="14" name="AutoShape 14"/>
          <p:cNvSpPr/>
          <p:nvPr>
            <p:custDataLst>
              <p:tags r:id="rId6"/>
            </p:custDataLst>
          </p:nvPr>
        </p:nvSpPr>
        <p:spPr>
          <a:xfrm rot="5400000">
            <a:off x="7899400" y="952500"/>
            <a:ext cx="609600" cy="4394200"/>
          </a:xfrm>
          <a:prstGeom prst="roundRect">
            <a:avLst>
              <a:gd name="adj" fmla="val 0"/>
            </a:avLst>
          </a:prstGeom>
          <a:gradFill rotWithShape="0">
            <a:gsLst>
              <a:gs pos="0">
                <a:srgbClr val="FFFFFF">
                  <a:alpha val="0"/>
                </a:srgbClr>
              </a:gs>
              <a:gs pos="100000">
                <a:srgbClr val="0070C0">
                  <a:alpha val="100000"/>
                </a:srgbClr>
              </a:gs>
            </a:gsLst>
            <a:lin ang="5400000"/>
          </a:gradFill>
          <a:ln w="25400" cap="flat" cmpd="sng">
            <a:noFill/>
            <a:prstDash val="solid"/>
            <a:round/>
          </a:ln>
        </p:spPr>
        <p:txBody>
          <a:bodyPr vert="horz" wrap="square" lIns="63500" tIns="63500" rIns="63500" bIns="63500" rtlCol="0" anchor="ctr"/>
          <a:p>
            <a:pPr algn="ctr">
              <a:defRPr/>
            </a:pPr>
          </a:p>
        </p:txBody>
      </p:sp>
      <p:sp>
        <p:nvSpPr>
          <p:cNvPr id="15" name="AutoShape 15"/>
          <p:cNvSpPr/>
          <p:nvPr>
            <p:custDataLst>
              <p:tags r:id="rId7"/>
            </p:custDataLst>
          </p:nvPr>
        </p:nvSpPr>
        <p:spPr>
          <a:xfrm>
            <a:off x="6896100" y="2921000"/>
            <a:ext cx="3187700" cy="5080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l">
              <a:lnSpc>
                <a:spcPct val="100000"/>
              </a:lnSpc>
              <a:defRPr/>
            </a:pPr>
            <a:r>
              <a:rPr lang="zh-CN" altLang="en-US" sz="24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rPr>
              <a:t>洞</a:t>
            </a:r>
            <a:r>
              <a:rPr lang="en-US" sz="24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rPr>
              <a:t>察创新内核</a:t>
            </a:r>
            <a:endParaRPr lang="en-US" sz="2400"/>
          </a:p>
        </p:txBody>
      </p:sp>
      <p:sp>
        <p:nvSpPr>
          <p:cNvPr id="16" name="AutoShape 16"/>
          <p:cNvSpPr/>
          <p:nvPr>
            <p:custDataLst>
              <p:tags r:id="rId8"/>
            </p:custDataLst>
          </p:nvPr>
        </p:nvSpPr>
        <p:spPr>
          <a:xfrm>
            <a:off x="6032500" y="2781300"/>
            <a:ext cx="914400" cy="571500"/>
          </a:xfrm>
          <a:prstGeom prst="curvedRightArrow">
            <a:avLst>
              <a:gd name="adj1" fmla="val 25000"/>
              <a:gd name="adj2" fmla="val 50000"/>
              <a:gd name="adj3" fmla="val 25000"/>
            </a:avLst>
          </a:prstGeom>
          <a:solidFill>
            <a:srgbClr val="FFFFFF">
              <a:alpha val="100000"/>
            </a:srgbClr>
          </a:solidFill>
          <a:ln w="12700" cap="flat" cmpd="sng">
            <a:solidFill>
              <a:srgbClr val="0070C0">
                <a:alpha val="100000"/>
              </a:srgbClr>
            </a:solidFill>
            <a:prstDash val="solid"/>
            <a:miter lim="10000000"/>
          </a:ln>
        </p:spPr>
        <p:txBody>
          <a:bodyPr vert="horz" wrap="square" lIns="63500" tIns="63500" rIns="63500" bIns="63500" rtlCol="0" anchor="ctr"/>
          <a:p>
            <a:pPr algn="ctr">
              <a:defRPr/>
            </a:pPr>
          </a:p>
        </p:txBody>
      </p:sp>
      <p:sp>
        <p:nvSpPr>
          <p:cNvPr id="17" name="AutoShape 17"/>
          <p:cNvSpPr/>
          <p:nvPr>
            <p:custDataLst>
              <p:tags r:id="rId9"/>
            </p:custDataLst>
          </p:nvPr>
        </p:nvSpPr>
        <p:spPr>
          <a:xfrm>
            <a:off x="5816600" y="2527300"/>
            <a:ext cx="1460500" cy="6477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ctr">
              <a:lnSpc>
                <a:spcPct val="100000"/>
              </a:lnSpc>
              <a:defRPr/>
            </a:pPr>
            <a:r>
              <a:rPr lang="en-US" sz="3600" b="1" i="0" u="none" strike="noStrike">
                <a:ln w="12700">
                  <a:solidFill>
                    <a:srgbClr val="FFFFFF">
                      <a:alpha val="100000"/>
                    </a:srgbClr>
                  </a:solidFill>
                </a:ln>
                <a:solidFill>
                  <a:srgbClr val="C00000"/>
                </a:solidFill>
                <a:effectLst>
                  <a:outerShdw blurRad="38100" dist="38100" dir="2700000" algn="tl" rotWithShape="0">
                    <a:srgbClr val="000000">
                      <a:alpha val="43100"/>
                    </a:srgbClr>
                  </a:outerShdw>
                </a:effectLst>
                <a:latin typeface="禹卫书法行书简体"/>
                <a:ea typeface="禹卫书法行书简体"/>
                <a:cs typeface="禹卫书法行书简体"/>
                <a:sym typeface="禹卫书法行书简体"/>
              </a:rPr>
              <a:t>剖析问题</a:t>
            </a:r>
            <a:endParaRPr lang="en-US" sz="1100"/>
          </a:p>
        </p:txBody>
      </p:sp>
      <p:sp>
        <p:nvSpPr>
          <p:cNvPr id="5" name="AutoShape 18"/>
          <p:cNvSpPr/>
          <p:nvPr>
            <p:custDataLst>
              <p:tags r:id="rId10"/>
            </p:custDataLst>
          </p:nvPr>
        </p:nvSpPr>
        <p:spPr>
          <a:xfrm>
            <a:off x="3035300" y="2768600"/>
            <a:ext cx="914400" cy="571500"/>
          </a:xfrm>
          <a:prstGeom prst="curvedRightArrow">
            <a:avLst>
              <a:gd name="adj1" fmla="val 25000"/>
              <a:gd name="adj2" fmla="val 50000"/>
              <a:gd name="adj3" fmla="val 25000"/>
            </a:avLst>
          </a:prstGeom>
          <a:solidFill>
            <a:srgbClr val="FFFFFF">
              <a:alpha val="100000"/>
            </a:srgbClr>
          </a:solidFill>
          <a:ln w="12700" cap="flat" cmpd="sng">
            <a:solidFill>
              <a:srgbClr val="0070C0">
                <a:alpha val="100000"/>
              </a:srgbClr>
            </a:solidFill>
            <a:prstDash val="solid"/>
            <a:miter lim="10000000"/>
          </a:ln>
        </p:spPr>
        <p:txBody>
          <a:bodyPr vert="horz" wrap="square" lIns="63500" tIns="63500" rIns="63500" bIns="63500" rtlCol="0" anchor="ctr"/>
          <a:p>
            <a:pPr algn="ctr">
              <a:defRPr/>
            </a:pPr>
          </a:p>
        </p:txBody>
      </p:sp>
      <p:sp>
        <p:nvSpPr>
          <p:cNvPr id="19" name="AutoShape 19"/>
          <p:cNvSpPr/>
          <p:nvPr>
            <p:custDataLst>
              <p:tags r:id="rId11"/>
            </p:custDataLst>
          </p:nvPr>
        </p:nvSpPr>
        <p:spPr>
          <a:xfrm>
            <a:off x="2806700" y="2540000"/>
            <a:ext cx="1460500" cy="6477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ctr">
              <a:lnSpc>
                <a:spcPct val="100000"/>
              </a:lnSpc>
              <a:defRPr/>
            </a:pPr>
            <a:r>
              <a:rPr lang="en-US" sz="3600" b="1" i="0" u="none" strike="noStrike">
                <a:ln w="12700">
                  <a:solidFill>
                    <a:srgbClr val="FFFFFF">
                      <a:alpha val="100000"/>
                    </a:srgbClr>
                  </a:solidFill>
                </a:ln>
                <a:solidFill>
                  <a:srgbClr val="C00000"/>
                </a:solidFill>
                <a:effectLst>
                  <a:outerShdw blurRad="38100" dist="38100" dir="2700000" algn="tl" rotWithShape="0">
                    <a:srgbClr val="000000">
                      <a:alpha val="43100"/>
                    </a:srgbClr>
                  </a:outerShdw>
                </a:effectLst>
                <a:latin typeface="禹卫书法行书简体"/>
                <a:ea typeface="禹卫书法行书简体"/>
                <a:cs typeface="禹卫书法行书简体"/>
                <a:sym typeface="禹卫书法行书简体"/>
              </a:rPr>
              <a:t>背景溯源</a:t>
            </a:r>
            <a:endParaRPr lang="en-US" sz="11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1" cstate="print">
            <a:extLst>
              <a:ext uri="{28A0092B-C50C-407E-A947-70E740481C1C}">
                <a14:useLocalDpi xmlns:a14="http://schemas.microsoft.com/office/drawing/2010/main" val="0"/>
              </a:ext>
            </a:extLst>
          </a:blip>
          <a:srcRect t="27384" b="23262"/>
          <a:stretch>
            <a:fillRect/>
          </a:stretch>
        </p:blipFill>
        <p:spPr>
          <a:xfrm>
            <a:off x="7681201" y="276592"/>
            <a:ext cx="1231162" cy="378945"/>
          </a:xfrm>
          <a:prstGeom prst="rect">
            <a:avLst/>
          </a:prstGeom>
        </p:spPr>
      </p:pic>
      <p:sp>
        <p:nvSpPr>
          <p:cNvPr id="18" name="矩形 17"/>
          <p:cNvSpPr/>
          <p:nvPr/>
        </p:nvSpPr>
        <p:spPr>
          <a:xfrm>
            <a:off x="179070" y="233680"/>
            <a:ext cx="6915150" cy="460375"/>
          </a:xfrm>
          <a:prstGeom prst="rect">
            <a:avLst/>
          </a:prstGeom>
        </p:spPr>
        <p:txBody>
          <a:bodyPr wrap="square">
            <a:spAutoFit/>
          </a:bodyPr>
          <a:lstStyle/>
          <a:p>
            <a:pPr>
              <a:defRPr/>
            </a:pP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一、前期准备</a:t>
            </a:r>
            <a:r>
              <a:rPr lang="en-US" altLang="zh-CN" sz="2400" b="1" spc="-113" dirty="0">
                <a:ln w="12700">
                  <a:noFill/>
                </a:ln>
                <a:solidFill>
                  <a:srgbClr val="0070C0"/>
                </a:solidFill>
                <a:latin typeface="楷体" panose="02010609060101010101" charset="-122"/>
                <a:ea typeface="楷体" panose="02010609060101010101" charset="-122"/>
                <a:cs typeface="楷体" panose="02010609060101010101" charset="-122"/>
              </a:rPr>
              <a:t>——</a:t>
            </a: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论文调研</a:t>
            </a:r>
            <a:endPar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endParaRPr>
          </a:p>
        </p:txBody>
      </p:sp>
      <p:cxnSp>
        <p:nvCxnSpPr>
          <p:cNvPr id="19" name="直接连接符 18"/>
          <p:cNvCxnSpPr/>
          <p:nvPr>
            <p:custDataLst>
              <p:tags r:id="rId2"/>
            </p:custDataLst>
          </p:nvPr>
        </p:nvCxnSpPr>
        <p:spPr>
          <a:xfrm>
            <a:off x="179805" y="694107"/>
            <a:ext cx="6840000"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39" name="AutoShape 6"/>
          <p:cNvSpPr/>
          <p:nvPr>
            <p:custDataLst>
              <p:tags r:id="rId3"/>
            </p:custDataLst>
          </p:nvPr>
        </p:nvSpPr>
        <p:spPr>
          <a:xfrm>
            <a:off x="251460" y="775970"/>
            <a:ext cx="2961005" cy="381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2000" b="1" i="0" u="none" strike="noStrike">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综述论文</a:t>
            </a:r>
            <a:r>
              <a:rPr lang="zh-CN" altLang="en-US" sz="2000" b="1" i="0" u="none" strike="noStrike">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a:t>
            </a:r>
            <a:r>
              <a:rPr lang="en-US" altLang="zh-CN" sz="2000" b="1" i="0" u="none" strike="noStrike">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4</a:t>
            </a:r>
            <a:r>
              <a:rPr lang="zh-CN" altLang="en-US" sz="2000" b="1" i="0" u="none" strike="noStrike">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篇）</a:t>
            </a:r>
            <a:endParaRPr lang="zh-CN" altLang="en-US" sz="2000" b="1" i="0" u="none" strike="noStrike">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endParaRPr>
          </a:p>
        </p:txBody>
      </p:sp>
      <p:sp>
        <p:nvSpPr>
          <p:cNvPr id="55" name="文本框 54"/>
          <p:cNvSpPr txBox="1"/>
          <p:nvPr/>
        </p:nvSpPr>
        <p:spPr>
          <a:xfrm>
            <a:off x="179070" y="1160780"/>
            <a:ext cx="8929370" cy="1437640"/>
          </a:xfrm>
          <a:prstGeom prst="rect">
            <a:avLst/>
          </a:prstGeom>
          <a:noFill/>
        </p:spPr>
        <p:txBody>
          <a:bodyPr wrap="square" rtlCol="0" anchor="t">
            <a:spAutoFit/>
          </a:bodyPr>
          <a:p>
            <a:pPr marL="0" indent="0" algn="l">
              <a:lnSpc>
                <a:spcPct val="125000"/>
              </a:lnSpc>
              <a:defRPr/>
            </a:pPr>
            <a:r>
              <a:rPr lang="zh-CN" altLang="en-US" sz="1400">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邹启杰</a:t>
            </a:r>
            <a:r>
              <a:rPr lang="en-US" altLang="zh-CN" sz="1400">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a:t>
            </a:r>
            <a:r>
              <a:rPr lang="zh-CN" altLang="en-US" sz="1400">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蒋亚军</a:t>
            </a:r>
            <a:r>
              <a:rPr lang="en-US" altLang="zh-CN" sz="1400">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a:t>
            </a:r>
            <a:r>
              <a:rPr lang="zh-CN" altLang="en-US" sz="1400">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高兵</a:t>
            </a:r>
            <a:r>
              <a:rPr lang="en-US" altLang="zh-CN" sz="1400">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a:t>
            </a:r>
            <a:r>
              <a:rPr lang="zh-CN" altLang="en-US" sz="1400">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等</a:t>
            </a:r>
            <a:r>
              <a:rPr lang="en-US" altLang="zh-CN" sz="1400">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a:t>
            </a:r>
            <a:r>
              <a:rPr lang="zh-CN" altLang="en-US" sz="1400">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协作多智能体深度强化学习研究综述</a:t>
            </a:r>
            <a:r>
              <a:rPr lang="en-US" altLang="zh-CN" sz="1400">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[J].</a:t>
            </a:r>
            <a:r>
              <a:rPr lang="zh-CN" altLang="en-US" sz="1400">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航空兵器</a:t>
            </a:r>
            <a:r>
              <a:rPr lang="en-US" altLang="zh-CN" sz="1400">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,2022,29(6):78-88</a:t>
            </a:r>
            <a:endParaRPr lang="en-US" altLang="zh-CN" sz="1400">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endParaRPr>
          </a:p>
          <a:p>
            <a:pPr marL="0" indent="0" algn="l">
              <a:lnSpc>
                <a:spcPct val="125000"/>
              </a:lnSpc>
              <a:defRPr/>
            </a:pPr>
            <a:r>
              <a:rPr lang="zh-CN" altLang="en-US" sz="1400">
                <a:latin typeface="楷体" panose="02010609060101010101" charset="-122"/>
                <a:ea typeface="楷体" panose="02010609060101010101" charset="-122"/>
                <a:cs typeface="楷体" panose="02010609060101010101" charset="-122"/>
                <a:sym typeface="+mn-ea"/>
              </a:rPr>
              <a:t>秦家虎</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马麒超</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李曼</a:t>
            </a:r>
            <a:r>
              <a:rPr lang="en-US" altLang="zh-CN" sz="1400">
                <a:latin typeface="楷体" panose="02010609060101010101" charset="-122"/>
                <a:ea typeface="楷体" panose="02010609060101010101" charset="-122"/>
                <a:cs typeface="楷体" panose="02010609060101010101" charset="-122"/>
                <a:sym typeface="+mn-ea"/>
              </a:rPr>
              <a:t>,</a:t>
            </a:r>
            <a:r>
              <a:rPr lang="zh-CN" sz="1400">
                <a:latin typeface="楷体" panose="02010609060101010101" charset="-122"/>
                <a:ea typeface="楷体" panose="02010609060101010101" charset="-122"/>
                <a:cs typeface="楷体" panose="02010609060101010101" charset="-122"/>
                <a:sym typeface="+mn-ea"/>
              </a:rPr>
              <a:t>等</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多智能体协同研究进展综述</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博弈和控制交叉视角</a:t>
            </a:r>
            <a:r>
              <a:rPr lang="en-US" altLang="zh-CN" sz="1400">
                <a:latin typeface="楷体" panose="02010609060101010101" charset="-122"/>
                <a:ea typeface="楷体" panose="02010609060101010101" charset="-122"/>
                <a:cs typeface="楷体" panose="02010609060101010101" charset="-122"/>
                <a:sym typeface="+mn-ea"/>
              </a:rPr>
              <a:t>[J].</a:t>
            </a:r>
            <a:r>
              <a:rPr lang="zh-CN" altLang="en-US" sz="1400">
                <a:latin typeface="楷体" panose="02010609060101010101" charset="-122"/>
                <a:ea typeface="楷体" panose="02010609060101010101" charset="-122"/>
                <a:cs typeface="楷体" panose="02010609060101010101" charset="-122"/>
                <a:sym typeface="+mn-ea"/>
              </a:rPr>
              <a:t>自动化学报</a:t>
            </a:r>
            <a:r>
              <a:rPr lang="en-US" altLang="zh-CN" sz="1400">
                <a:latin typeface="楷体" panose="02010609060101010101" charset="-122"/>
                <a:ea typeface="楷体" panose="02010609060101010101" charset="-122"/>
                <a:cs typeface="楷体" panose="02010609060101010101" charset="-122"/>
                <a:sym typeface="+mn-ea"/>
              </a:rPr>
              <a:t>,2025,51(3):489−509</a:t>
            </a:r>
            <a:endParaRPr lang="en-US" altLang="zh-CN" sz="1400">
              <a:latin typeface="楷体" panose="02010609060101010101" charset="-122"/>
              <a:ea typeface="楷体" panose="02010609060101010101" charset="-122"/>
              <a:cs typeface="楷体" panose="02010609060101010101" charset="-122"/>
              <a:sym typeface="+mn-ea"/>
            </a:endParaRPr>
          </a:p>
          <a:p>
            <a:pPr marL="0" indent="0" algn="l">
              <a:lnSpc>
                <a:spcPct val="125000"/>
              </a:lnSpc>
              <a:defRPr/>
            </a:pPr>
            <a:r>
              <a:rPr lang="zh-CN" altLang="en-US" sz="1400">
                <a:latin typeface="楷体" panose="02010609060101010101" charset="-122"/>
                <a:ea typeface="楷体" panose="02010609060101010101" charset="-122"/>
                <a:cs typeface="楷体" panose="02010609060101010101" charset="-122"/>
                <a:sym typeface="+mn-ea"/>
              </a:rPr>
              <a:t>罗彪</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胡天萌</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周育豪</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黄廷文</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等</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多智能体强化学习控制与决策研究综述</a:t>
            </a:r>
            <a:r>
              <a:rPr lang="en-US" altLang="zh-CN" sz="1400">
                <a:latin typeface="楷体" panose="02010609060101010101" charset="-122"/>
                <a:ea typeface="楷体" panose="02010609060101010101" charset="-122"/>
                <a:cs typeface="楷体" panose="02010609060101010101" charset="-122"/>
                <a:sym typeface="+mn-ea"/>
              </a:rPr>
              <a:t>[J].</a:t>
            </a:r>
            <a:r>
              <a:rPr lang="zh-CN" altLang="en-US" sz="1400">
                <a:latin typeface="楷体" panose="02010609060101010101" charset="-122"/>
                <a:ea typeface="楷体" panose="02010609060101010101" charset="-122"/>
                <a:cs typeface="楷体" panose="02010609060101010101" charset="-122"/>
                <a:sym typeface="+mn-ea"/>
              </a:rPr>
              <a:t>自动化学报</a:t>
            </a:r>
            <a:r>
              <a:rPr lang="en-US" altLang="zh-CN" sz="1400">
                <a:latin typeface="楷体" panose="02010609060101010101" charset="-122"/>
                <a:ea typeface="楷体" panose="02010609060101010101" charset="-122"/>
                <a:cs typeface="楷体" panose="02010609060101010101" charset="-122"/>
                <a:sym typeface="+mn-ea"/>
              </a:rPr>
              <a:t>,2025,51(3):510−539</a:t>
            </a:r>
            <a:endParaRPr lang="en-US" altLang="zh-CN" sz="1400">
              <a:latin typeface="楷体" panose="02010609060101010101" charset="-122"/>
              <a:ea typeface="楷体" panose="02010609060101010101" charset="-122"/>
              <a:cs typeface="楷体" panose="02010609060101010101" charset="-122"/>
              <a:sym typeface="+mn-ea"/>
            </a:endParaRPr>
          </a:p>
          <a:p>
            <a:pPr marL="0" indent="0" algn="l">
              <a:lnSpc>
                <a:spcPct val="125000"/>
              </a:lnSpc>
              <a:defRPr/>
            </a:pPr>
            <a:r>
              <a:rPr lang="en-US" altLang="zh-CN" sz="1400">
                <a:latin typeface="楷体" panose="02010609060101010101" charset="-122"/>
                <a:ea typeface="楷体" panose="02010609060101010101" charset="-122"/>
                <a:cs typeface="楷体" panose="02010609060101010101" charset="-122"/>
                <a:sym typeface="+mn-ea"/>
              </a:rPr>
              <a:t>Gronauer S, Diepold K. Multi-agent deep reinforcement learning: a survey[J]. Artifcial Intelligence Review (2022) 55:895–943. </a:t>
            </a:r>
            <a:endParaRPr lang="zh-CN" altLang="en-US" sz="1400">
              <a:latin typeface="楷体" panose="02010609060101010101" charset="-122"/>
              <a:ea typeface="楷体" panose="02010609060101010101" charset="-122"/>
              <a:cs typeface="楷体" panose="02010609060101010101" charset="-122"/>
            </a:endParaRPr>
          </a:p>
        </p:txBody>
      </p:sp>
      <p:sp>
        <p:nvSpPr>
          <p:cNvPr id="58" name="AutoShape 6"/>
          <p:cNvSpPr/>
          <p:nvPr>
            <p:custDataLst>
              <p:tags r:id="rId4"/>
            </p:custDataLst>
          </p:nvPr>
        </p:nvSpPr>
        <p:spPr>
          <a:xfrm>
            <a:off x="251460" y="2626995"/>
            <a:ext cx="2961005" cy="381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zh-CN" altLang="en-US" sz="2000" b="1" i="0" u="none" strike="noStrike">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工业</a:t>
            </a:r>
            <a:r>
              <a:rPr lang="en-US" sz="2000" b="1" i="0" u="none" strike="noStrike">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论文</a:t>
            </a:r>
            <a:r>
              <a:rPr lang="zh-CN" altLang="en-US" sz="2000" b="1" i="0" u="none" strike="noStrike">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a:t>
            </a:r>
            <a:r>
              <a:rPr lang="en-US" altLang="zh-CN" sz="2000" b="1" i="0" u="none" strike="noStrike">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5</a:t>
            </a:r>
            <a:r>
              <a:rPr lang="zh-CN" altLang="en-US" sz="2000" b="1" i="0" u="none" strike="noStrike">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rPr>
              <a:t>篇）</a:t>
            </a:r>
            <a:endParaRPr lang="zh-CN" altLang="en-US" sz="2000" b="1" i="0" u="none" strike="noStrike">
              <a:solidFill>
                <a:srgbClr val="1F2937"/>
              </a:solidFill>
              <a:latin typeface="楷体" panose="02010609060101010101" charset="-122"/>
              <a:ea typeface="楷体" panose="02010609060101010101" charset="-122"/>
              <a:cs typeface="Noto Sans SC" panose="020B0200000000000000" charset="-122"/>
              <a:sym typeface="Noto Sans SC" panose="020B0200000000000000" charset="-122"/>
            </a:endParaRPr>
          </a:p>
        </p:txBody>
      </p:sp>
      <p:sp>
        <p:nvSpPr>
          <p:cNvPr id="59" name="文本框 58"/>
          <p:cNvSpPr txBox="1"/>
          <p:nvPr/>
        </p:nvSpPr>
        <p:spPr>
          <a:xfrm>
            <a:off x="179705" y="3007995"/>
            <a:ext cx="8929370" cy="1706880"/>
          </a:xfrm>
          <a:prstGeom prst="rect">
            <a:avLst/>
          </a:prstGeom>
          <a:noFill/>
        </p:spPr>
        <p:txBody>
          <a:bodyPr wrap="square" rtlCol="0" anchor="t">
            <a:spAutoFit/>
          </a:bodyPr>
          <a:p>
            <a:pPr marL="0" indent="0" algn="l">
              <a:lnSpc>
                <a:spcPct val="125000"/>
              </a:lnSpc>
              <a:defRPr/>
            </a:pPr>
            <a:r>
              <a:rPr lang="zh-CN" altLang="en-US" sz="1400">
                <a:latin typeface="楷体" panose="02010609060101010101" charset="-122"/>
                <a:ea typeface="楷体" panose="02010609060101010101" charset="-122"/>
                <a:cs typeface="楷体" panose="02010609060101010101" charset="-122"/>
              </a:rPr>
              <a:t>陈晋生</a:t>
            </a:r>
            <a:r>
              <a:rPr lang="en-US" altLang="zh-CN" sz="1400">
                <a:latin typeface="楷体" panose="02010609060101010101" charset="-122"/>
                <a:ea typeface="楷体" panose="02010609060101010101" charset="-122"/>
                <a:cs typeface="楷体" panose="02010609060101010101" charset="-122"/>
              </a:rPr>
              <a:t>,</a:t>
            </a:r>
            <a:r>
              <a:rPr lang="zh-CN" altLang="en-US" sz="1400">
                <a:latin typeface="楷体" panose="02010609060101010101" charset="-122"/>
                <a:ea typeface="楷体" panose="02010609060101010101" charset="-122"/>
                <a:cs typeface="楷体" panose="02010609060101010101" charset="-122"/>
              </a:rPr>
              <a:t>徐友春</a:t>
            </a:r>
            <a:r>
              <a:rPr lang="en-US" altLang="zh-CN" sz="1400">
                <a:latin typeface="楷体" panose="02010609060101010101" charset="-122"/>
                <a:ea typeface="楷体" panose="02010609060101010101" charset="-122"/>
                <a:cs typeface="楷体" panose="02010609060101010101" charset="-122"/>
              </a:rPr>
              <a:t>,</a:t>
            </a:r>
            <a:r>
              <a:rPr lang="zh-CN" altLang="en-US" sz="1400">
                <a:latin typeface="楷体" panose="02010609060101010101" charset="-122"/>
                <a:ea typeface="楷体" panose="02010609060101010101" charset="-122"/>
                <a:cs typeface="楷体" panose="02010609060101010101" charset="-122"/>
              </a:rPr>
              <a:t>李子先</a:t>
            </a:r>
            <a:r>
              <a:rPr lang="en-US" altLang="zh-CN" sz="1400">
                <a:latin typeface="楷体" panose="02010609060101010101" charset="-122"/>
                <a:ea typeface="楷体" panose="02010609060101010101" charset="-122"/>
                <a:cs typeface="楷体" panose="02010609060101010101" charset="-122"/>
              </a:rPr>
              <a:t>,</a:t>
            </a:r>
            <a:r>
              <a:rPr lang="zh-CN" altLang="en-US" sz="1400">
                <a:latin typeface="楷体" panose="02010609060101010101" charset="-122"/>
                <a:ea typeface="楷体" panose="02010609060101010101" charset="-122"/>
                <a:cs typeface="楷体" panose="02010609060101010101" charset="-122"/>
              </a:rPr>
              <a:t>等</a:t>
            </a:r>
            <a:r>
              <a:rPr lang="en-US" altLang="zh-CN" sz="1400">
                <a:latin typeface="楷体" panose="02010609060101010101" charset="-122"/>
                <a:ea typeface="楷体" panose="02010609060101010101" charset="-122"/>
                <a:cs typeface="楷体" panose="02010609060101010101" charset="-122"/>
              </a:rPr>
              <a:t>.</a:t>
            </a:r>
            <a:r>
              <a:rPr lang="zh-CN" altLang="en-US" sz="1400">
                <a:latin typeface="楷体" panose="02010609060101010101" charset="-122"/>
                <a:ea typeface="楷体" panose="02010609060101010101" charset="-122"/>
                <a:cs typeface="楷体" panose="02010609060101010101" charset="-122"/>
              </a:rPr>
              <a:t>基于多智能体强化学习的车臂协同控制方法</a:t>
            </a:r>
            <a:r>
              <a:rPr lang="en-US" altLang="zh-CN" sz="1400">
                <a:latin typeface="楷体" panose="02010609060101010101" charset="-122"/>
                <a:ea typeface="楷体" panose="02010609060101010101" charset="-122"/>
                <a:cs typeface="楷体" panose="02010609060101010101" charset="-122"/>
              </a:rPr>
              <a:t>[J].</a:t>
            </a:r>
            <a:r>
              <a:rPr lang="zh-CN" altLang="en-US" sz="1400">
                <a:latin typeface="楷体" panose="02010609060101010101" charset="-122"/>
                <a:ea typeface="楷体" panose="02010609060101010101" charset="-122"/>
                <a:cs typeface="楷体" panose="02010609060101010101" charset="-122"/>
              </a:rPr>
              <a:t>汽车工程</a:t>
            </a:r>
            <a:r>
              <a:rPr lang="en-US" altLang="zh-CN" sz="1400">
                <a:latin typeface="楷体" panose="02010609060101010101" charset="-122"/>
                <a:ea typeface="楷体" panose="02010609060101010101" charset="-122"/>
                <a:cs typeface="楷体" panose="02010609060101010101" charset="-122"/>
              </a:rPr>
              <a:t>,2026,48(4):770-782.</a:t>
            </a:r>
            <a:endParaRPr lang="en-US" altLang="zh-CN" sz="1400">
              <a:latin typeface="楷体" panose="02010609060101010101" charset="-122"/>
              <a:ea typeface="楷体" panose="02010609060101010101" charset="-122"/>
              <a:cs typeface="楷体" panose="02010609060101010101" charset="-122"/>
            </a:endParaRPr>
          </a:p>
          <a:p>
            <a:pPr marL="0" indent="0" algn="l">
              <a:lnSpc>
                <a:spcPct val="125000"/>
              </a:lnSpc>
              <a:defRPr/>
            </a:pPr>
            <a:r>
              <a:rPr lang="zh-CN" altLang="en-US" sz="1400">
                <a:latin typeface="楷体" panose="02010609060101010101" charset="-122"/>
                <a:ea typeface="楷体" panose="02010609060101010101" charset="-122"/>
                <a:cs typeface="楷体" panose="02010609060101010101" charset="-122"/>
                <a:sym typeface="+mn-ea"/>
              </a:rPr>
              <a:t>黄博文等</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基于多智能体强化学习的智能化仓储动态路径优化系统设计</a:t>
            </a:r>
            <a:r>
              <a:rPr lang="en-US" altLang="zh-CN" sz="1400">
                <a:latin typeface="楷体" panose="02010609060101010101" charset="-122"/>
                <a:ea typeface="楷体" panose="02010609060101010101" charset="-122"/>
                <a:cs typeface="楷体" panose="02010609060101010101" charset="-122"/>
                <a:sym typeface="+mn-ea"/>
              </a:rPr>
              <a:t>[J].</a:t>
            </a:r>
            <a:r>
              <a:rPr lang="zh-CN" altLang="en-US" sz="1400">
                <a:latin typeface="楷体" panose="02010609060101010101" charset="-122"/>
                <a:ea typeface="楷体" panose="02010609060101010101" charset="-122"/>
                <a:cs typeface="楷体" panose="02010609060101010101" charset="-122"/>
                <a:sym typeface="+mn-ea"/>
              </a:rPr>
              <a:t>自动化与仪器仪表</a:t>
            </a:r>
            <a:r>
              <a:rPr lang="en-US" altLang="zh-CN" sz="1400">
                <a:latin typeface="楷体" panose="02010609060101010101" charset="-122"/>
                <a:ea typeface="楷体" panose="02010609060101010101" charset="-122"/>
                <a:cs typeface="楷体" panose="02010609060101010101" charset="-122"/>
                <a:sym typeface="+mn-ea"/>
              </a:rPr>
              <a:t>, 2026(3):116-120.</a:t>
            </a:r>
            <a:endParaRPr lang="en-US" altLang="zh-CN" sz="1400">
              <a:latin typeface="楷体" panose="02010609060101010101" charset="-122"/>
              <a:ea typeface="楷体" panose="02010609060101010101" charset="-122"/>
              <a:cs typeface="楷体" panose="02010609060101010101" charset="-122"/>
              <a:sym typeface="+mn-ea"/>
            </a:endParaRPr>
          </a:p>
          <a:p>
            <a:pPr marL="0" indent="0" algn="l">
              <a:lnSpc>
                <a:spcPct val="125000"/>
              </a:lnSpc>
              <a:defRPr/>
            </a:pPr>
            <a:r>
              <a:rPr lang="zh-CN" altLang="en-US" sz="1400">
                <a:latin typeface="楷体" panose="02010609060101010101" charset="-122"/>
                <a:ea typeface="楷体" panose="02010609060101010101" charset="-122"/>
                <a:cs typeface="楷体" panose="02010609060101010101" charset="-122"/>
                <a:sym typeface="+mn-ea"/>
              </a:rPr>
              <a:t>孟祥恒</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郭鹏</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李嘉雯</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等</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基于多智能体深度强化学习的轨道车辆组装分布式异构柔性作业调度</a:t>
            </a:r>
            <a:r>
              <a:rPr lang="en-US" altLang="zh-CN" sz="1400">
                <a:latin typeface="楷体" panose="02010609060101010101" charset="-122"/>
                <a:ea typeface="楷体" panose="02010609060101010101" charset="-122"/>
                <a:cs typeface="楷体" panose="02010609060101010101" charset="-122"/>
                <a:sym typeface="+mn-ea"/>
              </a:rPr>
              <a:t>[J].</a:t>
            </a:r>
            <a:r>
              <a:rPr lang="zh-CN" altLang="en-US" sz="1400">
                <a:latin typeface="楷体" panose="02010609060101010101" charset="-122"/>
                <a:ea typeface="楷体" panose="02010609060101010101" charset="-122"/>
                <a:cs typeface="楷体" panose="02010609060101010101" charset="-122"/>
                <a:sym typeface="+mn-ea"/>
              </a:rPr>
              <a:t>控制与决策</a:t>
            </a:r>
            <a:r>
              <a:rPr lang="en-US" altLang="zh-CN" sz="1400">
                <a:latin typeface="楷体" panose="02010609060101010101" charset="-122"/>
                <a:ea typeface="楷体" panose="02010609060101010101" charset="-122"/>
                <a:cs typeface="楷体" panose="02010609060101010101" charset="-122"/>
                <a:sym typeface="+mn-ea"/>
              </a:rPr>
              <a:t>,2026,41(5):1219-1228</a:t>
            </a:r>
            <a:endParaRPr lang="en-US" altLang="zh-CN" sz="1400">
              <a:latin typeface="楷体" panose="02010609060101010101" charset="-122"/>
              <a:ea typeface="楷体" panose="02010609060101010101" charset="-122"/>
              <a:cs typeface="楷体" panose="02010609060101010101" charset="-122"/>
              <a:sym typeface="+mn-ea"/>
            </a:endParaRPr>
          </a:p>
          <a:p>
            <a:pPr marL="0" indent="0" algn="l">
              <a:lnSpc>
                <a:spcPct val="125000"/>
              </a:lnSpc>
              <a:defRPr/>
            </a:pPr>
            <a:r>
              <a:rPr lang="zh-CN" altLang="en-US" sz="1400">
                <a:latin typeface="楷体" panose="02010609060101010101" charset="-122"/>
                <a:ea typeface="楷体" panose="02010609060101010101" charset="-122"/>
                <a:cs typeface="楷体" panose="02010609060101010101" charset="-122"/>
                <a:sym typeface="+mn-ea"/>
              </a:rPr>
              <a:t>胡枭</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贾金国等</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基于异构多智能体深度强化学习的钢铁工业多能耦合系统优化调度</a:t>
            </a:r>
            <a:r>
              <a:rPr lang="en-US" altLang="zh-CN" sz="1400">
                <a:latin typeface="楷体" panose="02010609060101010101" charset="-122"/>
                <a:ea typeface="楷体" panose="02010609060101010101" charset="-122"/>
                <a:cs typeface="楷体" panose="02010609060101010101" charset="-122"/>
                <a:sym typeface="+mn-ea"/>
              </a:rPr>
              <a:t>[J].</a:t>
            </a:r>
            <a:r>
              <a:rPr lang="zh-CN" altLang="en-US" sz="1400">
                <a:latin typeface="楷体" panose="02010609060101010101" charset="-122"/>
                <a:ea typeface="楷体" panose="02010609060101010101" charset="-122"/>
                <a:cs typeface="楷体" panose="02010609060101010101" charset="-122"/>
                <a:sym typeface="+mn-ea"/>
              </a:rPr>
              <a:t>南方电网技术</a:t>
            </a:r>
            <a:r>
              <a:rPr lang="en-US" altLang="zh-CN" sz="1400">
                <a:latin typeface="楷体" panose="02010609060101010101" charset="-122"/>
                <a:ea typeface="楷体" panose="02010609060101010101" charset="-122"/>
                <a:cs typeface="楷体" panose="02010609060101010101" charset="-122"/>
                <a:sym typeface="+mn-ea"/>
              </a:rPr>
              <a:t>,2026.</a:t>
            </a:r>
            <a:endParaRPr lang="en-US" altLang="zh-CN" sz="1400">
              <a:latin typeface="楷体" panose="02010609060101010101" charset="-122"/>
              <a:ea typeface="楷体" panose="02010609060101010101" charset="-122"/>
              <a:cs typeface="楷体" panose="02010609060101010101" charset="-122"/>
              <a:sym typeface="+mn-ea"/>
            </a:endParaRPr>
          </a:p>
          <a:p>
            <a:pPr marL="0" indent="0" algn="l">
              <a:lnSpc>
                <a:spcPct val="125000"/>
              </a:lnSpc>
              <a:defRPr/>
            </a:pPr>
            <a:r>
              <a:rPr lang="zh-CN" altLang="en-US" sz="1400">
                <a:latin typeface="楷体" panose="02010609060101010101" charset="-122"/>
                <a:ea typeface="楷体" panose="02010609060101010101" charset="-122"/>
                <a:cs typeface="楷体" panose="02010609060101010101" charset="-122"/>
                <a:sym typeface="+mn-ea"/>
              </a:rPr>
              <a:t>景毅等</a:t>
            </a:r>
            <a:r>
              <a:rPr lang="en-US" altLang="zh-CN" sz="1400">
                <a:latin typeface="楷体" panose="02010609060101010101" charset="-122"/>
                <a:ea typeface="楷体" panose="02010609060101010101" charset="-122"/>
                <a:cs typeface="楷体" panose="02010609060101010101" charset="-122"/>
                <a:sym typeface="+mn-ea"/>
              </a:rPr>
              <a:t>.</a:t>
            </a:r>
            <a:r>
              <a:rPr lang="zh-CN" altLang="en-US" sz="1400">
                <a:latin typeface="楷体" panose="02010609060101010101" charset="-122"/>
                <a:ea typeface="楷体" panose="02010609060101010101" charset="-122"/>
                <a:cs typeface="楷体" panose="02010609060101010101" charset="-122"/>
                <a:sym typeface="+mn-ea"/>
              </a:rPr>
              <a:t>基于多智能体强化学习的中低轨卫星协同网络通算资源分配方法</a:t>
            </a:r>
            <a:r>
              <a:rPr lang="en-US" altLang="zh-CN" sz="1400">
                <a:latin typeface="楷体" panose="02010609060101010101" charset="-122"/>
                <a:ea typeface="楷体" panose="02010609060101010101" charset="-122"/>
                <a:cs typeface="楷体" panose="02010609060101010101" charset="-122"/>
                <a:sym typeface="+mn-ea"/>
              </a:rPr>
              <a:t>[J].</a:t>
            </a:r>
            <a:r>
              <a:rPr lang="zh-CN" altLang="en-US" sz="1400">
                <a:latin typeface="楷体" panose="02010609060101010101" charset="-122"/>
                <a:ea typeface="楷体" panose="02010609060101010101" charset="-122"/>
                <a:cs typeface="楷体" panose="02010609060101010101" charset="-122"/>
                <a:sym typeface="+mn-ea"/>
              </a:rPr>
              <a:t>移动通信</a:t>
            </a:r>
            <a:r>
              <a:rPr lang="en-US" altLang="zh-CN" sz="1400">
                <a:latin typeface="楷体" panose="02010609060101010101" charset="-122"/>
                <a:ea typeface="楷体" panose="02010609060101010101" charset="-122"/>
                <a:cs typeface="楷体" panose="02010609060101010101" charset="-122"/>
                <a:sym typeface="+mn-ea"/>
              </a:rPr>
              <a:t>,2026,50(3):142-150.</a:t>
            </a:r>
            <a:endParaRPr lang="en-US" altLang="zh-CN" sz="1400">
              <a:latin typeface="楷体" panose="02010609060101010101" charset="-122"/>
              <a:ea typeface="楷体" panose="02010609060101010101" charset="-122"/>
              <a:cs typeface="楷体" panose="02010609060101010101"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1" cstate="print">
            <a:extLst>
              <a:ext uri="{28A0092B-C50C-407E-A947-70E740481C1C}">
                <a14:useLocalDpi xmlns:a14="http://schemas.microsoft.com/office/drawing/2010/main" val="0"/>
              </a:ext>
            </a:extLst>
          </a:blip>
          <a:srcRect t="27384" b="23262"/>
          <a:stretch>
            <a:fillRect/>
          </a:stretch>
        </p:blipFill>
        <p:spPr>
          <a:xfrm>
            <a:off x="7681201" y="276592"/>
            <a:ext cx="1231162" cy="378945"/>
          </a:xfrm>
          <a:prstGeom prst="rect">
            <a:avLst/>
          </a:prstGeom>
        </p:spPr>
      </p:pic>
      <p:sp>
        <p:nvSpPr>
          <p:cNvPr id="18" name="矩形 17"/>
          <p:cNvSpPr/>
          <p:nvPr/>
        </p:nvSpPr>
        <p:spPr>
          <a:xfrm>
            <a:off x="179070" y="233680"/>
            <a:ext cx="6915150" cy="460375"/>
          </a:xfrm>
          <a:prstGeom prst="rect">
            <a:avLst/>
          </a:prstGeom>
        </p:spPr>
        <p:txBody>
          <a:bodyPr wrap="square">
            <a:spAutoFit/>
          </a:bodyPr>
          <a:lstStyle/>
          <a:p>
            <a:pPr>
              <a:defRPr/>
            </a:pP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一、前期准备</a:t>
            </a:r>
            <a:r>
              <a:rPr lang="en-US" altLang="zh-CN" sz="2400" b="1" spc="-113" dirty="0">
                <a:ln w="12700">
                  <a:noFill/>
                </a:ln>
                <a:solidFill>
                  <a:srgbClr val="0070C0"/>
                </a:solidFill>
                <a:latin typeface="楷体" panose="02010609060101010101" charset="-122"/>
                <a:ea typeface="楷体" panose="02010609060101010101" charset="-122"/>
                <a:cs typeface="楷体" panose="02010609060101010101" charset="-122"/>
              </a:rPr>
              <a:t>——</a:t>
            </a: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论文</a:t>
            </a: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调研</a:t>
            </a:r>
            <a:endPar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endParaRPr>
          </a:p>
        </p:txBody>
      </p:sp>
      <p:cxnSp>
        <p:nvCxnSpPr>
          <p:cNvPr id="19" name="直接连接符 18"/>
          <p:cNvCxnSpPr/>
          <p:nvPr>
            <p:custDataLst>
              <p:tags r:id="rId2"/>
            </p:custDataLst>
          </p:nvPr>
        </p:nvCxnSpPr>
        <p:spPr>
          <a:xfrm>
            <a:off x="179805" y="694107"/>
            <a:ext cx="6840000"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pic>
        <p:nvPicPr>
          <p:cNvPr id="35" name="图片 34"/>
          <p:cNvPicPr>
            <a:picLocks noChangeAspect="1"/>
          </p:cNvPicPr>
          <p:nvPr/>
        </p:nvPicPr>
        <p:blipFill>
          <a:blip r:embed="rId3"/>
          <a:stretch>
            <a:fillRect/>
          </a:stretch>
        </p:blipFill>
        <p:spPr>
          <a:xfrm>
            <a:off x="3780155" y="915670"/>
            <a:ext cx="3766185" cy="2088515"/>
          </a:xfrm>
          <a:prstGeom prst="rect">
            <a:avLst/>
          </a:prstGeom>
        </p:spPr>
      </p:pic>
      <p:sp>
        <p:nvSpPr>
          <p:cNvPr id="3" name="文本框 2"/>
          <p:cNvSpPr txBox="1"/>
          <p:nvPr/>
        </p:nvSpPr>
        <p:spPr>
          <a:xfrm>
            <a:off x="1279525" y="4371975"/>
            <a:ext cx="1451610" cy="398780"/>
          </a:xfrm>
          <a:prstGeom prst="rect">
            <a:avLst/>
          </a:prstGeom>
          <a:noFill/>
        </p:spPr>
        <p:txBody>
          <a:bodyPr wrap="square" rtlCol="0" anchor="t">
            <a:spAutoFit/>
          </a:bodyPr>
          <a:p>
            <a:pPr algn="ctr"/>
            <a:r>
              <a:rPr lang="zh-CN" altLang="en-US" sz="2000">
                <a:latin typeface="楷体" panose="02010609060101010101" charset="-122"/>
                <a:ea typeface="楷体" panose="02010609060101010101" charset="-122"/>
              </a:rPr>
              <a:t>决策视角</a:t>
            </a:r>
            <a:endParaRPr lang="zh-CN" altLang="en-US" sz="2000">
              <a:latin typeface="楷体" panose="02010609060101010101" charset="-122"/>
              <a:ea typeface="楷体" panose="02010609060101010101" charset="-122"/>
            </a:endParaRPr>
          </a:p>
        </p:txBody>
      </p:sp>
      <p:pic>
        <p:nvPicPr>
          <p:cNvPr id="52" name="图片 51"/>
          <p:cNvPicPr>
            <a:picLocks noChangeAspect="1"/>
          </p:cNvPicPr>
          <p:nvPr/>
        </p:nvPicPr>
        <p:blipFill>
          <a:blip r:embed="rId4"/>
          <a:stretch>
            <a:fillRect/>
          </a:stretch>
        </p:blipFill>
        <p:spPr>
          <a:xfrm>
            <a:off x="601345" y="915670"/>
            <a:ext cx="2807335" cy="3364230"/>
          </a:xfrm>
          <a:prstGeom prst="rect">
            <a:avLst/>
          </a:prstGeom>
        </p:spPr>
      </p:pic>
      <p:sp>
        <p:nvSpPr>
          <p:cNvPr id="4" name="文本框 3"/>
          <p:cNvSpPr txBox="1"/>
          <p:nvPr>
            <p:custDataLst>
              <p:tags r:id="rId5"/>
            </p:custDataLst>
          </p:nvPr>
        </p:nvSpPr>
        <p:spPr>
          <a:xfrm>
            <a:off x="4937125" y="3075940"/>
            <a:ext cx="1451610" cy="398780"/>
          </a:xfrm>
          <a:prstGeom prst="rect">
            <a:avLst/>
          </a:prstGeom>
          <a:noFill/>
        </p:spPr>
        <p:txBody>
          <a:bodyPr wrap="square" rtlCol="0" anchor="t">
            <a:spAutoFit/>
          </a:bodyPr>
          <a:p>
            <a:pPr algn="ctr"/>
            <a:r>
              <a:rPr lang="zh-CN" altLang="en-US" sz="2000">
                <a:latin typeface="楷体" panose="02010609060101010101" charset="-122"/>
                <a:ea typeface="楷体" panose="02010609060101010101" charset="-122"/>
              </a:rPr>
              <a:t>控制视角</a:t>
            </a:r>
            <a:endParaRPr lang="zh-CN" altLang="en-US" sz="2000">
              <a:latin typeface="楷体" panose="02010609060101010101" charset="-122"/>
              <a:ea typeface="楷体" panose="02010609060101010101" charset="-122"/>
            </a:endParaRPr>
          </a:p>
        </p:txBody>
      </p:sp>
      <p:sp>
        <p:nvSpPr>
          <p:cNvPr id="5" name="文本框 4"/>
          <p:cNvSpPr txBox="1"/>
          <p:nvPr>
            <p:custDataLst>
              <p:tags r:id="rId6"/>
            </p:custDataLst>
          </p:nvPr>
        </p:nvSpPr>
        <p:spPr>
          <a:xfrm>
            <a:off x="4633595" y="4500245"/>
            <a:ext cx="2058035" cy="398780"/>
          </a:xfrm>
          <a:prstGeom prst="rect">
            <a:avLst/>
          </a:prstGeom>
          <a:noFill/>
        </p:spPr>
        <p:txBody>
          <a:bodyPr wrap="square" rtlCol="0" anchor="t">
            <a:spAutoFit/>
          </a:bodyPr>
          <a:p>
            <a:pPr algn="ctr"/>
            <a:r>
              <a:rPr lang="en-US" altLang="zh-CN" sz="2000">
                <a:latin typeface="楷体" panose="02010609060101010101" charset="-122"/>
                <a:ea typeface="楷体" panose="02010609060101010101" charset="-122"/>
              </a:rPr>
              <a:t>MARL</a:t>
            </a:r>
            <a:r>
              <a:rPr lang="zh-CN" altLang="en-US" sz="2000">
                <a:latin typeface="楷体" panose="02010609060101010101" charset="-122"/>
                <a:ea typeface="楷体" panose="02010609060101010101" charset="-122"/>
              </a:rPr>
              <a:t>核心</a:t>
            </a:r>
            <a:r>
              <a:rPr lang="zh-CN" altLang="en-US" sz="2000">
                <a:latin typeface="楷体" panose="02010609060101010101" charset="-122"/>
                <a:ea typeface="楷体" panose="02010609060101010101" charset="-122"/>
              </a:rPr>
              <a:t>挑战</a:t>
            </a:r>
            <a:endParaRPr lang="zh-CN" altLang="en-US" sz="2000">
              <a:latin typeface="楷体" panose="02010609060101010101" charset="-122"/>
              <a:ea typeface="楷体" panose="02010609060101010101" charset="-122"/>
            </a:endParaRPr>
          </a:p>
        </p:txBody>
      </p:sp>
      <p:sp>
        <p:nvSpPr>
          <p:cNvPr id="6" name="文本框 5"/>
          <p:cNvSpPr txBox="1"/>
          <p:nvPr>
            <p:custDataLst>
              <p:tags r:id="rId7"/>
            </p:custDataLst>
          </p:nvPr>
        </p:nvSpPr>
        <p:spPr>
          <a:xfrm>
            <a:off x="3697605" y="3580130"/>
            <a:ext cx="2823845" cy="829945"/>
          </a:xfrm>
          <a:prstGeom prst="rect">
            <a:avLst/>
          </a:prstGeom>
          <a:noFill/>
        </p:spPr>
        <p:txBody>
          <a:bodyPr wrap="square" rtlCol="0" anchor="t">
            <a:spAutoFit/>
          </a:bodyPr>
          <a:p>
            <a:pPr algn="l"/>
            <a:r>
              <a:rPr lang="zh-CN" altLang="en-US" sz="1600">
                <a:latin typeface="楷体" panose="02010609060101010101" charset="-122"/>
                <a:ea typeface="楷体" panose="02010609060101010101" charset="-122"/>
              </a:rPr>
              <a:t>（一）环境非</a:t>
            </a:r>
            <a:r>
              <a:rPr lang="zh-CN" altLang="en-US" sz="1600">
                <a:latin typeface="楷体" panose="02010609060101010101" charset="-122"/>
                <a:ea typeface="楷体" panose="02010609060101010101" charset="-122"/>
              </a:rPr>
              <a:t>平稳性</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（二）局部可观测</a:t>
            </a:r>
            <a:r>
              <a:rPr lang="zh-CN" altLang="en-US" sz="1600">
                <a:latin typeface="楷体" panose="02010609060101010101" charset="-122"/>
                <a:ea typeface="楷体" panose="02010609060101010101" charset="-122"/>
              </a:rPr>
              <a:t>性</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（三）全局信用</a:t>
            </a:r>
            <a:r>
              <a:rPr lang="zh-CN" altLang="en-US" sz="1600">
                <a:latin typeface="楷体" panose="02010609060101010101" charset="-122"/>
                <a:ea typeface="楷体" panose="02010609060101010101" charset="-122"/>
              </a:rPr>
              <a:t>分配</a:t>
            </a:r>
            <a:endParaRPr lang="zh-CN" altLang="en-US" sz="1600">
              <a:latin typeface="楷体" panose="02010609060101010101" charset="-122"/>
              <a:ea typeface="楷体" panose="02010609060101010101" charset="-122"/>
            </a:endParaRPr>
          </a:p>
        </p:txBody>
      </p:sp>
      <p:sp>
        <p:nvSpPr>
          <p:cNvPr id="7" name="文本框 6"/>
          <p:cNvSpPr txBox="1"/>
          <p:nvPr>
            <p:custDataLst>
              <p:tags r:id="rId8"/>
            </p:custDataLst>
          </p:nvPr>
        </p:nvSpPr>
        <p:spPr>
          <a:xfrm>
            <a:off x="5641340" y="3580130"/>
            <a:ext cx="2823845" cy="829945"/>
          </a:xfrm>
          <a:prstGeom prst="rect">
            <a:avLst/>
          </a:prstGeom>
          <a:noFill/>
        </p:spPr>
        <p:txBody>
          <a:bodyPr wrap="square" rtlCol="0" anchor="t">
            <a:spAutoFit/>
          </a:bodyPr>
          <a:p>
            <a:pPr algn="l"/>
            <a:r>
              <a:rPr lang="zh-CN" altLang="en-US" sz="1600">
                <a:latin typeface="楷体" panose="02010609060101010101" charset="-122"/>
                <a:ea typeface="楷体" panose="02010609060101010101" charset="-122"/>
              </a:rPr>
              <a:t>（四）维度</a:t>
            </a:r>
            <a:r>
              <a:rPr lang="zh-CN" altLang="en-US" sz="1600">
                <a:latin typeface="楷体" panose="02010609060101010101" charset="-122"/>
                <a:ea typeface="楷体" panose="02010609060101010101" charset="-122"/>
              </a:rPr>
              <a:t>灾难</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（五）样本效率</a:t>
            </a:r>
            <a:r>
              <a:rPr lang="zh-CN" altLang="en-US" sz="1600">
                <a:latin typeface="楷体" panose="02010609060101010101" charset="-122"/>
                <a:ea typeface="楷体" panose="02010609060101010101" charset="-122"/>
              </a:rPr>
              <a:t>低下</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（六）稀疏</a:t>
            </a:r>
            <a:r>
              <a:rPr lang="zh-CN" altLang="en-US" sz="1600">
                <a:latin typeface="楷体" panose="02010609060101010101" charset="-122"/>
                <a:ea typeface="楷体" panose="02010609060101010101" charset="-122"/>
              </a:rPr>
              <a:t>奖励</a:t>
            </a:r>
            <a:endParaRPr lang="zh-CN" altLang="en-US" sz="1600">
              <a:latin typeface="楷体" panose="02010609060101010101" charset="-122"/>
              <a:ea typeface="楷体" panose="02010609060101010101"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1" cstate="print">
            <a:extLst>
              <a:ext uri="{28A0092B-C50C-407E-A947-70E740481C1C}">
                <a14:useLocalDpi xmlns:a14="http://schemas.microsoft.com/office/drawing/2010/main" val="0"/>
              </a:ext>
            </a:extLst>
          </a:blip>
          <a:srcRect t="27384" b="23262"/>
          <a:stretch>
            <a:fillRect/>
          </a:stretch>
        </p:blipFill>
        <p:spPr>
          <a:xfrm>
            <a:off x="7681201" y="276592"/>
            <a:ext cx="1231162" cy="378945"/>
          </a:xfrm>
          <a:prstGeom prst="rect">
            <a:avLst/>
          </a:prstGeom>
        </p:spPr>
      </p:pic>
      <p:sp>
        <p:nvSpPr>
          <p:cNvPr id="18" name="矩形 17"/>
          <p:cNvSpPr/>
          <p:nvPr/>
        </p:nvSpPr>
        <p:spPr>
          <a:xfrm>
            <a:off x="179070" y="233680"/>
            <a:ext cx="6915150" cy="460375"/>
          </a:xfrm>
          <a:prstGeom prst="rect">
            <a:avLst/>
          </a:prstGeom>
        </p:spPr>
        <p:txBody>
          <a:bodyPr wrap="square">
            <a:spAutoFit/>
          </a:bodyPr>
          <a:lstStyle/>
          <a:p>
            <a:pPr>
              <a:defRPr/>
            </a:pP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一、前期准备</a:t>
            </a:r>
            <a:r>
              <a:rPr lang="en-US" altLang="zh-CN" sz="2400" b="1" spc="-113" dirty="0">
                <a:ln w="12700">
                  <a:noFill/>
                </a:ln>
                <a:solidFill>
                  <a:srgbClr val="0070C0"/>
                </a:solidFill>
                <a:latin typeface="楷体" panose="02010609060101010101" charset="-122"/>
                <a:ea typeface="楷体" panose="02010609060101010101" charset="-122"/>
                <a:cs typeface="楷体" panose="02010609060101010101" charset="-122"/>
              </a:rPr>
              <a:t>——</a:t>
            </a: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论文</a:t>
            </a: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调研</a:t>
            </a:r>
            <a:endPar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endParaRPr>
          </a:p>
        </p:txBody>
      </p:sp>
      <p:cxnSp>
        <p:nvCxnSpPr>
          <p:cNvPr id="19" name="直接连接符 18"/>
          <p:cNvCxnSpPr/>
          <p:nvPr>
            <p:custDataLst>
              <p:tags r:id="rId2"/>
            </p:custDataLst>
          </p:nvPr>
        </p:nvCxnSpPr>
        <p:spPr>
          <a:xfrm>
            <a:off x="179805" y="694107"/>
            <a:ext cx="6840000"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custDataLst>
              <p:tags r:id="rId3"/>
            </p:custDataLst>
          </p:nvPr>
        </p:nvSpPr>
        <p:spPr>
          <a:xfrm>
            <a:off x="125730" y="771525"/>
            <a:ext cx="8666480" cy="3772535"/>
          </a:xfrm>
          <a:prstGeom prst="rect">
            <a:avLst/>
          </a:prstGeom>
          <a:noFill/>
        </p:spPr>
        <p:txBody>
          <a:bodyPr wrap="square" rtlCol="0" anchor="t">
            <a:noAutofit/>
          </a:bodyPr>
          <a:p>
            <a:pPr algn="l"/>
            <a:r>
              <a:rPr lang="zh-CN" altLang="en-US" sz="1600">
                <a:latin typeface="楷体" panose="02010609060101010101" charset="-122"/>
                <a:ea typeface="楷体" panose="02010609060101010101" charset="-122"/>
              </a:rPr>
              <a:t>（</a:t>
            </a:r>
            <a:r>
              <a:rPr lang="zh-CN" altLang="en-US" sz="1600">
                <a:latin typeface="楷体" panose="02010609060101010101" charset="-122"/>
                <a:ea typeface="楷体" panose="02010609060101010101" charset="-122"/>
              </a:rPr>
              <a:t>一）车臂协同控制</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将单机械臂分解为</a:t>
            </a:r>
            <a:r>
              <a:rPr lang="en-US" altLang="zh-CN" sz="1600">
                <a:latin typeface="楷体" panose="02010609060101010101" charset="-122"/>
                <a:ea typeface="楷体" panose="02010609060101010101" charset="-122"/>
              </a:rPr>
              <a:t>“</a:t>
            </a:r>
            <a:r>
              <a:rPr lang="zh-CN" altLang="en-US" sz="1600">
                <a:latin typeface="楷体" panose="02010609060101010101" charset="-122"/>
                <a:ea typeface="楷体" panose="02010609060101010101" charset="-122"/>
              </a:rPr>
              <a:t>车体</a:t>
            </a:r>
            <a:r>
              <a:rPr lang="en-US" altLang="zh-CN" sz="1600">
                <a:latin typeface="楷体" panose="02010609060101010101" charset="-122"/>
                <a:ea typeface="楷体" panose="02010609060101010101" charset="-122"/>
              </a:rPr>
              <a:t>+</a:t>
            </a:r>
            <a:r>
              <a:rPr lang="zh-CN" altLang="en-US" sz="1600">
                <a:latin typeface="楷体" panose="02010609060101010101" charset="-122"/>
                <a:ea typeface="楷体" panose="02010609060101010101" charset="-122"/>
              </a:rPr>
              <a:t>臂</a:t>
            </a:r>
            <a:r>
              <a:rPr lang="en-US" altLang="zh-CN" sz="1600">
                <a:latin typeface="楷体" panose="02010609060101010101" charset="-122"/>
                <a:ea typeface="楷体" panose="02010609060101010101" charset="-122"/>
              </a:rPr>
              <a:t>”</a:t>
            </a:r>
            <a:r>
              <a:rPr lang="zh-CN" altLang="en-US" sz="1600">
                <a:latin typeface="楷体" panose="02010609060101010101" charset="-122"/>
                <a:ea typeface="楷体" panose="02010609060101010101" charset="-122"/>
              </a:rPr>
              <a:t>双智能体，创新采用</a:t>
            </a:r>
            <a:r>
              <a:rPr lang="en-US" altLang="zh-CN" sz="1600">
                <a:latin typeface="楷体" panose="02010609060101010101" charset="-122"/>
                <a:ea typeface="楷体" panose="02010609060101010101" charset="-122"/>
              </a:rPr>
              <a:t>1</a:t>
            </a:r>
            <a:r>
              <a:rPr lang="zh-CN" altLang="en-US" sz="1600">
                <a:latin typeface="楷体" panose="02010609060101010101" charset="-122"/>
                <a:ea typeface="楷体" panose="02010609060101010101" charset="-122"/>
              </a:rPr>
              <a:t>全局</a:t>
            </a:r>
            <a:r>
              <a:rPr lang="en-US" altLang="zh-CN" sz="1600">
                <a:latin typeface="楷体" panose="02010609060101010101" charset="-122"/>
                <a:ea typeface="楷体" panose="02010609060101010101" charset="-122"/>
              </a:rPr>
              <a:t>+2</a:t>
            </a:r>
            <a:r>
              <a:rPr lang="zh-CN" altLang="en-US" sz="1600">
                <a:latin typeface="楷体" panose="02010609060101010101" charset="-122"/>
                <a:ea typeface="楷体" panose="02010609060101010101" charset="-122"/>
              </a:rPr>
              <a:t>局部</a:t>
            </a:r>
            <a:r>
              <a:rPr lang="en-US" altLang="zh-CN" sz="1600">
                <a:latin typeface="楷体" panose="02010609060101010101" charset="-122"/>
                <a:ea typeface="楷体" panose="02010609060101010101" charset="-122"/>
              </a:rPr>
              <a:t>Critic</a:t>
            </a:r>
            <a:r>
              <a:rPr lang="zh-CN" altLang="en-US" sz="1600">
                <a:latin typeface="楷体" panose="02010609060101010101" charset="-122"/>
                <a:ea typeface="楷体" panose="02010609060101010101" charset="-122"/>
              </a:rPr>
              <a:t>架构。</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启发：单体系统可</a:t>
            </a:r>
            <a:r>
              <a:rPr lang="zh-CN" altLang="en-US" sz="1600">
                <a:solidFill>
                  <a:srgbClr val="FF0000"/>
                </a:solidFill>
                <a:latin typeface="楷体" panose="02010609060101010101" charset="-122"/>
                <a:ea typeface="楷体" panose="02010609060101010101" charset="-122"/>
              </a:rPr>
              <a:t>按功能解构</a:t>
            </a:r>
            <a:r>
              <a:rPr lang="zh-CN" altLang="en-US" sz="1600">
                <a:latin typeface="楷体" panose="02010609060101010101" charset="-122"/>
                <a:ea typeface="楷体" panose="02010609060101010101" charset="-122"/>
              </a:rPr>
              <a:t>为多智能体，通过协同突破单机性能上限。</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a:t>
            </a:r>
            <a:r>
              <a:rPr lang="zh-CN" altLang="en-US" sz="1600">
                <a:latin typeface="楷体" panose="02010609060101010101" charset="-122"/>
                <a:ea typeface="楷体" panose="02010609060101010101" charset="-122"/>
              </a:rPr>
              <a:t>二）仓储动态路径优化</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利用图注意力网络</a:t>
            </a:r>
            <a:r>
              <a:rPr lang="en-US" altLang="zh-CN" sz="1600">
                <a:latin typeface="楷体" panose="02010609060101010101" charset="-122"/>
                <a:ea typeface="楷体" panose="02010609060101010101" charset="-122"/>
              </a:rPr>
              <a:t>(GAT)</a:t>
            </a:r>
            <a:r>
              <a:rPr lang="zh-CN" altLang="en-US" sz="1600">
                <a:latin typeface="楷体" panose="02010609060101010101" charset="-122"/>
                <a:ea typeface="楷体" panose="02010609060101010101" charset="-122"/>
              </a:rPr>
              <a:t>动态构建通信拓扑，结合</a:t>
            </a:r>
            <a:r>
              <a:rPr lang="en-US" altLang="zh-CN" sz="1600">
                <a:latin typeface="楷体" panose="02010609060101010101" charset="-122"/>
                <a:ea typeface="楷体" panose="02010609060101010101" charset="-122"/>
              </a:rPr>
              <a:t>D3QN</a:t>
            </a:r>
            <a:r>
              <a:rPr lang="zh-CN" altLang="en-US" sz="1600">
                <a:latin typeface="楷体" panose="02010609060101010101" charset="-122"/>
                <a:ea typeface="楷体" panose="02010609060101010101" charset="-122"/>
              </a:rPr>
              <a:t>实现高效路径决策。</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启发：</a:t>
            </a:r>
            <a:r>
              <a:rPr lang="en-US" altLang="zh-CN" sz="1600">
                <a:solidFill>
                  <a:srgbClr val="FF0000"/>
                </a:solidFill>
                <a:latin typeface="楷体" panose="02010609060101010101" charset="-122"/>
                <a:ea typeface="楷体" panose="02010609060101010101" charset="-122"/>
              </a:rPr>
              <a:t>GAT</a:t>
            </a:r>
            <a:r>
              <a:rPr lang="zh-CN" altLang="en-US" sz="1600">
                <a:latin typeface="楷体" panose="02010609060101010101" charset="-122"/>
                <a:ea typeface="楷体" panose="02010609060101010101" charset="-122"/>
              </a:rPr>
              <a:t>可自适应</a:t>
            </a:r>
            <a:r>
              <a:rPr lang="zh-CN" altLang="en-US" sz="1600">
                <a:solidFill>
                  <a:srgbClr val="FF0000"/>
                </a:solidFill>
                <a:latin typeface="楷体" panose="02010609060101010101" charset="-122"/>
                <a:ea typeface="楷体" panose="02010609060101010101" charset="-122"/>
              </a:rPr>
              <a:t>建模智能体间动态关系</a:t>
            </a:r>
            <a:r>
              <a:rPr lang="zh-CN" altLang="en-US" sz="1600">
                <a:latin typeface="楷体" panose="02010609060101010101" charset="-122"/>
                <a:ea typeface="楷体" panose="02010609060101010101" charset="-122"/>
              </a:rPr>
              <a:t>，解决动态环境下的通信与协作难题。</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a:t>
            </a:r>
            <a:r>
              <a:rPr lang="zh-CN" altLang="en-US" sz="1600">
                <a:latin typeface="楷体" panose="02010609060101010101" charset="-122"/>
                <a:ea typeface="楷体" panose="02010609060101010101" charset="-122"/>
              </a:rPr>
              <a:t>三）卫星通算资源分配</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中轨卫星集中训练，低轨卫星分布式执行，多智能体</a:t>
            </a:r>
            <a:r>
              <a:rPr lang="en-US" altLang="zh-CN" sz="1600">
                <a:latin typeface="楷体" panose="02010609060101010101" charset="-122"/>
                <a:ea typeface="楷体" panose="02010609060101010101" charset="-122"/>
              </a:rPr>
              <a:t>TD3</a:t>
            </a:r>
            <a:r>
              <a:rPr lang="zh-CN" altLang="en-US" sz="1600">
                <a:latin typeface="楷体" panose="02010609060101010101" charset="-122"/>
                <a:ea typeface="楷体" panose="02010609060101010101" charset="-122"/>
              </a:rPr>
              <a:t>处理连续动作空间。</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启发：</a:t>
            </a:r>
            <a:r>
              <a:rPr lang="zh-CN" altLang="en-US" sz="1600">
                <a:solidFill>
                  <a:srgbClr val="FF0000"/>
                </a:solidFill>
                <a:latin typeface="楷体" panose="02010609060101010101" charset="-122"/>
                <a:ea typeface="楷体" panose="02010609060101010101" charset="-122"/>
              </a:rPr>
              <a:t>控制面与数据面解耦</a:t>
            </a:r>
            <a:r>
              <a:rPr lang="zh-CN" altLang="en-US" sz="1600">
                <a:latin typeface="楷体" panose="02010609060101010101" charset="-122"/>
                <a:ea typeface="楷体" panose="02010609060101010101" charset="-122"/>
              </a:rPr>
              <a:t>，分层架构有效解决</a:t>
            </a:r>
            <a:r>
              <a:rPr lang="zh-CN" altLang="en-US" sz="1600">
                <a:solidFill>
                  <a:srgbClr val="FF0000"/>
                </a:solidFill>
                <a:latin typeface="楷体" panose="02010609060101010101" charset="-122"/>
                <a:ea typeface="楷体" panose="02010609060101010101" charset="-122"/>
              </a:rPr>
              <a:t>大规模异构系统的可扩展性问题</a:t>
            </a:r>
            <a:r>
              <a:rPr lang="zh-CN" altLang="en-US" sz="1600">
                <a:latin typeface="楷体" panose="02010609060101010101" charset="-122"/>
                <a:ea typeface="楷体" panose="02010609060101010101" charset="-122"/>
              </a:rPr>
              <a:t>。</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a:t>
            </a:r>
            <a:r>
              <a:rPr lang="zh-CN" altLang="en-US" sz="1600">
                <a:latin typeface="楷体" panose="02010609060101010101" charset="-122"/>
                <a:ea typeface="楷体" panose="02010609060101010101" charset="-122"/>
              </a:rPr>
              <a:t>四）钢铁多能耦合调度</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设计异构团队：</a:t>
            </a:r>
            <a:r>
              <a:rPr lang="en-US" altLang="zh-CN" sz="1600">
                <a:latin typeface="楷体" panose="02010609060101010101" charset="-122"/>
                <a:ea typeface="楷体" panose="02010609060101010101" charset="-122"/>
              </a:rPr>
              <a:t>DDPG</a:t>
            </a:r>
            <a:r>
              <a:rPr lang="zh-CN" altLang="en-US" sz="1600">
                <a:latin typeface="楷体" panose="02010609060101010101" charset="-122"/>
                <a:ea typeface="楷体" panose="02010609060101010101" charset="-122"/>
              </a:rPr>
              <a:t>处理连续生产控制，</a:t>
            </a:r>
            <a:r>
              <a:rPr lang="en-US" altLang="zh-CN" sz="1600">
                <a:latin typeface="楷体" panose="02010609060101010101" charset="-122"/>
                <a:ea typeface="楷体" panose="02010609060101010101" charset="-122"/>
              </a:rPr>
              <a:t>DQN</a:t>
            </a:r>
            <a:r>
              <a:rPr lang="zh-CN" altLang="en-US" sz="1600">
                <a:latin typeface="楷体" panose="02010609060101010101" charset="-122"/>
                <a:ea typeface="楷体" panose="02010609060101010101" charset="-122"/>
              </a:rPr>
              <a:t>负责离散工序决策。</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启发：异构智能体分工协作，让</a:t>
            </a:r>
            <a:r>
              <a:rPr lang="zh-CN" altLang="en-US" sz="1600">
                <a:solidFill>
                  <a:srgbClr val="FF0000"/>
                </a:solidFill>
                <a:latin typeface="楷体" panose="02010609060101010101" charset="-122"/>
                <a:ea typeface="楷体" panose="02010609060101010101" charset="-122"/>
              </a:rPr>
              <a:t>专业模型处理专业问题</a:t>
            </a:r>
            <a:r>
              <a:rPr lang="zh-CN" altLang="en-US" sz="1600">
                <a:latin typeface="楷体" panose="02010609060101010101" charset="-122"/>
                <a:ea typeface="楷体" panose="02010609060101010101" charset="-122"/>
              </a:rPr>
              <a:t>，大幅提升复杂工业场景的调度精度。</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a:t>
            </a:r>
            <a:r>
              <a:rPr lang="zh-CN" altLang="en-US" sz="1600">
                <a:latin typeface="楷体" panose="02010609060101010101" charset="-122"/>
                <a:ea typeface="楷体" panose="02010609060101010101" charset="-122"/>
              </a:rPr>
              <a:t>五）轨道车辆组装调度</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上层分配资源、下层动态排产，利用分层异构图注意力网络捕捉工艺差异。</a:t>
            </a:r>
            <a:endParaRPr lang="zh-CN" altLang="en-US" sz="1600">
              <a:latin typeface="楷体" panose="02010609060101010101" charset="-122"/>
              <a:ea typeface="楷体" panose="02010609060101010101" charset="-122"/>
            </a:endParaRPr>
          </a:p>
          <a:p>
            <a:pPr algn="l"/>
            <a:r>
              <a:rPr lang="zh-CN" altLang="en-US" sz="1600">
                <a:latin typeface="楷体" panose="02010609060101010101" charset="-122"/>
                <a:ea typeface="楷体" panose="02010609060101010101" charset="-122"/>
              </a:rPr>
              <a:t>启发：异构图建模能精准</a:t>
            </a:r>
            <a:r>
              <a:rPr lang="zh-CN" altLang="en-US" sz="1600">
                <a:solidFill>
                  <a:srgbClr val="FF0000"/>
                </a:solidFill>
                <a:latin typeface="楷体" panose="02010609060101010101" charset="-122"/>
                <a:ea typeface="楷体" panose="02010609060101010101" charset="-122"/>
              </a:rPr>
              <a:t>刻画生产要素的异构性</a:t>
            </a:r>
            <a:r>
              <a:rPr lang="zh-CN" altLang="en-US" sz="1600">
                <a:latin typeface="楷体" panose="02010609060101010101" charset="-122"/>
                <a:ea typeface="楷体" panose="02010609060101010101" charset="-122"/>
              </a:rPr>
              <a:t>，辅助智能体做出更具全局视野的决策。</a:t>
            </a:r>
            <a:endParaRPr lang="zh-CN" altLang="en-US" sz="1600">
              <a:latin typeface="楷体" panose="02010609060101010101" charset="-122"/>
              <a:ea typeface="楷体" panose="02010609060101010101" charset="-122"/>
            </a:endParaRPr>
          </a:p>
        </p:txBody>
      </p:sp>
      <p:sp>
        <p:nvSpPr>
          <p:cNvPr id="2" name="文本框 1"/>
          <p:cNvSpPr txBox="1"/>
          <p:nvPr/>
        </p:nvSpPr>
        <p:spPr>
          <a:xfrm>
            <a:off x="179070" y="4544060"/>
            <a:ext cx="8567420" cy="398780"/>
          </a:xfrm>
          <a:prstGeom prst="rect">
            <a:avLst/>
          </a:prstGeom>
          <a:noFill/>
        </p:spPr>
        <p:txBody>
          <a:bodyPr wrap="square" rtlCol="0" anchor="t">
            <a:spAutoFit/>
          </a:bodyPr>
          <a:p>
            <a:pPr algn="ctr"/>
            <a:r>
              <a:rPr lang="en-US" altLang="zh-CN" sz="2000">
                <a:solidFill>
                  <a:srgbClr val="FF0000"/>
                </a:solidFill>
                <a:latin typeface="楷体" panose="02010609060101010101" charset="-122"/>
                <a:ea typeface="楷体" panose="02010609060101010101" charset="-122"/>
              </a:rPr>
              <a:t>CTDE</a:t>
            </a:r>
            <a:r>
              <a:rPr lang="en-US" altLang="zh-CN" sz="2000">
                <a:latin typeface="楷体" panose="02010609060101010101" charset="-122"/>
                <a:ea typeface="楷体" panose="02010609060101010101" charset="-122"/>
              </a:rPr>
              <a:t> </a:t>
            </a:r>
            <a:r>
              <a:rPr lang="zh-CN" altLang="en-US" sz="2000">
                <a:latin typeface="楷体" panose="02010609060101010101" charset="-122"/>
                <a:ea typeface="楷体" panose="02010609060101010101" charset="-122"/>
              </a:rPr>
              <a:t>框架与</a:t>
            </a:r>
            <a:r>
              <a:rPr lang="en-US" altLang="zh-CN" sz="2000">
                <a:latin typeface="楷体" panose="02010609060101010101" charset="-122"/>
                <a:ea typeface="楷体" panose="02010609060101010101" charset="-122"/>
              </a:rPr>
              <a:t> </a:t>
            </a:r>
            <a:r>
              <a:rPr lang="en-US" altLang="zh-CN" sz="2000">
                <a:solidFill>
                  <a:srgbClr val="FF0000"/>
                </a:solidFill>
                <a:latin typeface="楷体" panose="02010609060101010101" charset="-122"/>
                <a:ea typeface="楷体" panose="02010609060101010101" charset="-122"/>
              </a:rPr>
              <a:t>GNN</a:t>
            </a:r>
            <a:r>
              <a:rPr lang="en-US" altLang="zh-CN" sz="2000">
                <a:latin typeface="楷体" panose="02010609060101010101" charset="-122"/>
                <a:ea typeface="楷体" panose="02010609060101010101" charset="-122"/>
              </a:rPr>
              <a:t> </a:t>
            </a:r>
            <a:r>
              <a:rPr lang="zh-CN" altLang="en-US" sz="2000">
                <a:latin typeface="楷体" panose="02010609060101010101" charset="-122"/>
                <a:ea typeface="楷体" panose="02010609060101010101" charset="-122"/>
              </a:rPr>
              <a:t>成为解决复杂工业调度的主流技术范式</a:t>
            </a:r>
            <a:endParaRPr lang="zh-CN" altLang="en-US" sz="2000">
              <a:latin typeface="楷体" panose="02010609060101010101" charset="-122"/>
              <a:ea typeface="楷体" panose="02010609060101010101"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custDataLst>
              <p:tags r:id="rId1"/>
            </p:custDataLst>
          </p:nvPr>
        </p:nvSpPr>
        <p:spPr>
          <a:xfrm rot="5400000">
            <a:off x="4749800" y="1104900"/>
            <a:ext cx="609600" cy="4089400"/>
          </a:xfrm>
          <a:prstGeom prst="roundRect">
            <a:avLst>
              <a:gd name="adj" fmla="val 0"/>
            </a:avLst>
          </a:prstGeom>
          <a:gradFill rotWithShape="0">
            <a:gsLst>
              <a:gs pos="0">
                <a:srgbClr val="FFFFFF">
                  <a:alpha val="0"/>
                </a:srgbClr>
              </a:gs>
              <a:gs pos="100000">
                <a:srgbClr val="0070C0">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035300" y="1625600"/>
            <a:ext cx="5867400" cy="736600"/>
          </a:xfrm>
          <a:prstGeom prst="roundRect">
            <a:avLst>
              <a:gd name="adj" fmla="val 0"/>
            </a:avLst>
          </a:prstGeom>
          <a:solidFill>
            <a:srgbClr val="FFFFFF">
              <a:alpha val="100000"/>
            </a:srgbClr>
          </a:solidFill>
          <a:ln w="25400" cap="flat" cmpd="sng">
            <a:solidFill>
              <a:srgbClr val="0070C0">
                <a:alpha val="100000"/>
              </a:srgbClr>
            </a:solidFill>
            <a:prstDash val="solid"/>
            <a:miter lim="10000000"/>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l="35090" r="34102"/>
          <a:stretch>
            <a:fillRect/>
          </a:stretch>
        </p:blipFill>
        <p:spPr>
          <a:xfrm>
            <a:off x="0" y="0"/>
            <a:ext cx="2374900" cy="5143500"/>
          </a:xfrm>
          <a:prstGeom prst="rect">
            <a:avLst/>
          </a:prstGeom>
          <a:noFill/>
          <a:ln w="25400" cap="flat" cmpd="sng">
            <a:noFill/>
            <a:prstDash val="solid"/>
            <a:round/>
          </a:ln>
        </p:spPr>
      </p:pic>
      <p:sp>
        <p:nvSpPr>
          <p:cNvPr id="5" name="AutoShape 5"/>
          <p:cNvSpPr/>
          <p:nvPr/>
        </p:nvSpPr>
        <p:spPr>
          <a:xfrm>
            <a:off x="647700" y="1028700"/>
            <a:ext cx="2032000" cy="3073400"/>
          </a:xfrm>
          <a:prstGeom prst="roundRect">
            <a:avLst>
              <a:gd name="adj" fmla="val 0"/>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rot="2700000">
            <a:off x="1765300" y="2070100"/>
            <a:ext cx="952500" cy="952500"/>
          </a:xfrm>
          <a:prstGeom prst="roundRect">
            <a:avLst>
              <a:gd name="adj" fmla="val 0"/>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876300" y="3009900"/>
            <a:ext cx="1739900" cy="342900"/>
          </a:xfrm>
          <a:prstGeom prst="rect">
            <a:avLst/>
          </a:prstGeom>
          <a:noFill/>
          <a:ln w="9525" cap="flat" cmpd="sng">
            <a:noFill/>
            <a:prstDash val="solid"/>
            <a:round/>
          </a:ln>
        </p:spPr>
        <p:txBody>
          <a:bodyPr vert="horz" wrap="square" lIns="88900" tIns="50800" rIns="88900" bIns="50800" rtlCol="0" anchor="t" anchorCtr="0"/>
          <a:lstStyle/>
          <a:p>
            <a:pPr marL="0" indent="0" algn="l">
              <a:lnSpc>
                <a:spcPct val="100000"/>
              </a:lnSpc>
              <a:defRPr/>
            </a:pPr>
            <a:r>
              <a:rPr lang="en-US" sz="2300" b="0" i="0" u="none" strike="noStrike">
                <a:solidFill>
                  <a:srgbClr val="FFFFFF"/>
                </a:solidFill>
                <a:effectLst>
                  <a:outerShdw blurRad="38100" dist="38100" dir="2700000" algn="tl" rotWithShape="0">
                    <a:srgbClr val="000000">
                      <a:alpha val="43000"/>
                    </a:srgbClr>
                  </a:outerShdw>
                </a:effectLst>
                <a:latin typeface="方正粗宋简体"/>
                <a:ea typeface="方正粗宋简体"/>
                <a:cs typeface="方正粗宋简体"/>
                <a:sym typeface="方正粗宋简体"/>
              </a:rPr>
              <a:t>Content</a:t>
            </a:r>
            <a:endParaRPr lang="en-US" sz="1100"/>
          </a:p>
        </p:txBody>
      </p:sp>
      <p:sp>
        <p:nvSpPr>
          <p:cNvPr id="8" name="AutoShape 8"/>
          <p:cNvSpPr/>
          <p:nvPr/>
        </p:nvSpPr>
        <p:spPr>
          <a:xfrm>
            <a:off x="800100" y="2311400"/>
            <a:ext cx="1701800" cy="406400"/>
          </a:xfrm>
          <a:prstGeom prst="rect">
            <a:avLst/>
          </a:prstGeom>
          <a:noFill/>
          <a:ln w="9525" cap="flat" cmpd="sng">
            <a:noFill/>
            <a:prstDash val="solid"/>
            <a:round/>
          </a:ln>
        </p:spPr>
        <p:txBody>
          <a:bodyPr vert="horz" wrap="square" lIns="88900" tIns="50800" rIns="88900" bIns="50800" rtlCol="0" anchor="t" anchorCtr="0"/>
          <a:lstStyle/>
          <a:p>
            <a:pPr marL="0" indent="0" algn="l">
              <a:lnSpc>
                <a:spcPct val="100000"/>
              </a:lnSpc>
              <a:defRPr/>
            </a:pPr>
            <a:r>
              <a:rPr lang="en-US" sz="4000" b="0" i="0" u="none" strike="noStrike" spc="500">
                <a:solidFill>
                  <a:srgbClr val="FFFFFF"/>
                </a:solidFill>
                <a:effectLst>
                  <a:outerShdw blurRad="38100" dist="38100" dir="2700000" algn="tl" rotWithShape="0">
                    <a:srgbClr val="000000">
                      <a:alpha val="43000"/>
                    </a:srgbClr>
                  </a:outerShdw>
                </a:effectLst>
                <a:latin typeface="方正粗宋简体"/>
                <a:ea typeface="方正粗宋简体"/>
                <a:cs typeface="方正粗宋简体"/>
                <a:sym typeface="方正粗宋简体"/>
              </a:rPr>
              <a:t>目录</a:t>
            </a:r>
            <a:endParaRPr lang="en-US" sz="1100"/>
          </a:p>
        </p:txBody>
      </p:sp>
      <p:pic>
        <p:nvPicPr>
          <p:cNvPr id="9" name="Picture 9"/>
          <p:cNvPicPr>
            <a:picLocks noChangeAspect="1"/>
          </p:cNvPicPr>
          <p:nvPr/>
        </p:nvPicPr>
        <p:blipFill>
          <a:blip r:embed="rId3"/>
          <a:srcRect/>
          <a:stretch>
            <a:fillRect/>
          </a:stretch>
        </p:blipFill>
        <p:spPr>
          <a:xfrm>
            <a:off x="939800" y="2171700"/>
            <a:ext cx="1612900" cy="38100"/>
          </a:xfrm>
          <a:prstGeom prst="rect">
            <a:avLst/>
          </a:prstGeom>
          <a:noFill/>
          <a:ln w="25400" cap="flat" cmpd="sng">
            <a:noFill/>
            <a:prstDash val="solid"/>
            <a:round/>
          </a:ln>
        </p:spPr>
      </p:pic>
      <p:pic>
        <p:nvPicPr>
          <p:cNvPr id="10" name="Picture 10"/>
          <p:cNvPicPr>
            <a:picLocks noChangeAspect="1"/>
          </p:cNvPicPr>
          <p:nvPr/>
        </p:nvPicPr>
        <p:blipFill>
          <a:blip r:embed="rId4"/>
          <a:srcRect t="25862" b="24137"/>
          <a:stretch>
            <a:fillRect/>
          </a:stretch>
        </p:blipFill>
        <p:spPr>
          <a:xfrm>
            <a:off x="914400" y="1612900"/>
            <a:ext cx="1181100" cy="368300"/>
          </a:xfrm>
          <a:prstGeom prst="rect">
            <a:avLst/>
          </a:prstGeom>
          <a:noFill/>
          <a:ln w="25400" cap="flat" cmpd="sng">
            <a:noFill/>
            <a:prstDash val="solid"/>
            <a:round/>
          </a:ln>
        </p:spPr>
      </p:pic>
      <p:sp>
        <p:nvSpPr>
          <p:cNvPr id="11" name="AutoShape 11"/>
          <p:cNvSpPr/>
          <p:nvPr/>
        </p:nvSpPr>
        <p:spPr>
          <a:xfrm rot="10800000" flipV="1">
            <a:off x="3022600" y="1625600"/>
            <a:ext cx="698500" cy="736600"/>
          </a:xfrm>
          <a:prstGeom prst="leftArrow">
            <a:avLst>
              <a:gd name="adj1" fmla="val 100000"/>
              <a:gd name="adj2" fmla="val 28055"/>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2844800" y="1765300"/>
            <a:ext cx="990600" cy="508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00000"/>
              </a:lnSpc>
              <a:defRPr/>
            </a:pPr>
            <a:r>
              <a:rPr lang="en-US" sz="2700" b="0" i="0" u="none" strike="noStrike">
                <a:solidFill>
                  <a:srgbClr val="FFFFFF"/>
                </a:solidFill>
                <a:effectLst>
                  <a:outerShdw blurRad="38100" dist="38100" dir="2700000" algn="tl" rotWithShape="0">
                    <a:srgbClr val="000000">
                      <a:alpha val="43000"/>
                    </a:srgbClr>
                  </a:outerShdw>
                </a:effectLst>
                <a:latin typeface="方正粗黑宋简体"/>
                <a:ea typeface="方正粗黑宋简体"/>
                <a:cs typeface="方正粗黑宋简体"/>
                <a:sym typeface="方正粗黑宋简体"/>
              </a:rPr>
              <a:t>二</a:t>
            </a:r>
            <a:endParaRPr lang="en-US" sz="1100"/>
          </a:p>
        </p:txBody>
      </p:sp>
      <p:sp>
        <p:nvSpPr>
          <p:cNvPr id="13" name="AutoShape 13"/>
          <p:cNvSpPr/>
          <p:nvPr/>
        </p:nvSpPr>
        <p:spPr>
          <a:xfrm>
            <a:off x="3187700" y="1765300"/>
            <a:ext cx="6426200" cy="457200"/>
          </a:xfrm>
          <a:prstGeom prst="roundRect">
            <a:avLst>
              <a:gd name="adj" fmla="val 0"/>
            </a:avLst>
          </a:prstGeom>
          <a:noFill/>
          <a:ln w="25400" cap="flat" cmpd="sng">
            <a:noFill/>
            <a:prstDash val="solid"/>
            <a:round/>
          </a:ln>
        </p:spPr>
        <p:txBody>
          <a:bodyPr vert="horz" wrap="square" lIns="88900" tIns="50800" rIns="88900" bIns="50800" rtlCol="0" anchor="t" anchorCtr="0"/>
          <a:lstStyle/>
          <a:p>
            <a:pPr lvl="0" algn="ctr">
              <a:defRPr/>
            </a:pPr>
            <a:r>
              <a:rPr lang="zh-CN" altLang="en-US" sz="2400" spc="-300" dirty="0">
                <a:solidFill>
                  <a:srgbClr val="0070C0"/>
                </a:solidFill>
                <a:latin typeface="方正粗黑宋简体" panose="02000000000000000000" pitchFamily="2" charset="-122"/>
                <a:ea typeface="方正粗黑宋简体" panose="02000000000000000000" pitchFamily="2" charset="-122"/>
                <a:sym typeface="+mn-ea"/>
              </a:rPr>
              <a:t>中期实验</a:t>
            </a:r>
            <a:r>
              <a:rPr lang="en-US" altLang="zh-CN" sz="2400" spc="-300" dirty="0">
                <a:solidFill>
                  <a:srgbClr val="0070C0"/>
                </a:solidFill>
                <a:latin typeface="方正粗黑宋简体" panose="02000000000000000000" pitchFamily="2" charset="-122"/>
                <a:ea typeface="方正粗黑宋简体" panose="02000000000000000000" pitchFamily="2" charset="-122"/>
                <a:sym typeface="+mn-ea"/>
              </a:rPr>
              <a:t>——</a:t>
            </a:r>
            <a:r>
              <a:rPr lang="zh-CN" altLang="en-US" sz="2400" spc="-300" dirty="0">
                <a:solidFill>
                  <a:srgbClr val="0070C0"/>
                </a:solidFill>
                <a:latin typeface="方正粗黑宋简体" panose="02000000000000000000" pitchFamily="2" charset="-122"/>
                <a:ea typeface="方正粗黑宋简体" panose="02000000000000000000" pitchFamily="2" charset="-122"/>
                <a:sym typeface="+mn-ea"/>
              </a:rPr>
              <a:t>论文复现</a:t>
            </a:r>
            <a:endParaRPr lang="en-US" sz="1100"/>
          </a:p>
        </p:txBody>
      </p:sp>
      <p:sp>
        <p:nvSpPr>
          <p:cNvPr id="14" name="AutoShape 14"/>
          <p:cNvSpPr/>
          <p:nvPr>
            <p:custDataLst>
              <p:tags r:id="rId5"/>
            </p:custDataLst>
          </p:nvPr>
        </p:nvSpPr>
        <p:spPr>
          <a:xfrm>
            <a:off x="3035300" y="2768600"/>
            <a:ext cx="914400" cy="571500"/>
          </a:xfrm>
          <a:prstGeom prst="curvedRightArrow">
            <a:avLst>
              <a:gd name="adj1" fmla="val 25000"/>
              <a:gd name="adj2" fmla="val 50000"/>
              <a:gd name="adj3" fmla="val 25000"/>
            </a:avLst>
          </a:prstGeom>
          <a:solidFill>
            <a:srgbClr val="FFFFFF">
              <a:alpha val="100000"/>
            </a:srgbClr>
          </a:solidFill>
          <a:ln w="12700" cap="flat" cmpd="sng">
            <a:solidFill>
              <a:srgbClr val="0070C0">
                <a:alpha val="100000"/>
              </a:srgbClr>
            </a:solidFill>
            <a:prstDash val="solid"/>
            <a:miter lim="10000000"/>
          </a:ln>
        </p:spPr>
        <p:txBody>
          <a:bodyPr vert="horz" wrap="square" lIns="63500" tIns="63500" rIns="63500" bIns="63500" rtlCol="0" anchor="ctr"/>
          <a:lstStyle/>
          <a:p>
            <a:pPr algn="ctr">
              <a:defRPr/>
            </a:pPr>
          </a:p>
        </p:txBody>
      </p:sp>
      <p:sp>
        <p:nvSpPr>
          <p:cNvPr id="15" name="AutoShape 15"/>
          <p:cNvSpPr/>
          <p:nvPr>
            <p:custDataLst>
              <p:tags r:id="rId6"/>
            </p:custDataLst>
          </p:nvPr>
        </p:nvSpPr>
        <p:spPr>
          <a:xfrm>
            <a:off x="2806700" y="2540000"/>
            <a:ext cx="1460500" cy="647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00000"/>
              </a:lnSpc>
              <a:defRPr/>
            </a:pPr>
            <a:r>
              <a:rPr lang="en-US" sz="3600" b="1" i="0" u="none" strike="noStrike">
                <a:ln w="12700">
                  <a:solidFill>
                    <a:srgbClr val="FFFFFF">
                      <a:alpha val="100000"/>
                    </a:srgbClr>
                  </a:solidFill>
                </a:ln>
                <a:solidFill>
                  <a:srgbClr val="C00000"/>
                </a:solidFill>
                <a:effectLst>
                  <a:outerShdw blurRad="38100" dist="38100" dir="2700000" algn="tl" rotWithShape="0">
                    <a:srgbClr val="000000">
                      <a:alpha val="43000"/>
                    </a:srgbClr>
                  </a:outerShdw>
                </a:effectLst>
                <a:latin typeface="禹卫书法行书简体"/>
                <a:ea typeface="禹卫书法行书简体"/>
                <a:cs typeface="禹卫书法行书简体"/>
                <a:sym typeface="禹卫书法行书简体"/>
              </a:rPr>
              <a:t>挑战</a:t>
            </a:r>
            <a:endParaRPr lang="en-US" sz="1100"/>
          </a:p>
        </p:txBody>
      </p:sp>
      <p:sp>
        <p:nvSpPr>
          <p:cNvPr id="16" name="AutoShape 16"/>
          <p:cNvSpPr/>
          <p:nvPr>
            <p:custDataLst>
              <p:tags r:id="rId7"/>
            </p:custDataLst>
          </p:nvPr>
        </p:nvSpPr>
        <p:spPr>
          <a:xfrm>
            <a:off x="3898900" y="2921000"/>
            <a:ext cx="2222500" cy="508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2400" b="1" i="0" u="none" strike="noStrike">
                <a:ln w="12700">
                  <a:solidFill>
                    <a:srgbClr val="FFFFFF">
                      <a:alpha val="100000"/>
                    </a:srgbClr>
                  </a:solidFill>
                </a:ln>
                <a:solidFill>
                  <a:srgbClr val="0070C0"/>
                </a:solidFill>
                <a:effectLst>
                  <a:outerShdw blurRad="38100" dist="38100" dir="2700000" algn="tl" rotWithShape="0">
                    <a:srgbClr val="000000">
                      <a:alpha val="43000"/>
                    </a:srgbClr>
                  </a:outerShdw>
                </a:effectLst>
                <a:latin typeface="方正粗黑宋简体"/>
                <a:ea typeface="方正粗黑宋简体"/>
                <a:cs typeface="方正粗黑宋简体"/>
                <a:sym typeface="方正粗黑宋简体"/>
              </a:rPr>
              <a:t>工程落地壁垒</a:t>
            </a:r>
            <a:endParaRPr lang="en-US" sz="2400"/>
          </a:p>
        </p:txBody>
      </p:sp>
      <p:sp>
        <p:nvSpPr>
          <p:cNvPr id="22" name="AutoShape 14"/>
          <p:cNvSpPr/>
          <p:nvPr>
            <p:custDataLst>
              <p:tags r:id="rId8"/>
            </p:custDataLst>
          </p:nvPr>
        </p:nvSpPr>
        <p:spPr>
          <a:xfrm rot="5400000">
            <a:off x="7899400" y="952500"/>
            <a:ext cx="609600" cy="4394200"/>
          </a:xfrm>
          <a:prstGeom prst="roundRect">
            <a:avLst>
              <a:gd name="adj" fmla="val 0"/>
            </a:avLst>
          </a:prstGeom>
          <a:gradFill rotWithShape="0">
            <a:gsLst>
              <a:gs pos="0">
                <a:srgbClr val="FFFFFF">
                  <a:alpha val="0"/>
                </a:srgbClr>
              </a:gs>
              <a:gs pos="100000">
                <a:srgbClr val="0070C0">
                  <a:alpha val="100000"/>
                </a:srgbClr>
              </a:gs>
            </a:gsLst>
            <a:lin ang="5400000"/>
          </a:gradFill>
          <a:ln w="25400" cap="flat" cmpd="sng">
            <a:noFill/>
            <a:prstDash val="solid"/>
            <a:round/>
          </a:ln>
        </p:spPr>
        <p:txBody>
          <a:bodyPr vert="horz" wrap="square" lIns="63500" tIns="63500" rIns="63500" bIns="63500" rtlCol="0" anchor="ctr"/>
          <a:p>
            <a:pPr algn="ctr">
              <a:defRPr/>
            </a:pPr>
          </a:p>
        </p:txBody>
      </p:sp>
      <p:sp>
        <p:nvSpPr>
          <p:cNvPr id="23" name="AutoShape 15"/>
          <p:cNvSpPr/>
          <p:nvPr>
            <p:custDataLst>
              <p:tags r:id="rId9"/>
            </p:custDataLst>
          </p:nvPr>
        </p:nvSpPr>
        <p:spPr>
          <a:xfrm>
            <a:off x="6896100" y="2921000"/>
            <a:ext cx="3187700" cy="5080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l">
              <a:lnSpc>
                <a:spcPct val="100000"/>
              </a:lnSpc>
              <a:defRPr/>
            </a:pPr>
            <a:r>
              <a:rPr lang="zh-CN" altLang="en-US" sz="24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rPr>
              <a:t>深层运行原理</a:t>
            </a:r>
            <a:endParaRPr lang="zh-CN" altLang="en-US" sz="24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endParaRPr>
          </a:p>
        </p:txBody>
      </p:sp>
      <p:sp>
        <p:nvSpPr>
          <p:cNvPr id="24" name="AutoShape 16"/>
          <p:cNvSpPr/>
          <p:nvPr>
            <p:custDataLst>
              <p:tags r:id="rId10"/>
            </p:custDataLst>
          </p:nvPr>
        </p:nvSpPr>
        <p:spPr>
          <a:xfrm>
            <a:off x="6032500" y="2781300"/>
            <a:ext cx="914400" cy="571500"/>
          </a:xfrm>
          <a:prstGeom prst="curvedRightArrow">
            <a:avLst>
              <a:gd name="adj1" fmla="val 25000"/>
              <a:gd name="adj2" fmla="val 50000"/>
              <a:gd name="adj3" fmla="val 25000"/>
            </a:avLst>
          </a:prstGeom>
          <a:solidFill>
            <a:srgbClr val="FFFFFF">
              <a:alpha val="100000"/>
            </a:srgbClr>
          </a:solidFill>
          <a:ln w="12700" cap="flat" cmpd="sng">
            <a:solidFill>
              <a:srgbClr val="0070C0">
                <a:alpha val="100000"/>
              </a:srgbClr>
            </a:solidFill>
            <a:prstDash val="solid"/>
            <a:miter lim="10000000"/>
          </a:ln>
        </p:spPr>
        <p:txBody>
          <a:bodyPr vert="horz" wrap="square" lIns="63500" tIns="63500" rIns="63500" bIns="63500" rtlCol="0" anchor="ctr"/>
          <a:p>
            <a:pPr algn="ctr">
              <a:defRPr/>
            </a:pPr>
          </a:p>
        </p:txBody>
      </p:sp>
      <p:sp>
        <p:nvSpPr>
          <p:cNvPr id="25" name="AutoShape 17"/>
          <p:cNvSpPr/>
          <p:nvPr>
            <p:custDataLst>
              <p:tags r:id="rId11"/>
            </p:custDataLst>
          </p:nvPr>
        </p:nvSpPr>
        <p:spPr>
          <a:xfrm>
            <a:off x="5816600" y="2527300"/>
            <a:ext cx="1460500" cy="6477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ctr">
              <a:lnSpc>
                <a:spcPct val="100000"/>
              </a:lnSpc>
              <a:defRPr/>
            </a:pPr>
            <a:r>
              <a:rPr lang="en-US" sz="3600" b="1" i="0" u="none" strike="noStrike">
                <a:ln w="12700">
                  <a:solidFill>
                    <a:srgbClr val="FFFFFF">
                      <a:alpha val="100000"/>
                    </a:srgbClr>
                  </a:solidFill>
                </a:ln>
                <a:solidFill>
                  <a:srgbClr val="C00000"/>
                </a:solidFill>
                <a:effectLst>
                  <a:outerShdw blurRad="38100" dist="38100" dir="2700000" algn="tl" rotWithShape="0">
                    <a:srgbClr val="000000">
                      <a:alpha val="43100"/>
                    </a:srgbClr>
                  </a:outerShdw>
                </a:effectLst>
                <a:latin typeface="禹卫书法行书简体"/>
                <a:ea typeface="禹卫书法行书简体"/>
                <a:cs typeface="禹卫书法行书简体"/>
                <a:sym typeface="禹卫书法行书简体"/>
              </a:rPr>
              <a:t>剖析</a:t>
            </a:r>
            <a:endParaRPr lang="en-US" sz="110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3036734" y="1623794"/>
            <a:ext cx="5869668" cy="737877"/>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35132" r="34068"/>
          <a:stretch>
            <a:fillRect/>
          </a:stretch>
        </p:blipFill>
        <p:spPr>
          <a:xfrm>
            <a:off x="0" y="0"/>
            <a:ext cx="2376264" cy="5143500"/>
          </a:xfrm>
          <a:prstGeom prst="rect">
            <a:avLst/>
          </a:prstGeom>
        </p:spPr>
      </p:pic>
      <p:grpSp>
        <p:nvGrpSpPr>
          <p:cNvPr id="3" name="组合 2"/>
          <p:cNvGrpSpPr/>
          <p:nvPr/>
        </p:nvGrpSpPr>
        <p:grpSpPr>
          <a:xfrm>
            <a:off x="645697" y="1023932"/>
            <a:ext cx="2071314" cy="3069126"/>
            <a:chOff x="1475656" y="1023932"/>
            <a:chExt cx="2071314" cy="3069126"/>
          </a:xfrm>
        </p:grpSpPr>
        <p:sp>
          <p:nvSpPr>
            <p:cNvPr id="2" name="矩形 1"/>
            <p:cNvSpPr/>
            <p:nvPr/>
          </p:nvSpPr>
          <p:spPr>
            <a:xfrm>
              <a:off x="1475656" y="1023932"/>
              <a:ext cx="2034790" cy="30691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2700000">
              <a:off x="2592171" y="2073019"/>
              <a:ext cx="956916" cy="95268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3" name="Object 303"/>
          <p:cNvSpPr txBox="1"/>
          <p:nvPr/>
        </p:nvSpPr>
        <p:spPr>
          <a:xfrm>
            <a:off x="878506" y="3012281"/>
            <a:ext cx="1743075" cy="342900"/>
          </a:xfrm>
          <a:prstGeom prst="rect">
            <a:avLst/>
          </a:prstGeom>
        </p:spPr>
        <p:txBody>
          <a:bodyPr vert="horz" rtlCol="0" anchor="t" anchorCtr="0">
            <a:noAutofit/>
          </a:bodyPr>
          <a:lstStyle/>
          <a:p>
            <a:pPr algn="l">
              <a:lnSpc>
                <a:spcPct val="100000"/>
              </a:lnSpc>
            </a:pPr>
            <a:r>
              <a:rPr lang="en-US" altLang="zh-CN" sz="2250" dirty="0">
                <a:solidFill>
                  <a:srgbClr val="FFFFFF"/>
                </a:solidFill>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rPr>
              <a:t>Content</a:t>
            </a:r>
            <a:endParaRPr lang="zh-CN" altLang="en-US" sz="675" dirty="0">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endParaRPr>
          </a:p>
        </p:txBody>
      </p:sp>
      <p:sp>
        <p:nvSpPr>
          <p:cNvPr id="304" name="Object 304"/>
          <p:cNvSpPr txBox="1"/>
          <p:nvPr/>
        </p:nvSpPr>
        <p:spPr>
          <a:xfrm>
            <a:off x="799322" y="2313719"/>
            <a:ext cx="1695450" cy="409575"/>
          </a:xfrm>
          <a:prstGeom prst="rect">
            <a:avLst/>
          </a:prstGeom>
        </p:spPr>
        <p:txBody>
          <a:bodyPr vert="horz" rtlCol="0" anchor="t" anchorCtr="0">
            <a:noAutofit/>
          </a:bodyPr>
          <a:lstStyle/>
          <a:p>
            <a:pPr algn="l">
              <a:lnSpc>
                <a:spcPct val="100000"/>
              </a:lnSpc>
            </a:pPr>
            <a:r>
              <a:rPr lang="zh-CN" altLang="en-US" sz="4000" spc="540" dirty="0">
                <a:solidFill>
                  <a:srgbClr val="FFFFFF"/>
                </a:solidFill>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rPr>
              <a:t>目录</a:t>
            </a:r>
            <a:endParaRPr lang="zh-CN" altLang="en-US" sz="1050" dirty="0">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endParaRPr>
          </a:p>
        </p:txBody>
      </p:sp>
      <p:pic>
        <p:nvPicPr>
          <p:cNvPr id="305" name="image 305"/>
          <p:cNvPicPr>
            <a:picLocks noChangeAspect="1"/>
          </p:cNvPicPr>
          <p:nvPr/>
        </p:nvPicPr>
        <p:blipFill>
          <a:blip r:embed="rId2"/>
          <a:srcRect/>
          <a:stretch>
            <a:fillRect/>
          </a:stretch>
        </p:blipFill>
        <p:spPr>
          <a:xfrm>
            <a:off x="942799" y="2170065"/>
            <a:ext cx="1614488" cy="38100"/>
          </a:xfrm>
          <a:prstGeom prst="rect">
            <a:avLst/>
          </a:prstGeom>
        </p:spPr>
      </p:pic>
      <p:pic>
        <p:nvPicPr>
          <p:cNvPr id="22" name="图片 21"/>
          <p:cNvPicPr>
            <a:picLocks noChangeAspect="1"/>
          </p:cNvPicPr>
          <p:nvPr/>
        </p:nvPicPr>
        <p:blipFill rotWithShape="1">
          <a:blip r:embed="rId3" cstate="screen"/>
          <a:srcRect t="26606" b="23577"/>
          <a:stretch>
            <a:fillRect/>
          </a:stretch>
        </p:blipFill>
        <p:spPr>
          <a:xfrm>
            <a:off x="914225" y="1608604"/>
            <a:ext cx="1180554" cy="366774"/>
          </a:xfrm>
          <a:prstGeom prst="rect">
            <a:avLst/>
          </a:prstGeom>
          <a:effectLst/>
        </p:spPr>
      </p:pic>
      <p:sp>
        <p:nvSpPr>
          <p:cNvPr id="29" name="左箭头 28"/>
          <p:cNvSpPr/>
          <p:nvPr/>
        </p:nvSpPr>
        <p:spPr>
          <a:xfrm flipH="1">
            <a:off x="3024206" y="1623794"/>
            <a:ext cx="702183" cy="737877"/>
          </a:xfrm>
          <a:prstGeom prst="leftArrow">
            <a:avLst>
              <a:gd name="adj1" fmla="val 100000"/>
              <a:gd name="adj2" fmla="val 2805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endParaRPr lang="zh-CN" altLang="en-US" sz="2000" dirty="0">
              <a:latin typeface="+mj-ea"/>
              <a:ea typeface="+mj-ea"/>
            </a:endParaRPr>
          </a:p>
        </p:txBody>
      </p:sp>
      <p:sp>
        <p:nvSpPr>
          <p:cNvPr id="32" name="矩形 31"/>
          <p:cNvSpPr/>
          <p:nvPr/>
        </p:nvSpPr>
        <p:spPr>
          <a:xfrm>
            <a:off x="2843808" y="1767387"/>
            <a:ext cx="984376" cy="506730"/>
          </a:xfrm>
          <a:prstGeom prst="rect">
            <a:avLst/>
          </a:prstGeom>
        </p:spPr>
        <p:txBody>
          <a:bodyPr wrap="square">
            <a:spAutoFit/>
          </a:bodyPr>
          <a:lstStyle/>
          <a:p>
            <a:pPr lvl="0" algn="ctr">
              <a:defRPr/>
            </a:pPr>
            <a:r>
              <a:rPr lang="zh-CN" altLang="en-US" sz="2700" spc="-1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rPr>
              <a:t>一</a:t>
            </a:r>
            <a:endParaRPr lang="zh-CN" altLang="en-US" sz="2700" spc="-1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endParaRPr>
          </a:p>
        </p:txBody>
      </p:sp>
      <p:sp>
        <p:nvSpPr>
          <p:cNvPr id="23" name="矩形 22"/>
          <p:cNvSpPr/>
          <p:nvPr/>
        </p:nvSpPr>
        <p:spPr>
          <a:xfrm>
            <a:off x="3021961" y="1767387"/>
            <a:ext cx="6420323" cy="460375"/>
          </a:xfrm>
          <a:prstGeom prst="rect">
            <a:avLst/>
          </a:prstGeom>
        </p:spPr>
        <p:txBody>
          <a:bodyPr wrap="square">
            <a:spAutoFit/>
          </a:bodyPr>
          <a:lstStyle/>
          <a:p>
            <a:pPr lvl="0" algn="ctr">
              <a:defRPr/>
            </a:pPr>
            <a:r>
              <a:rPr lang="en-US" altLang="zh-CN" sz="2400" b="1" spc="-300" dirty="0">
                <a:solidFill>
                  <a:srgbClr val="0070C0"/>
                </a:solidFill>
                <a:latin typeface="+mj-ea"/>
                <a:ea typeface="+mj-ea"/>
              </a:rPr>
              <a:t>RMTC</a:t>
            </a:r>
            <a:r>
              <a:rPr lang="zh-CN" altLang="en-US" sz="2400" spc="-300" dirty="0">
                <a:solidFill>
                  <a:srgbClr val="0070C0"/>
                </a:solidFill>
                <a:latin typeface="+mj-ea"/>
                <a:ea typeface="+mj-ea"/>
              </a:rPr>
              <a:t>复现工作汇报</a:t>
            </a:r>
            <a:endParaRPr lang="zh-CN" altLang="en-US" sz="2400" spc="-300" dirty="0">
              <a:solidFill>
                <a:srgbClr val="0070C0"/>
              </a:solidFill>
              <a:latin typeface="+mj-ea"/>
              <a:ea typeface="+mj-ea"/>
            </a:endParaRPr>
          </a:p>
        </p:txBody>
      </p:sp>
      <p:sp>
        <p:nvSpPr>
          <p:cNvPr id="14" name="文本框 13"/>
          <p:cNvSpPr txBox="1"/>
          <p:nvPr/>
        </p:nvSpPr>
        <p:spPr>
          <a:xfrm>
            <a:off x="6300733" y="3772694"/>
            <a:ext cx="2593551" cy="460375"/>
          </a:xfrm>
          <a:prstGeom prst="rect">
            <a:avLst/>
          </a:prstGeom>
          <a:noFill/>
        </p:spPr>
        <p:txBody>
          <a:bodyPr wrap="square" rtlCol="0">
            <a:spAutoFit/>
          </a:bodyPr>
          <a:lstStyle/>
          <a:p>
            <a:pPr algn="ctr"/>
            <a:r>
              <a:rPr lang="zh-CN" altLang="en-US" sz="2400" dirty="0">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汇报人：</a:t>
            </a:r>
            <a:r>
              <a:rPr lang="zh-CN" altLang="en-US" sz="2400" dirty="0">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徐昊天</a:t>
            </a:r>
            <a:endParaRPr lang="zh-CN" altLang="en-US" sz="2400" dirty="0">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endParaRPr>
          </a:p>
        </p:txBody>
      </p:sp>
      <p:sp>
        <p:nvSpPr>
          <p:cNvPr id="4" name="AutoShape 2"/>
          <p:cNvSpPr/>
          <p:nvPr>
            <p:custDataLst>
              <p:tags r:id="rId4"/>
            </p:custDataLst>
          </p:nvPr>
        </p:nvSpPr>
        <p:spPr>
          <a:xfrm rot="5400000">
            <a:off x="4749800" y="1104900"/>
            <a:ext cx="609600" cy="4089400"/>
          </a:xfrm>
          <a:prstGeom prst="roundRect">
            <a:avLst>
              <a:gd name="adj" fmla="val 0"/>
            </a:avLst>
          </a:prstGeom>
          <a:gradFill rotWithShape="0">
            <a:gsLst>
              <a:gs pos="0">
                <a:srgbClr val="FFFFFF">
                  <a:alpha val="0"/>
                </a:srgbClr>
              </a:gs>
              <a:gs pos="100000">
                <a:srgbClr val="0070C0">
                  <a:alpha val="100000"/>
                </a:srgbClr>
              </a:gs>
            </a:gsLst>
            <a:lin ang="5400000"/>
          </a:gradFill>
          <a:ln w="25400" cap="flat" cmpd="sng">
            <a:noFill/>
            <a:prstDash val="solid"/>
            <a:round/>
          </a:ln>
        </p:spPr>
        <p:txBody>
          <a:bodyPr vert="horz" wrap="square" lIns="63500" tIns="63500" rIns="63500" bIns="63500" rtlCol="0" anchor="ctr"/>
          <a:p>
            <a:pPr algn="ctr">
              <a:defRPr/>
            </a:pPr>
          </a:p>
        </p:txBody>
      </p:sp>
      <p:sp>
        <p:nvSpPr>
          <p:cNvPr id="5" name="AutoShape 14"/>
          <p:cNvSpPr/>
          <p:nvPr>
            <p:custDataLst>
              <p:tags r:id="rId5"/>
            </p:custDataLst>
          </p:nvPr>
        </p:nvSpPr>
        <p:spPr>
          <a:xfrm>
            <a:off x="3035300" y="2768600"/>
            <a:ext cx="914400" cy="571500"/>
          </a:xfrm>
          <a:prstGeom prst="curvedRightArrow">
            <a:avLst>
              <a:gd name="adj1" fmla="val 25000"/>
              <a:gd name="adj2" fmla="val 50000"/>
              <a:gd name="adj3" fmla="val 25000"/>
            </a:avLst>
          </a:prstGeom>
          <a:solidFill>
            <a:srgbClr val="FFFFFF">
              <a:alpha val="100000"/>
            </a:srgbClr>
          </a:solidFill>
          <a:ln w="12700" cap="flat" cmpd="sng">
            <a:solidFill>
              <a:srgbClr val="0070C0">
                <a:alpha val="100000"/>
              </a:srgbClr>
            </a:solidFill>
            <a:prstDash val="solid"/>
            <a:miter lim="10000000"/>
          </a:ln>
        </p:spPr>
        <p:txBody>
          <a:bodyPr vert="horz" wrap="square" lIns="63500" tIns="63500" rIns="63500" bIns="63500" rtlCol="0" anchor="ctr"/>
          <a:p>
            <a:pPr algn="ctr">
              <a:defRPr/>
            </a:pPr>
          </a:p>
        </p:txBody>
      </p:sp>
      <p:sp>
        <p:nvSpPr>
          <p:cNvPr id="15" name="AutoShape 15"/>
          <p:cNvSpPr/>
          <p:nvPr>
            <p:custDataLst>
              <p:tags r:id="rId6"/>
            </p:custDataLst>
          </p:nvPr>
        </p:nvSpPr>
        <p:spPr>
          <a:xfrm>
            <a:off x="2806700" y="2540000"/>
            <a:ext cx="1460500" cy="6477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ctr">
              <a:lnSpc>
                <a:spcPct val="100000"/>
              </a:lnSpc>
              <a:defRPr/>
            </a:pPr>
            <a:r>
              <a:rPr lang="en-US" sz="3600" b="1" i="0" u="none" strike="noStrike">
                <a:ln w="12700">
                  <a:solidFill>
                    <a:srgbClr val="FFFFFF">
                      <a:alpha val="100000"/>
                    </a:srgbClr>
                  </a:solidFill>
                </a:ln>
                <a:solidFill>
                  <a:srgbClr val="C00000"/>
                </a:solidFill>
                <a:effectLst>
                  <a:outerShdw blurRad="38100" dist="38100" dir="2700000" algn="tl" rotWithShape="0">
                    <a:srgbClr val="000000">
                      <a:alpha val="43000"/>
                    </a:srgbClr>
                  </a:outerShdw>
                </a:effectLst>
                <a:latin typeface="禹卫书法行书简体"/>
                <a:ea typeface="禹卫书法行书简体"/>
                <a:cs typeface="禹卫书法行书简体"/>
                <a:sym typeface="禹卫书法行书简体"/>
              </a:rPr>
              <a:t>挑战</a:t>
            </a:r>
            <a:endParaRPr lang="en-US" sz="1100"/>
          </a:p>
        </p:txBody>
      </p:sp>
      <p:sp>
        <p:nvSpPr>
          <p:cNvPr id="16" name="AutoShape 16"/>
          <p:cNvSpPr/>
          <p:nvPr>
            <p:custDataLst>
              <p:tags r:id="rId7"/>
            </p:custDataLst>
          </p:nvPr>
        </p:nvSpPr>
        <p:spPr>
          <a:xfrm>
            <a:off x="3898900" y="2921000"/>
            <a:ext cx="2222500" cy="5080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l">
              <a:lnSpc>
                <a:spcPct val="100000"/>
              </a:lnSpc>
              <a:defRPr/>
            </a:pPr>
            <a:r>
              <a:rPr lang="en-US" sz="2400" b="1" i="0" u="none" strike="noStrike">
                <a:ln w="12700">
                  <a:solidFill>
                    <a:srgbClr val="FFFFFF">
                      <a:alpha val="100000"/>
                    </a:srgbClr>
                  </a:solidFill>
                </a:ln>
                <a:solidFill>
                  <a:srgbClr val="0070C0"/>
                </a:solidFill>
                <a:effectLst>
                  <a:outerShdw blurRad="38100" dist="38100" dir="2700000" algn="tl" rotWithShape="0">
                    <a:srgbClr val="000000">
                      <a:alpha val="43000"/>
                    </a:srgbClr>
                  </a:outerShdw>
                </a:effectLst>
                <a:latin typeface="方正粗黑宋简体"/>
                <a:ea typeface="方正粗黑宋简体"/>
                <a:cs typeface="方正粗黑宋简体"/>
                <a:sym typeface="方正粗黑宋简体"/>
              </a:rPr>
              <a:t>工程落地壁垒</a:t>
            </a:r>
            <a:endParaRPr lang="en-US" sz="2400"/>
          </a:p>
        </p:txBody>
      </p:sp>
      <p:sp>
        <p:nvSpPr>
          <p:cNvPr id="7" name="AutoShape 14"/>
          <p:cNvSpPr/>
          <p:nvPr>
            <p:custDataLst>
              <p:tags r:id="rId8"/>
            </p:custDataLst>
          </p:nvPr>
        </p:nvSpPr>
        <p:spPr>
          <a:xfrm rot="5400000">
            <a:off x="7899400" y="952500"/>
            <a:ext cx="609600" cy="4394200"/>
          </a:xfrm>
          <a:prstGeom prst="roundRect">
            <a:avLst>
              <a:gd name="adj" fmla="val 0"/>
            </a:avLst>
          </a:prstGeom>
          <a:gradFill rotWithShape="0">
            <a:gsLst>
              <a:gs pos="0">
                <a:srgbClr val="FFFFFF">
                  <a:alpha val="0"/>
                </a:srgbClr>
              </a:gs>
              <a:gs pos="100000">
                <a:srgbClr val="0070C0">
                  <a:alpha val="100000"/>
                </a:srgbClr>
              </a:gs>
            </a:gsLst>
            <a:lin ang="5400000"/>
          </a:gradFill>
          <a:ln w="25400" cap="flat" cmpd="sng">
            <a:noFill/>
            <a:prstDash val="solid"/>
            <a:round/>
          </a:ln>
        </p:spPr>
        <p:txBody>
          <a:bodyPr vert="horz" wrap="square" lIns="63500" tIns="63500" rIns="63500" bIns="63500" rtlCol="0" anchor="ctr"/>
          <a:p>
            <a:pPr algn="ctr">
              <a:defRPr/>
            </a:pPr>
          </a:p>
        </p:txBody>
      </p:sp>
      <p:sp>
        <p:nvSpPr>
          <p:cNvPr id="8" name="AutoShape 15"/>
          <p:cNvSpPr/>
          <p:nvPr>
            <p:custDataLst>
              <p:tags r:id="rId9"/>
            </p:custDataLst>
          </p:nvPr>
        </p:nvSpPr>
        <p:spPr>
          <a:xfrm>
            <a:off x="6896100" y="2921000"/>
            <a:ext cx="3187700" cy="5080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l">
              <a:lnSpc>
                <a:spcPct val="100000"/>
              </a:lnSpc>
              <a:defRPr/>
            </a:pPr>
            <a:r>
              <a:rPr lang="zh-CN" altLang="en-US" sz="24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rPr>
              <a:t>深层运行原理</a:t>
            </a:r>
            <a:endParaRPr lang="zh-CN" altLang="en-US" sz="24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endParaRPr>
          </a:p>
        </p:txBody>
      </p:sp>
      <p:sp>
        <p:nvSpPr>
          <p:cNvPr id="24" name="AutoShape 16"/>
          <p:cNvSpPr/>
          <p:nvPr>
            <p:custDataLst>
              <p:tags r:id="rId10"/>
            </p:custDataLst>
          </p:nvPr>
        </p:nvSpPr>
        <p:spPr>
          <a:xfrm>
            <a:off x="6032500" y="2781300"/>
            <a:ext cx="914400" cy="571500"/>
          </a:xfrm>
          <a:prstGeom prst="curvedRightArrow">
            <a:avLst>
              <a:gd name="adj1" fmla="val 25000"/>
              <a:gd name="adj2" fmla="val 50000"/>
              <a:gd name="adj3" fmla="val 25000"/>
            </a:avLst>
          </a:prstGeom>
          <a:solidFill>
            <a:srgbClr val="FFFFFF">
              <a:alpha val="100000"/>
            </a:srgbClr>
          </a:solidFill>
          <a:ln w="12700" cap="flat" cmpd="sng">
            <a:solidFill>
              <a:srgbClr val="0070C0">
                <a:alpha val="100000"/>
              </a:srgbClr>
            </a:solidFill>
            <a:prstDash val="solid"/>
            <a:miter lim="10000000"/>
          </a:ln>
        </p:spPr>
        <p:txBody>
          <a:bodyPr vert="horz" wrap="square" lIns="63500" tIns="63500" rIns="63500" bIns="63500" rtlCol="0" anchor="ctr"/>
          <a:p>
            <a:pPr algn="ctr">
              <a:defRPr/>
            </a:pPr>
          </a:p>
        </p:txBody>
      </p:sp>
      <p:sp>
        <p:nvSpPr>
          <p:cNvPr id="25" name="AutoShape 17"/>
          <p:cNvSpPr/>
          <p:nvPr>
            <p:custDataLst>
              <p:tags r:id="rId11"/>
            </p:custDataLst>
          </p:nvPr>
        </p:nvSpPr>
        <p:spPr>
          <a:xfrm>
            <a:off x="5816600" y="2527300"/>
            <a:ext cx="1460500" cy="6477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ctr">
              <a:lnSpc>
                <a:spcPct val="100000"/>
              </a:lnSpc>
              <a:defRPr/>
            </a:pPr>
            <a:r>
              <a:rPr lang="en-US" sz="3600" b="1" i="0" u="none" strike="noStrike">
                <a:ln w="12700">
                  <a:solidFill>
                    <a:srgbClr val="FFFFFF">
                      <a:alpha val="100000"/>
                    </a:srgbClr>
                  </a:solidFill>
                </a:ln>
                <a:solidFill>
                  <a:srgbClr val="C00000"/>
                </a:solidFill>
                <a:effectLst>
                  <a:outerShdw blurRad="38100" dist="38100" dir="2700000" algn="tl" rotWithShape="0">
                    <a:srgbClr val="000000">
                      <a:alpha val="43100"/>
                    </a:srgbClr>
                  </a:outerShdw>
                </a:effectLst>
                <a:latin typeface="禹卫书法行书简体"/>
                <a:ea typeface="禹卫书法行书简体"/>
                <a:cs typeface="禹卫书法行书简体"/>
                <a:sym typeface="禹卫书法行书简体"/>
              </a:rPr>
              <a:t>剖析</a:t>
            </a:r>
            <a:endParaRPr lang="en-US" sz="110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9144000" cy="5143500"/>
          </a:xfrm>
          <a:prstGeom prst="roundRect">
            <a:avLst>
              <a:gd name="adj" fmla="val 0"/>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 y="101600"/>
            <a:ext cx="8953500" cy="4940300"/>
          </a:xfrm>
          <a:prstGeom prst="roundRect">
            <a:avLst>
              <a:gd name="adj" fmla="val 0"/>
            </a:avLst>
          </a:prstGeom>
          <a:solidFill>
            <a:srgbClr val="FFFFFF">
              <a:alpha val="100000"/>
            </a:srgbClr>
          </a:solidFill>
          <a:ln w="25400" cap="flat" cmpd="sng">
            <a:noFill/>
            <a:prstDash val="solid"/>
            <a:round/>
          </a:ln>
          <a:effectLst>
            <a:outerShdw blurRad="50800" dist="38100" dir="2700000" algn="tl" rotWithShape="0">
              <a:srgbClr val="000000">
                <a:alpha val="4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t="27868" b="22950"/>
          <a:stretch>
            <a:fillRect/>
          </a:stretch>
        </p:blipFill>
        <p:spPr>
          <a:xfrm>
            <a:off x="7683500" y="279400"/>
            <a:ext cx="1231900" cy="381000"/>
          </a:xfrm>
          <a:prstGeom prst="rect">
            <a:avLst/>
          </a:prstGeom>
          <a:noFill/>
          <a:ln w="25400" cap="flat" cmpd="sng">
            <a:noFill/>
            <a:prstDash val="solid"/>
            <a:round/>
          </a:ln>
        </p:spPr>
      </p:pic>
      <p:sp>
        <p:nvSpPr>
          <p:cNvPr id="5" name="AutoShape 5"/>
          <p:cNvSpPr/>
          <p:nvPr/>
        </p:nvSpPr>
        <p:spPr>
          <a:xfrm>
            <a:off x="177800" y="228600"/>
            <a:ext cx="6921500" cy="4572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2400" b="1" i="0" u="none" strike="noStrike">
                <a:solidFill>
                  <a:srgbClr val="0070C0"/>
                </a:solidFill>
                <a:latin typeface="楷体" panose="02010609060101010101" charset="-122"/>
                <a:ea typeface="楷体" panose="02010609060101010101" charset="-122"/>
                <a:cs typeface="方正粗黑宋简体"/>
                <a:sym typeface="方正粗黑宋简体"/>
              </a:rPr>
              <a:t>一、研究</a:t>
            </a:r>
            <a:r>
              <a:rPr lang="zh-CN" altLang="en-US" sz="2400" b="1" i="0" u="none" strike="noStrike">
                <a:solidFill>
                  <a:srgbClr val="0070C0"/>
                </a:solidFill>
                <a:latin typeface="楷体" panose="02010609060101010101" charset="-122"/>
                <a:ea typeface="楷体" panose="02010609060101010101" charset="-122"/>
                <a:cs typeface="方正粗黑宋简体"/>
                <a:sym typeface="方正粗黑宋简体"/>
              </a:rPr>
              <a:t>背景</a:t>
            </a:r>
            <a:endParaRPr lang="zh-CN" altLang="en-US" sz="2400" b="1" i="0" u="none" strike="noStrike">
              <a:solidFill>
                <a:srgbClr val="0070C0"/>
              </a:solidFill>
              <a:latin typeface="楷体" panose="02010609060101010101" charset="-122"/>
              <a:ea typeface="楷体" panose="02010609060101010101" charset="-122"/>
              <a:cs typeface="方正粗黑宋简体"/>
              <a:sym typeface="方正粗黑宋简体"/>
            </a:endParaRPr>
          </a:p>
        </p:txBody>
      </p:sp>
      <p:cxnSp>
        <p:nvCxnSpPr>
          <p:cNvPr id="6" name="Connector 6"/>
          <p:cNvCxnSpPr/>
          <p:nvPr/>
        </p:nvCxnSpPr>
        <p:spPr>
          <a:xfrm>
            <a:off x="177800" y="698500"/>
            <a:ext cx="6845312" cy="12700"/>
          </a:xfrm>
          <a:prstGeom prst="line">
            <a:avLst/>
          </a:prstGeom>
          <a:solidFill>
            <a:srgbClr val="DEE0E3">
              <a:alpha val="100000"/>
            </a:srgbClr>
          </a:solidFill>
          <a:ln w="12700" cap="flat" cmpd="sng">
            <a:solidFill>
              <a:srgbClr val="0070C0">
                <a:alpha val="100000"/>
              </a:srgbClr>
            </a:solidFill>
            <a:prstDash val="solid"/>
            <a:miter lim="10000000"/>
            <a:headEnd type="none" w="med" len="med"/>
            <a:tailEnd type="none" w="med" len="med"/>
          </a:ln>
        </p:spPr>
      </p:cxnSp>
      <p:sp>
        <p:nvSpPr>
          <p:cNvPr id="8" name="AutoShape 8"/>
          <p:cNvSpPr/>
          <p:nvPr>
            <p:custDataLst>
              <p:tags r:id="rId2"/>
            </p:custDataLst>
          </p:nvPr>
        </p:nvSpPr>
        <p:spPr>
          <a:xfrm>
            <a:off x="467995" y="861060"/>
            <a:ext cx="2730500" cy="3810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zh-CN" altLang="en-US" sz="2000">
                <a:latin typeface="楷体" panose="02010609060101010101" charset="-122"/>
                <a:ea typeface="楷体" panose="02010609060101010101" charset="-122"/>
              </a:rPr>
              <a:t>研究背景与</a:t>
            </a:r>
            <a:r>
              <a:rPr lang="zh-CN" altLang="en-US" sz="2000">
                <a:latin typeface="楷体" panose="02010609060101010101" charset="-122"/>
                <a:ea typeface="楷体" panose="02010609060101010101" charset="-122"/>
              </a:rPr>
              <a:t>问题</a:t>
            </a:r>
            <a:endParaRPr lang="zh-CN" altLang="en-US" sz="2000">
              <a:latin typeface="楷体" panose="02010609060101010101" charset="-122"/>
              <a:ea typeface="楷体" panose="02010609060101010101" charset="-122"/>
            </a:endParaRPr>
          </a:p>
        </p:txBody>
      </p:sp>
      <p:sp>
        <p:nvSpPr>
          <p:cNvPr id="10" name="AutoShape 10"/>
          <p:cNvSpPr/>
          <p:nvPr>
            <p:custDataLst>
              <p:tags r:id="rId3"/>
            </p:custDataLst>
          </p:nvPr>
        </p:nvSpPr>
        <p:spPr>
          <a:xfrm>
            <a:off x="467995" y="1263015"/>
            <a:ext cx="7649210" cy="1354455"/>
          </a:xfrm>
          <a:prstGeom prst="rect">
            <a:avLst/>
          </a:prstGeom>
          <a:noFill/>
          <a:ln w="9525" cap="flat" cmpd="sng">
            <a:noFill/>
            <a:prstDash val="solid"/>
            <a:round/>
          </a:ln>
        </p:spPr>
        <p:txBody>
          <a:bodyPr vert="horz" wrap="square" lIns="0" tIns="0" rIns="0" bIns="0" rtlCol="0" anchor="ctr" anchorCtr="0"/>
          <a:lstStyle/>
          <a:p>
            <a:pPr marL="0" indent="0" algn="l">
              <a:lnSpc>
                <a:spcPct val="108000"/>
              </a:lnSpc>
              <a:defRPr/>
            </a:pPr>
            <a:r>
              <a:rPr lang="zh-CN" altLang="en-US" sz="1600">
                <a:solidFill>
                  <a:srgbClr val="595959"/>
                </a:solidFill>
                <a:latin typeface="楷体" panose="02010609060101010101" charset="-122"/>
                <a:ea typeface="楷体" panose="02010609060101010101" charset="-122"/>
                <a:cs typeface="Noto Sans SC" panose="020B0200000000000000" charset="-122"/>
                <a:sym typeface="Noto Sans SC" panose="020B0200000000000000" charset="-122"/>
              </a:rPr>
              <a:t>紧急车辆（如救护车、消防车）快速到达现场至关重要，但现有交通控制方法主要关注交通信号灯控制，忽略了紧急车辆、普通车辆和信号灯之间的协同。</a:t>
            </a:r>
            <a:endParaRPr lang="zh-CN" altLang="en-US" sz="1600" b="0" i="0" u="none" strike="noStrike">
              <a:solidFill>
                <a:srgbClr val="595959"/>
              </a:solidFill>
              <a:latin typeface="楷体" panose="02010609060101010101" charset="-122"/>
              <a:ea typeface="楷体" panose="02010609060101010101" charset="-122"/>
              <a:cs typeface="Noto Sans SC" panose="020B0200000000000000" charset="-122"/>
              <a:sym typeface="Noto Sans SC" panose="020B0200000000000000" charset="-122"/>
            </a:endParaRPr>
          </a:p>
          <a:p>
            <a:pPr marL="0" indent="0" algn="l">
              <a:lnSpc>
                <a:spcPct val="108000"/>
              </a:lnSpc>
              <a:defRPr/>
            </a:pPr>
            <a:r>
              <a:rPr lang="zh-CN" altLang="en-US" sz="1600" b="0" i="0" u="none" strike="noStrike">
                <a:solidFill>
                  <a:srgbClr val="595959"/>
                </a:solidFill>
                <a:latin typeface="楷体" panose="02010609060101010101" charset="-122"/>
                <a:ea typeface="楷体" panose="02010609060101010101" charset="-122"/>
                <a:cs typeface="Noto Sans SC" panose="020B0200000000000000" charset="-122"/>
                <a:sym typeface="Noto Sans SC" panose="020B0200000000000000" charset="-122"/>
              </a:rPr>
              <a:t>传统方法（规则式或强化学习式）仅优化信号灯，未联合规划车辆导航，导致紧急车辆和普通车辆均可能延误。</a:t>
            </a:r>
            <a:endParaRPr lang="en-US" sz="1600">
              <a:latin typeface="楷体" panose="02010609060101010101" charset="-122"/>
              <a:ea typeface="楷体" panose="02010609060101010101" charset="-122"/>
            </a:endParaRPr>
          </a:p>
        </p:txBody>
      </p:sp>
      <p:sp>
        <p:nvSpPr>
          <p:cNvPr id="12" name="AutoShape 12"/>
          <p:cNvSpPr/>
          <p:nvPr>
            <p:custDataLst>
              <p:tags r:id="rId4"/>
            </p:custDataLst>
          </p:nvPr>
        </p:nvSpPr>
        <p:spPr>
          <a:xfrm>
            <a:off x="467995" y="3075940"/>
            <a:ext cx="6071235" cy="1206500"/>
          </a:xfrm>
          <a:prstGeom prst="rect">
            <a:avLst/>
          </a:prstGeom>
          <a:noFill/>
          <a:ln w="9525" cap="flat" cmpd="sng">
            <a:noFill/>
            <a:prstDash val="solid"/>
            <a:round/>
          </a:ln>
        </p:spPr>
        <p:txBody>
          <a:bodyPr vert="horz" wrap="square" lIns="0" tIns="0" rIns="0" bIns="0" rtlCol="0" anchor="ctr" anchorCtr="0"/>
          <a:lstStyle/>
          <a:p>
            <a:pPr marL="0" indent="0" algn="l">
              <a:lnSpc>
                <a:spcPct val="108000"/>
              </a:lnSpc>
              <a:defRPr/>
            </a:pPr>
            <a:r>
              <a:rPr lang="zh-CN" altLang="en-US" sz="16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同类型组件的个性化行为</a:t>
            </a:r>
            <a:endParaRPr lang="zh-CN" altLang="en-US" sz="16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endParaRPr>
          </a:p>
          <a:p>
            <a:pPr marL="0" indent="0" algn="l">
              <a:lnSpc>
                <a:spcPct val="108000"/>
              </a:lnSpc>
              <a:defRPr/>
            </a:pPr>
            <a:r>
              <a:rPr lang="zh-CN" altLang="en-US" sz="16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不同类型组件间的相互依赖</a:t>
            </a:r>
            <a:endParaRPr lang="zh-CN" altLang="en-US" sz="16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endParaRPr>
          </a:p>
          <a:p>
            <a:pPr marL="0" indent="0" algn="l">
              <a:lnSpc>
                <a:spcPct val="108000"/>
              </a:lnSpc>
              <a:defRPr/>
            </a:pPr>
            <a:r>
              <a:rPr lang="zh-CN" altLang="en-US" sz="16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紧急车辆与普通车辆之间的</a:t>
            </a:r>
            <a:r>
              <a:rPr lang="en-US" altLang="zh-CN" sz="16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6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跷跷板</a:t>
            </a:r>
            <a:r>
              <a:rPr lang="en-US" altLang="zh-CN" sz="16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6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问题</a:t>
            </a:r>
            <a:endParaRPr lang="zh-CN" altLang="en-US" sz="16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endParaRPr>
          </a:p>
          <a:p>
            <a:pPr marL="0" indent="0" algn="l">
              <a:lnSpc>
                <a:spcPct val="108000"/>
              </a:lnSpc>
              <a:defRPr/>
            </a:pPr>
            <a:r>
              <a:rPr lang="zh-CN" altLang="en-US" sz="16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（优先紧急车辆会损害普通车辆效率）。</a:t>
            </a:r>
            <a:endParaRPr lang="en-US" sz="1600">
              <a:latin typeface="楷体" panose="02010609060101010101" charset="-122"/>
              <a:ea typeface="楷体" panose="02010609060101010101" charset="-122"/>
              <a:cs typeface="楷体" panose="02010609060101010101" charset="-122"/>
            </a:endParaRPr>
          </a:p>
        </p:txBody>
      </p:sp>
      <p:sp>
        <p:nvSpPr>
          <p:cNvPr id="25" name="AutoShape 25"/>
          <p:cNvSpPr/>
          <p:nvPr/>
        </p:nvSpPr>
        <p:spPr>
          <a:xfrm>
            <a:off x="179705" y="4427220"/>
            <a:ext cx="8775700" cy="304800"/>
          </a:xfrm>
          <a:prstGeom prst="rect">
            <a:avLst/>
          </a:prstGeom>
          <a:noFill/>
          <a:ln w="9525"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070C0"/>
                </a:solidFill>
                <a:latin typeface="楷体" panose="02010609060101010101" charset="-122"/>
                <a:ea typeface="楷体" panose="02010609060101010101" charset="-122"/>
                <a:cs typeface="Noto Sans SC" panose="020B0200000000000000" charset="-122"/>
                <a:sym typeface="Noto Sans SC" panose="020B0200000000000000" charset="-122"/>
              </a:rPr>
              <a:t>突破上述瓶颈，构建智能化、协同化的紧急交通管控体系，是提升城市应急响应能力的关键。</a:t>
            </a:r>
            <a:endParaRPr lang="en-US" sz="1600">
              <a:latin typeface="楷体" panose="02010609060101010101" charset="-122"/>
              <a:ea typeface="楷体" panose="02010609060101010101" charset="-122"/>
            </a:endParaRPr>
          </a:p>
        </p:txBody>
      </p:sp>
      <p:sp>
        <p:nvSpPr>
          <p:cNvPr id="26" name="AutoShape 8"/>
          <p:cNvSpPr/>
          <p:nvPr>
            <p:custDataLst>
              <p:tags r:id="rId5"/>
            </p:custDataLst>
          </p:nvPr>
        </p:nvSpPr>
        <p:spPr>
          <a:xfrm>
            <a:off x="467995" y="2644140"/>
            <a:ext cx="2730500" cy="381000"/>
          </a:xfrm>
          <a:prstGeom prst="rect">
            <a:avLst/>
          </a:prstGeom>
          <a:noFill/>
          <a:ln w="9525" cap="flat" cmpd="sng">
            <a:noFill/>
            <a:prstDash val="solid"/>
            <a:round/>
          </a:ln>
        </p:spPr>
        <p:txBody>
          <a:bodyPr vert="horz" wrap="square" lIns="0" tIns="0" rIns="0" bIns="0" rtlCol="0" anchor="ctr" anchorCtr="0"/>
          <a:p>
            <a:pPr marL="0" indent="0" algn="l">
              <a:lnSpc>
                <a:spcPct val="125000"/>
              </a:lnSpc>
              <a:defRPr/>
            </a:pPr>
            <a:r>
              <a:rPr lang="zh-CN" altLang="en-US" sz="2000">
                <a:solidFill>
                  <a:srgbClr val="FF0000"/>
                </a:solidFill>
                <a:latin typeface="楷体" panose="02010609060101010101" charset="-122"/>
                <a:ea typeface="楷体" panose="02010609060101010101" charset="-122"/>
                <a:cs typeface="Noto Sans SC" panose="020B0200000000000000" charset="-122"/>
                <a:sym typeface="Noto Sans SC" panose="020B0200000000000000" charset="-122"/>
              </a:rPr>
              <a:t>核心挑战</a:t>
            </a:r>
            <a:endParaRPr lang="zh-CN" altLang="en-US" sz="2000">
              <a:solidFill>
                <a:srgbClr val="FF0000"/>
              </a:solidFill>
              <a:latin typeface="楷体" panose="02010609060101010101" charset="-122"/>
              <a:ea typeface="楷体" panose="02010609060101010101" charset="-122"/>
              <a:cs typeface="Noto Sans SC" panose="020B0200000000000000" charset="-122"/>
              <a:sym typeface="Noto Sans SC" panose="020B0200000000000000" charset="-122"/>
            </a:endParaRPr>
          </a:p>
        </p:txBody>
      </p:sp>
      <p:pic>
        <p:nvPicPr>
          <p:cNvPr id="28" name="图片 27"/>
          <p:cNvPicPr>
            <a:picLocks noChangeAspect="1"/>
          </p:cNvPicPr>
          <p:nvPr/>
        </p:nvPicPr>
        <p:blipFill>
          <a:blip r:embed="rId6"/>
          <a:stretch>
            <a:fillRect/>
          </a:stretch>
        </p:blipFill>
        <p:spPr>
          <a:xfrm>
            <a:off x="3964305" y="2284095"/>
            <a:ext cx="4951095" cy="1348740"/>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9144000" cy="5143500"/>
          </a:xfrm>
          <a:prstGeom prst="roundRect">
            <a:avLst>
              <a:gd name="adj" fmla="val 0"/>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 y="101600"/>
            <a:ext cx="8953500" cy="4940300"/>
          </a:xfrm>
          <a:prstGeom prst="roundRect">
            <a:avLst>
              <a:gd name="adj" fmla="val 0"/>
            </a:avLst>
          </a:prstGeom>
          <a:solidFill>
            <a:srgbClr val="FFFFFF">
              <a:alpha val="100000"/>
            </a:srgbClr>
          </a:solidFill>
          <a:ln w="25400" cap="flat" cmpd="sng">
            <a:noFill/>
            <a:prstDash val="solid"/>
            <a:round/>
          </a:ln>
          <a:effectLst>
            <a:outerShdw blurRad="50800" dist="38100" dir="2700000" algn="tl" rotWithShape="0">
              <a:srgbClr val="000000">
                <a:alpha val="4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t="27868" b="22950"/>
          <a:stretch>
            <a:fillRect/>
          </a:stretch>
        </p:blipFill>
        <p:spPr>
          <a:xfrm>
            <a:off x="7683500" y="279400"/>
            <a:ext cx="1231900" cy="381000"/>
          </a:xfrm>
          <a:prstGeom prst="rect">
            <a:avLst/>
          </a:prstGeom>
          <a:noFill/>
          <a:ln w="25400" cap="flat" cmpd="sng">
            <a:noFill/>
            <a:prstDash val="solid"/>
            <a:round/>
          </a:ln>
        </p:spPr>
      </p:pic>
      <p:sp>
        <p:nvSpPr>
          <p:cNvPr id="5" name="AutoShape 5"/>
          <p:cNvSpPr/>
          <p:nvPr/>
        </p:nvSpPr>
        <p:spPr>
          <a:xfrm>
            <a:off x="177800" y="228600"/>
            <a:ext cx="6921500" cy="406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400" b="1" i="0" u="none" strike="noStrike">
                <a:solidFill>
                  <a:srgbClr val="0070C0"/>
                </a:solidFill>
                <a:latin typeface="楷体" panose="02010609060101010101" charset="-122"/>
                <a:ea typeface="楷体" panose="02010609060101010101" charset="-122"/>
                <a:cs typeface="楷体" panose="02010609060101010101" charset="-122"/>
                <a:sym typeface="方正粗黑宋简体"/>
              </a:rPr>
              <a:t>二、</a:t>
            </a:r>
            <a:r>
              <a:rPr lang="en-US" sz="2400" b="1" i="0" u="none" strike="noStrike">
                <a:solidFill>
                  <a:srgbClr val="0070C0"/>
                </a:solidFill>
                <a:latin typeface="楷体" panose="02010609060101010101" charset="-122"/>
                <a:ea typeface="楷体" panose="02010609060101010101" charset="-122"/>
                <a:cs typeface="楷体" panose="02010609060101010101" charset="-122"/>
                <a:sym typeface="方正粗黑宋简体"/>
              </a:rPr>
              <a:t>RMTC模型：角色感知的多智能体交通控制</a:t>
            </a:r>
            <a:endParaRPr lang="en-US" sz="1100">
              <a:latin typeface="楷体" panose="02010609060101010101" charset="-122"/>
              <a:ea typeface="楷体" panose="02010609060101010101" charset="-122"/>
              <a:cs typeface="楷体" panose="02010609060101010101" charset="-122"/>
            </a:endParaRPr>
          </a:p>
        </p:txBody>
      </p:sp>
      <p:cxnSp>
        <p:nvCxnSpPr>
          <p:cNvPr id="6" name="Connector 6"/>
          <p:cNvCxnSpPr/>
          <p:nvPr/>
        </p:nvCxnSpPr>
        <p:spPr>
          <a:xfrm>
            <a:off x="177800" y="698500"/>
            <a:ext cx="6845312" cy="12700"/>
          </a:xfrm>
          <a:prstGeom prst="line">
            <a:avLst/>
          </a:prstGeom>
          <a:solidFill>
            <a:srgbClr val="DEE0E3">
              <a:alpha val="100000"/>
            </a:srgbClr>
          </a:solidFill>
          <a:ln w="12700" cap="flat" cmpd="sng">
            <a:solidFill>
              <a:srgbClr val="0070C0">
                <a:alpha val="100000"/>
              </a:srgbClr>
            </a:solidFill>
            <a:prstDash val="solid"/>
            <a:miter lim="10000000"/>
            <a:headEnd type="none" w="med" len="med"/>
            <a:tailEnd type="none" w="med" len="med"/>
          </a:ln>
        </p:spPr>
      </p:cxnSp>
      <p:sp>
        <p:nvSpPr>
          <p:cNvPr id="7" name="AutoShape 7"/>
          <p:cNvSpPr/>
          <p:nvPr/>
        </p:nvSpPr>
        <p:spPr>
          <a:xfrm>
            <a:off x="228600" y="736600"/>
            <a:ext cx="8737600" cy="68389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针对城市交通的动态复杂性，RMTC框架以“角色感知”为核心，通过异构时间交通图建模时空关联，结合动态角色学习机制，让交通智能体自主理解场景定位，并基于角色感知的强化学习实现全局协同的交通决策优化。</a:t>
            </a:r>
            <a:endParaRPr lang="en-US" sz="1400">
              <a:latin typeface="楷体" panose="02010609060101010101" charset="-122"/>
              <a:ea typeface="楷体" panose="02010609060101010101" charset="-122"/>
              <a:cs typeface="楷体" panose="02010609060101010101" charset="-122"/>
            </a:endParaRPr>
          </a:p>
        </p:txBody>
      </p:sp>
      <p:sp>
        <p:nvSpPr>
          <p:cNvPr id="16" name="AutoShape 16"/>
          <p:cNvSpPr/>
          <p:nvPr/>
        </p:nvSpPr>
        <p:spPr>
          <a:xfrm>
            <a:off x="228600" y="1419860"/>
            <a:ext cx="27051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RMTC框架核心创新</a:t>
            </a:r>
            <a:endParaRPr lang="en-US">
              <a:latin typeface="楷体" panose="02010609060101010101" charset="-122"/>
              <a:ea typeface="楷体" panose="02010609060101010101" charset="-122"/>
              <a:cs typeface="楷体" panose="02010609060101010101" charset="-122"/>
            </a:endParaRPr>
          </a:p>
        </p:txBody>
      </p:sp>
      <p:sp>
        <p:nvSpPr>
          <p:cNvPr id="17" name="AutoShape 17"/>
          <p:cNvSpPr/>
          <p:nvPr/>
        </p:nvSpPr>
        <p:spPr>
          <a:xfrm>
            <a:off x="179705" y="1728470"/>
            <a:ext cx="3031490" cy="292925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zh-CN" altLang="en-US" sz="1400" b="1">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altLang="zh-CN" sz="1400" b="1">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1</a:t>
            </a:r>
            <a:r>
              <a:rPr lang="zh-CN" altLang="en-US" sz="1400" b="1">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400" b="1">
                <a:solidFill>
                  <a:srgbClr val="FF0000"/>
                </a:solidFill>
                <a:latin typeface="楷体" panose="02010609060101010101" charset="-122"/>
                <a:ea typeface="楷体" panose="02010609060101010101" charset="-122"/>
                <a:cs typeface="楷体" panose="02010609060101010101" charset="-122"/>
                <a:sym typeface="Noto Sans SC" panose="020B0200000000000000" charset="-122"/>
              </a:rPr>
              <a:t>异构</a:t>
            </a:r>
            <a:r>
              <a:rPr lang="en-US" sz="1400" b="1" i="0" u="none" strike="noStrike">
                <a:solidFill>
                  <a:srgbClr val="FF0000"/>
                </a:solidFill>
                <a:latin typeface="楷体" panose="02010609060101010101" charset="-122"/>
                <a:ea typeface="楷体" panose="02010609060101010101" charset="-122"/>
                <a:cs typeface="楷体" panose="02010609060101010101" charset="-122"/>
                <a:sym typeface="Noto Sans SC" panose="020B0200000000000000" charset="-122"/>
              </a:rPr>
              <a:t>时空建模</a:t>
            </a:r>
            <a:r>
              <a:rPr lang="en-US" sz="1400" b="1" i="0" u="none" strike="noStrike">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sz="1400">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构建HTTG异构时间交通图，动态刻画交通灯、车辆等智能体的时空交互与依赖关系。</a:t>
            </a:r>
            <a:endParaRPr lang="en-US" sz="1400">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endParaRPr>
          </a:p>
          <a:p>
            <a:pPr marL="0" indent="0" algn="l">
              <a:lnSpc>
                <a:spcPct val="108000"/>
              </a:lnSpc>
              <a:defRPr/>
            </a:pPr>
            <a:r>
              <a:rPr lang="zh-CN" altLang="en-US" sz="1400" b="1">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altLang="zh-CN" sz="1400" b="1">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2</a:t>
            </a:r>
            <a:r>
              <a:rPr lang="zh-CN" altLang="en-US" sz="1400" b="1">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sz="1400" b="1">
                <a:solidFill>
                  <a:srgbClr val="FF0000"/>
                </a:solidFill>
                <a:latin typeface="楷体" panose="02010609060101010101" charset="-122"/>
                <a:ea typeface="楷体" panose="02010609060101010101" charset="-122"/>
                <a:cs typeface="楷体" panose="02010609060101010101" charset="-122"/>
                <a:sym typeface="Noto Sans SC" panose="020B0200000000000000" charset="-122"/>
              </a:rPr>
              <a:t>动态角色推断</a:t>
            </a:r>
            <a:r>
              <a:rPr lang="en-US" sz="1400" b="1" i="0" u="none" strike="noStrike">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sz="1400">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基于EMV位置、轨迹影响与角色一致性约束，实时推理并更新每个智能体的动态角色</a:t>
            </a:r>
            <a:r>
              <a:rPr lang="en-US" sz="1400" b="0" i="0" u="none" strike="noStrike">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a:t>
            </a:r>
            <a:endParaRPr lang="en-US" sz="1400" b="0" i="0" u="none" strike="noStrike">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endParaRPr>
          </a:p>
          <a:p>
            <a:pPr marL="0" indent="0" algn="l">
              <a:lnSpc>
                <a:spcPct val="108000"/>
              </a:lnSpc>
            </a:pPr>
            <a:r>
              <a:rPr lang="zh-CN" altLang="en-US" sz="1400" b="1" i="0" u="none" strike="noStrike">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altLang="zh-CN" sz="1400" b="1" i="0" u="none" strike="noStrike">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3</a:t>
            </a:r>
            <a:r>
              <a:rPr lang="zh-CN" altLang="en-US" sz="1400" b="1" i="0" u="none" strike="noStrike">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sz="1400" b="1" i="0" u="none" strike="noStrike">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协同决策升级：</a:t>
            </a:r>
            <a:r>
              <a:rPr lang="en-US" sz="1400" b="0" i="0" u="none" strike="noStrike">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构建角色感知的MARL框架，</a:t>
            </a:r>
            <a:r>
              <a:rPr lang="en-US" sz="1400">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将动态角色嵌入融合至策略网络，设计角色感知的</a:t>
            </a:r>
            <a:r>
              <a:rPr lang="en-US" sz="1400">
                <a:solidFill>
                  <a:srgbClr val="FF0000"/>
                </a:solidFill>
                <a:latin typeface="楷体" panose="02010609060101010101" charset="-122"/>
                <a:ea typeface="楷体" panose="02010609060101010101" charset="-122"/>
                <a:cs typeface="楷体" panose="02010609060101010101" charset="-122"/>
                <a:sym typeface="Noto Sans SC" panose="020B0200000000000000" charset="-122"/>
              </a:rPr>
              <a:t>内在奖励</a:t>
            </a:r>
            <a:r>
              <a:rPr lang="en-US" sz="1400">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sz="1400" b="0" i="0" u="none" strike="noStrike">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rPr>
              <a:t>打破局部最优，实现全局协同的交通信号与车辆协同控制。</a:t>
            </a:r>
            <a:endParaRPr lang="en-US" sz="1400" b="0" i="0" u="none" strike="noStrike">
              <a:solidFill>
                <a:srgbClr val="000000"/>
              </a:solidFill>
              <a:latin typeface="楷体" panose="02010609060101010101" charset="-122"/>
              <a:ea typeface="楷体" panose="02010609060101010101" charset="-122"/>
              <a:cs typeface="楷体" panose="02010609060101010101" charset="-122"/>
              <a:sym typeface="Noto Sans SC" panose="020B0200000000000000" charset="-122"/>
            </a:endParaRPr>
          </a:p>
        </p:txBody>
      </p:sp>
      <p:pic>
        <p:nvPicPr>
          <p:cNvPr id="18" name="图片 17"/>
          <p:cNvPicPr>
            <a:picLocks noChangeAspect="1"/>
          </p:cNvPicPr>
          <p:nvPr/>
        </p:nvPicPr>
        <p:blipFill>
          <a:blip r:embed="rId2"/>
          <a:stretch>
            <a:fillRect/>
          </a:stretch>
        </p:blipFill>
        <p:spPr>
          <a:xfrm>
            <a:off x="3347720" y="1491615"/>
            <a:ext cx="5529580" cy="3055620"/>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9144000" cy="5143500"/>
          </a:xfrm>
          <a:prstGeom prst="roundRect">
            <a:avLst>
              <a:gd name="adj" fmla="val 0"/>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 y="101600"/>
            <a:ext cx="8953500" cy="4940300"/>
          </a:xfrm>
          <a:prstGeom prst="roundRect">
            <a:avLst>
              <a:gd name="adj" fmla="val 0"/>
            </a:avLst>
          </a:prstGeom>
          <a:solidFill>
            <a:srgbClr val="FFFFFF">
              <a:alpha val="100000"/>
            </a:srgbClr>
          </a:solidFill>
          <a:ln w="25400" cap="flat" cmpd="sng">
            <a:noFill/>
            <a:prstDash val="solid"/>
            <a:round/>
          </a:ln>
          <a:effectLst>
            <a:outerShdw blurRad="50800" dist="38100" dir="2700000" algn="tl" rotWithShape="0">
              <a:srgbClr val="000000">
                <a:alpha val="4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t="27868" b="22950"/>
          <a:stretch>
            <a:fillRect/>
          </a:stretch>
        </p:blipFill>
        <p:spPr>
          <a:xfrm>
            <a:off x="7683500" y="279400"/>
            <a:ext cx="1231900" cy="381000"/>
          </a:xfrm>
          <a:prstGeom prst="rect">
            <a:avLst/>
          </a:prstGeom>
          <a:noFill/>
          <a:ln w="25400" cap="flat" cmpd="sng">
            <a:noFill/>
            <a:prstDash val="solid"/>
            <a:round/>
          </a:ln>
        </p:spPr>
      </p:pic>
      <p:sp>
        <p:nvSpPr>
          <p:cNvPr id="5" name="AutoShape 5"/>
          <p:cNvSpPr/>
          <p:nvPr/>
        </p:nvSpPr>
        <p:spPr>
          <a:xfrm>
            <a:off x="177800" y="228600"/>
            <a:ext cx="6921500" cy="406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400" b="1" i="0" u="none" strike="noStrike">
                <a:solidFill>
                  <a:srgbClr val="0070C0"/>
                </a:solidFill>
                <a:latin typeface="楷体" panose="02010609060101010101" charset="-122"/>
                <a:ea typeface="楷体" panose="02010609060101010101" charset="-122"/>
                <a:cs typeface="方正粗黑宋简体"/>
                <a:sym typeface="方正粗黑宋简体"/>
              </a:rPr>
              <a:t>三、</a:t>
            </a:r>
            <a:r>
              <a:rPr lang="en-US" sz="2400" b="1">
                <a:solidFill>
                  <a:srgbClr val="0070C0"/>
                </a:solidFill>
                <a:latin typeface="楷体" panose="02010609060101010101" charset="-122"/>
                <a:ea typeface="楷体" panose="02010609060101010101" charset="-122"/>
                <a:cs typeface="方正粗黑宋简体"/>
                <a:sym typeface="方正粗黑宋简体"/>
              </a:rPr>
              <a:t>复现问题与挑战</a:t>
            </a:r>
            <a:endParaRPr lang="en-US" sz="1100">
              <a:latin typeface="楷体" panose="02010609060101010101" charset="-122"/>
              <a:ea typeface="楷体" panose="02010609060101010101" charset="-122"/>
            </a:endParaRPr>
          </a:p>
        </p:txBody>
      </p:sp>
      <p:cxnSp>
        <p:nvCxnSpPr>
          <p:cNvPr id="6" name="Connector 6"/>
          <p:cNvCxnSpPr/>
          <p:nvPr/>
        </p:nvCxnSpPr>
        <p:spPr>
          <a:xfrm>
            <a:off x="177800" y="698500"/>
            <a:ext cx="6845312" cy="12700"/>
          </a:xfrm>
          <a:prstGeom prst="line">
            <a:avLst/>
          </a:prstGeom>
          <a:solidFill>
            <a:srgbClr val="DEE0E3">
              <a:alpha val="100000"/>
            </a:srgbClr>
          </a:solidFill>
          <a:ln w="12700" cap="flat" cmpd="sng">
            <a:solidFill>
              <a:srgbClr val="0070C0">
                <a:alpha val="100000"/>
              </a:srgbClr>
            </a:solidFill>
            <a:prstDash val="solid"/>
            <a:miter lim="10000000"/>
            <a:headEnd type="none" w="med" len="med"/>
            <a:tailEnd type="none" w="med" len="med"/>
          </a:ln>
        </p:spPr>
      </p:cxnSp>
      <p:sp>
        <p:nvSpPr>
          <p:cNvPr id="8" name="AutoShape 7"/>
          <p:cNvSpPr/>
          <p:nvPr>
            <p:custDataLst>
              <p:tags r:id="rId2"/>
            </p:custDataLst>
          </p:nvPr>
        </p:nvSpPr>
        <p:spPr>
          <a:xfrm>
            <a:off x="273685" y="1005205"/>
            <a:ext cx="2743200" cy="2921000"/>
          </a:xfrm>
          <a:prstGeom prst="roundRect">
            <a:avLst>
              <a:gd name="adj" fmla="val 0"/>
            </a:avLst>
          </a:prstGeom>
          <a:solidFill>
            <a:srgbClr val="EBF5FF">
              <a:alpha val="100000"/>
            </a:srgbClr>
          </a:solidFill>
          <a:ln w="12700" cap="flat" cmpd="sng">
            <a:solidFill>
              <a:srgbClr val="0070C0">
                <a:alpha val="20000"/>
              </a:srgbClr>
            </a:solidFill>
            <a:prstDash val="solid"/>
            <a:round/>
          </a:ln>
        </p:spPr>
        <p:txBody>
          <a:bodyPr vert="horz" wrap="square" lIns="63500" tIns="63500" rIns="63500" bIns="63500" rtlCol="0" anchor="ctr"/>
          <a:p>
            <a:pPr algn="ctr">
              <a:defRPr/>
            </a:pPr>
          </a:p>
        </p:txBody>
      </p:sp>
      <p:sp>
        <p:nvSpPr>
          <p:cNvPr id="9" name="AutoShape 8"/>
          <p:cNvSpPr/>
          <p:nvPr>
            <p:custDataLst>
              <p:tags r:id="rId3"/>
            </p:custDataLst>
          </p:nvPr>
        </p:nvSpPr>
        <p:spPr>
          <a:xfrm>
            <a:off x="323850" y="1195705"/>
            <a:ext cx="2616200" cy="406400"/>
          </a:xfrm>
          <a:prstGeom prst="roundRect">
            <a:avLst>
              <a:gd name="adj" fmla="val 0"/>
            </a:avLst>
          </a:prstGeom>
          <a:noFill/>
          <a:ln w="25400" cap="flat" cmpd="sng">
            <a:noFill/>
            <a:prstDash val="solid"/>
            <a:round/>
          </a:ln>
        </p:spPr>
        <p:txBody>
          <a:bodyPr vert="horz" wrap="square" lIns="0" tIns="0" rIns="0" bIns="0" rtlCol="0" anchor="ctr" anchorCtr="0"/>
          <a:p>
            <a:pPr marL="0" indent="0" algn="ctr">
              <a:lnSpc>
                <a:spcPct val="125000"/>
              </a:lnSpc>
              <a:defRPr/>
            </a:pPr>
            <a:r>
              <a:rPr lang="en-US" sz="20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01 文档缺失</a:t>
            </a:r>
            <a:endParaRPr lang="en-US" sz="2000">
              <a:latin typeface="楷体" panose="02010609060101010101" charset="-122"/>
              <a:ea typeface="楷体" panose="02010609060101010101" charset="-122"/>
              <a:cs typeface="楷体" panose="02010609060101010101" charset="-122"/>
            </a:endParaRPr>
          </a:p>
        </p:txBody>
      </p:sp>
      <p:sp>
        <p:nvSpPr>
          <p:cNvPr id="10" name="AutoShape 9"/>
          <p:cNvSpPr/>
          <p:nvPr>
            <p:custDataLst>
              <p:tags r:id="rId4"/>
            </p:custDataLst>
          </p:nvPr>
        </p:nvSpPr>
        <p:spPr>
          <a:xfrm>
            <a:off x="280670" y="1703705"/>
            <a:ext cx="2709545" cy="2032000"/>
          </a:xfrm>
          <a:prstGeom prst="roundRect">
            <a:avLst>
              <a:gd name="adj" fmla="val 0"/>
            </a:avLst>
          </a:prstGeom>
          <a:noFill/>
          <a:ln w="25400" cap="flat" cmpd="sng">
            <a:noFill/>
            <a:prstDash val="solid"/>
            <a:round/>
          </a:ln>
        </p:spPr>
        <p:txBody>
          <a:bodyPr vert="horz" wrap="square" lIns="0" tIns="0" rIns="0" bIns="0" rtlCol="0" anchor="t" anchorCtr="0"/>
          <a:p>
            <a:pPr marL="0" indent="0" algn="ctr">
              <a:lnSpc>
                <a:spcPct val="117000"/>
              </a:lnSpc>
              <a:defRPr/>
            </a:pP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1</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项目对核心依赖环境描述模糊，Python版本、依赖库版本等关键信息未明确；</a:t>
            </a:r>
            <a:endParaRPr 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endParaRPr>
          </a:p>
          <a:p>
            <a:pPr marL="0" indent="0" algn="ctr">
              <a:lnSpc>
                <a:spcPct val="117000"/>
              </a:lnSpc>
              <a:defRPr/>
            </a:pP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2</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SUMO仿真平台的安装与环境配置指引存在多处</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缺失</a:t>
            </a:r>
            <a:r>
              <a:rPr 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，导致环境搭建需反复试错，严重拖慢复现进程，前期耗费大量无效调试时间。</a:t>
            </a:r>
            <a:endParaRPr lang="en-US" sz="1100">
              <a:latin typeface="楷体" panose="02010609060101010101" charset="-122"/>
              <a:ea typeface="楷体" panose="02010609060101010101" charset="-122"/>
              <a:cs typeface="楷体" panose="02010609060101010101" charset="-122"/>
            </a:endParaRPr>
          </a:p>
        </p:txBody>
      </p:sp>
      <p:sp>
        <p:nvSpPr>
          <p:cNvPr id="11" name="AutoShape 10"/>
          <p:cNvSpPr/>
          <p:nvPr>
            <p:custDataLst>
              <p:tags r:id="rId5"/>
            </p:custDataLst>
          </p:nvPr>
        </p:nvSpPr>
        <p:spPr>
          <a:xfrm>
            <a:off x="3169285" y="1005205"/>
            <a:ext cx="2743200" cy="2921000"/>
          </a:xfrm>
          <a:prstGeom prst="roundRect">
            <a:avLst>
              <a:gd name="adj" fmla="val 0"/>
            </a:avLst>
          </a:prstGeom>
          <a:solidFill>
            <a:srgbClr val="EBF5FF">
              <a:alpha val="100000"/>
            </a:srgbClr>
          </a:solidFill>
          <a:ln w="12700" cap="flat" cmpd="sng">
            <a:solidFill>
              <a:srgbClr val="0070C0">
                <a:alpha val="20000"/>
              </a:srgbClr>
            </a:solidFill>
            <a:prstDash val="solid"/>
            <a:round/>
          </a:ln>
        </p:spPr>
        <p:txBody>
          <a:bodyPr vert="horz" wrap="square" lIns="63500" tIns="63500" rIns="63500" bIns="63500" rtlCol="0" anchor="ctr"/>
          <a:p>
            <a:pPr algn="ctr">
              <a:defRPr/>
            </a:pPr>
          </a:p>
        </p:txBody>
      </p:sp>
      <p:sp>
        <p:nvSpPr>
          <p:cNvPr id="12" name="AutoShape 11"/>
          <p:cNvSpPr/>
          <p:nvPr>
            <p:custDataLst>
              <p:tags r:id="rId6"/>
            </p:custDataLst>
          </p:nvPr>
        </p:nvSpPr>
        <p:spPr>
          <a:xfrm>
            <a:off x="3296285" y="1195705"/>
            <a:ext cx="2489200" cy="406400"/>
          </a:xfrm>
          <a:prstGeom prst="roundRect">
            <a:avLst>
              <a:gd name="adj" fmla="val 0"/>
            </a:avLst>
          </a:prstGeom>
          <a:noFill/>
          <a:ln w="25400" cap="flat" cmpd="sng">
            <a:noFill/>
            <a:prstDash val="solid"/>
            <a:round/>
          </a:ln>
        </p:spPr>
        <p:txBody>
          <a:bodyPr vert="horz" wrap="square" lIns="0" tIns="0" rIns="0" bIns="0" rtlCol="0" anchor="ctr" anchorCtr="0"/>
          <a:p>
            <a:pPr marL="0" indent="0" algn="ctr">
              <a:lnSpc>
                <a:spcPct val="125000"/>
              </a:lnSpc>
              <a:defRPr/>
            </a:pPr>
            <a:r>
              <a:rPr lang="en-US" sz="20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02 逻辑与语法错误</a:t>
            </a:r>
            <a:endParaRPr lang="en-US" sz="2000">
              <a:latin typeface="楷体" panose="02010609060101010101" charset="-122"/>
              <a:ea typeface="楷体" panose="02010609060101010101" charset="-122"/>
              <a:cs typeface="楷体" panose="02010609060101010101" charset="-122"/>
            </a:endParaRPr>
          </a:p>
        </p:txBody>
      </p:sp>
      <p:sp>
        <p:nvSpPr>
          <p:cNvPr id="13" name="AutoShape 12"/>
          <p:cNvSpPr/>
          <p:nvPr>
            <p:custDataLst>
              <p:tags r:id="rId7"/>
            </p:custDataLst>
          </p:nvPr>
        </p:nvSpPr>
        <p:spPr>
          <a:xfrm>
            <a:off x="3204845" y="1703705"/>
            <a:ext cx="2675890" cy="1928495"/>
          </a:xfrm>
          <a:prstGeom prst="roundRect">
            <a:avLst>
              <a:gd name="adj" fmla="val 0"/>
            </a:avLst>
          </a:prstGeom>
          <a:noFill/>
          <a:ln w="25400" cap="flat" cmpd="sng">
            <a:noFill/>
            <a:prstDash val="solid"/>
            <a:round/>
          </a:ln>
        </p:spPr>
        <p:txBody>
          <a:bodyPr vert="horz" wrap="square" lIns="0" tIns="0" rIns="0" bIns="0" rtlCol="0" anchor="t" anchorCtr="0"/>
          <a:p>
            <a:pPr marL="0" indent="0" algn="ctr">
              <a:lnSpc>
                <a:spcPct val="117000"/>
              </a:lnSpc>
              <a:defRPr/>
            </a:pP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1</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核心仿真文件存在“悬空else”等语法解析异常</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endPar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endParaRPr>
          </a:p>
          <a:p>
            <a:pPr marL="0" indent="0" algn="ctr">
              <a:lnSpc>
                <a:spcPct val="117000"/>
              </a:lnSpc>
              <a:defRPr/>
            </a:pP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2</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启动参数重复追加引发配置冲突，导致仿真器加载失败；</a:t>
            </a:r>
            <a:endParaRPr 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endParaRPr>
          </a:p>
          <a:p>
            <a:pPr marL="0" indent="0" algn="ctr">
              <a:lnSpc>
                <a:spcPct val="117000"/>
              </a:lnSpc>
              <a:defRPr/>
            </a:pPr>
            <a:r>
              <a:rPr lang="zh-CN" altLang="en-US" sz="1400">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altLang="zh-CN" sz="1400">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2</a:t>
            </a:r>
            <a:r>
              <a:rPr lang="zh-CN" altLang="en-US" sz="1400">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地图</a:t>
            </a:r>
            <a:r>
              <a:rPr lang="en-US"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件命名与代码硬编码不</a:t>
            </a:r>
            <a:r>
              <a:rPr lang="en-US"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致，导致启动失败，且</a:t>
            </a:r>
            <a:r>
              <a:rPr lang="en-US"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法</a:t>
            </a:r>
            <a:r>
              <a:rPr lang="en-US"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由选择想要使</a:t>
            </a:r>
            <a:r>
              <a:rPr lang="en-US"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的地图场景。</a:t>
            </a:r>
            <a:endParaRPr lang="en-US" altLang="zh-CN" sz="1100">
              <a:latin typeface="楷体" panose="02010609060101010101" charset="-122"/>
              <a:ea typeface="楷体" panose="02010609060101010101" charset="-122"/>
              <a:cs typeface="楷体" panose="02010609060101010101" charset="-122"/>
            </a:endParaRPr>
          </a:p>
        </p:txBody>
      </p:sp>
      <p:sp>
        <p:nvSpPr>
          <p:cNvPr id="14" name="AutoShape 13"/>
          <p:cNvSpPr/>
          <p:nvPr>
            <p:custDataLst>
              <p:tags r:id="rId8"/>
            </p:custDataLst>
          </p:nvPr>
        </p:nvSpPr>
        <p:spPr>
          <a:xfrm>
            <a:off x="6064885" y="1005205"/>
            <a:ext cx="2743200" cy="2921000"/>
          </a:xfrm>
          <a:prstGeom prst="roundRect">
            <a:avLst>
              <a:gd name="adj" fmla="val 0"/>
            </a:avLst>
          </a:prstGeom>
          <a:solidFill>
            <a:srgbClr val="EBF5FF">
              <a:alpha val="100000"/>
            </a:srgbClr>
          </a:solidFill>
          <a:ln w="12700" cap="flat" cmpd="sng">
            <a:solidFill>
              <a:srgbClr val="0070C0">
                <a:alpha val="20000"/>
              </a:srgbClr>
            </a:solidFill>
            <a:prstDash val="solid"/>
            <a:round/>
          </a:ln>
        </p:spPr>
        <p:txBody>
          <a:bodyPr vert="horz" wrap="square" lIns="63500" tIns="63500" rIns="63500" bIns="63500" rtlCol="0" anchor="ctr"/>
          <a:p>
            <a:pPr algn="ctr">
              <a:defRPr/>
            </a:pPr>
          </a:p>
        </p:txBody>
      </p:sp>
      <p:sp>
        <p:nvSpPr>
          <p:cNvPr id="15" name="AutoShape 14"/>
          <p:cNvSpPr/>
          <p:nvPr>
            <p:custDataLst>
              <p:tags r:id="rId9"/>
            </p:custDataLst>
          </p:nvPr>
        </p:nvSpPr>
        <p:spPr>
          <a:xfrm>
            <a:off x="6191885" y="1195705"/>
            <a:ext cx="2489200" cy="406400"/>
          </a:xfrm>
          <a:prstGeom prst="roundRect">
            <a:avLst>
              <a:gd name="adj" fmla="val 0"/>
            </a:avLst>
          </a:prstGeom>
          <a:noFill/>
          <a:ln w="25400" cap="flat" cmpd="sng">
            <a:noFill/>
            <a:prstDash val="solid"/>
            <a:round/>
          </a:ln>
        </p:spPr>
        <p:txBody>
          <a:bodyPr vert="horz" wrap="square" lIns="0" tIns="0" rIns="0" bIns="0" rtlCol="0" anchor="ctr" anchorCtr="0"/>
          <a:p>
            <a:pPr marL="0" indent="0" algn="ctr">
              <a:lnSpc>
                <a:spcPct val="125000"/>
              </a:lnSpc>
              <a:defRPr/>
            </a:pPr>
            <a:r>
              <a:rPr lang="en-US" sz="20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03 </a:t>
            </a:r>
            <a:r>
              <a:rPr lang="zh-CN" altLang="en-US" sz="20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关键</a:t>
            </a:r>
            <a:r>
              <a:rPr lang="en-US" sz="20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配置</a:t>
            </a:r>
            <a:r>
              <a:rPr lang="zh-CN" altLang="en-US" sz="20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文件</a:t>
            </a:r>
            <a:r>
              <a:rPr lang="en-US" sz="20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缺失</a:t>
            </a:r>
            <a:endParaRPr lang="en-US" sz="2000">
              <a:latin typeface="楷体" panose="02010609060101010101" charset="-122"/>
              <a:ea typeface="楷体" panose="02010609060101010101" charset="-122"/>
              <a:cs typeface="楷体" panose="02010609060101010101" charset="-122"/>
            </a:endParaRPr>
          </a:p>
        </p:txBody>
      </p:sp>
      <p:sp>
        <p:nvSpPr>
          <p:cNvPr id="19" name="AutoShape 15"/>
          <p:cNvSpPr/>
          <p:nvPr>
            <p:custDataLst>
              <p:tags r:id="rId10"/>
            </p:custDataLst>
          </p:nvPr>
        </p:nvSpPr>
        <p:spPr>
          <a:xfrm>
            <a:off x="6191885" y="1703705"/>
            <a:ext cx="2489200" cy="2032000"/>
          </a:xfrm>
          <a:prstGeom prst="roundRect">
            <a:avLst>
              <a:gd name="adj" fmla="val 0"/>
            </a:avLst>
          </a:prstGeom>
          <a:noFill/>
          <a:ln w="25400" cap="flat" cmpd="sng">
            <a:noFill/>
            <a:prstDash val="solid"/>
            <a:round/>
          </a:ln>
        </p:spPr>
        <p:txBody>
          <a:bodyPr vert="horz" wrap="square" lIns="0" tIns="0" rIns="0" bIns="0" rtlCol="0" anchor="t" anchorCtr="0"/>
          <a:p>
            <a:pPr marL="0" indent="0" algn="ctr">
              <a:lnSpc>
                <a:spcPct val="117000"/>
              </a:lnSpc>
              <a:defRPr/>
            </a:pPr>
            <a:r>
              <a:rPr lang="en-US" sz="1400">
                <a:solidFill>
                  <a:srgbClr val="333333"/>
                </a:solidFill>
                <a:latin typeface="楷体" panose="02010609060101010101" charset="-122"/>
                <a:ea typeface="楷体" panose="02010609060101010101" charset="-122"/>
                <a:cs typeface="Noto Sans SC" panose="020B0200000000000000" charset="-122"/>
                <a:sym typeface="Noto Sans SC" panose="020B0200000000000000" charset="-122"/>
              </a:rPr>
              <a:t>训练脚本中引用了大量未定义的核心超参数（如学习率、批次大小等），且项目未提供关键的配置文件模块。这一核心模块的缺失直接导致程序初始化失败，成为阻碍实验复现推进的最根本技术瓶颈。</a:t>
            </a:r>
            <a:r>
              <a:rPr lang="en-US" sz="1400">
                <a:solidFill>
                  <a:srgbClr val="3C3C3C"/>
                </a:solidFill>
                <a:latin typeface="楷体" panose="02010609060101010101" charset="-122"/>
                <a:ea typeface="楷体" panose="02010609060101010101" charset="-122"/>
                <a:cs typeface="Noto Sans SC" panose="020B0200000000000000" charset="-122"/>
                <a:sym typeface="Noto Sans SC" panose="020B0200000000000000" charset="-122"/>
              </a:rPr>
              <a:t>即使修复其他语法错误，也无法启动有效训练。</a:t>
            </a:r>
            <a:endParaRPr lang="en-US" sz="1100">
              <a:latin typeface="楷体" panose="02010609060101010101" charset="-122"/>
              <a:ea typeface="楷体" panose="02010609060101010101" charset="-122"/>
            </a:endParaRPr>
          </a:p>
        </p:txBody>
      </p:sp>
      <p:sp>
        <p:nvSpPr>
          <p:cNvPr id="20" name="文本框 19"/>
          <p:cNvSpPr txBox="1"/>
          <p:nvPr/>
        </p:nvSpPr>
        <p:spPr>
          <a:xfrm>
            <a:off x="828040" y="4156710"/>
            <a:ext cx="7515225" cy="666750"/>
          </a:xfrm>
          <a:prstGeom prst="rect">
            <a:avLst/>
          </a:prstGeom>
          <a:noFill/>
        </p:spPr>
        <p:txBody>
          <a:bodyPr wrap="square" rtlCol="0" anchor="t">
            <a:spAutoFit/>
          </a:bodyPr>
          <a:p>
            <a:pPr marL="0" indent="0" algn="l">
              <a:lnSpc>
                <a:spcPct val="117000"/>
              </a:lnSpc>
            </a:pPr>
            <a:r>
              <a:rPr lang="zh-CN" altLang="en-US" sz="1600" b="1">
                <a:solidFill>
                  <a:srgbClr val="FF0000"/>
                </a:solidFill>
                <a:latin typeface="楷体" panose="02010609060101010101" charset="-122"/>
                <a:ea typeface="楷体" panose="02010609060101010101" charset="-122"/>
                <a:cs typeface="Noto Sans SC" panose="020B0200000000000000" charset="-122"/>
                <a:sym typeface="Noto Sans SC" panose="020B0200000000000000" charset="-122"/>
              </a:rPr>
              <a:t>关键问题</a:t>
            </a:r>
            <a:r>
              <a:rPr lang="en-US" sz="1600" b="1">
                <a:solidFill>
                  <a:srgbClr val="3C3C3C"/>
                </a:solidFill>
                <a:latin typeface="楷体" panose="02010609060101010101" charset="-122"/>
                <a:ea typeface="楷体" panose="02010609060101010101" charset="-122"/>
                <a:cs typeface="Noto Sans SC" panose="020B0200000000000000" charset="-122"/>
                <a:sym typeface="Noto Sans SC" panose="020B0200000000000000" charset="-122"/>
              </a:rPr>
              <a:t>：</a:t>
            </a:r>
            <a:r>
              <a:rPr lang="en-US" sz="1600">
                <a:solidFill>
                  <a:srgbClr val="3C3C3C"/>
                </a:solidFill>
                <a:latin typeface="楷体" panose="02010609060101010101" charset="-122"/>
                <a:ea typeface="楷体" panose="02010609060101010101" charset="-122"/>
                <a:cs typeface="Noto Sans SC" panose="020B0200000000000000" charset="-122"/>
                <a:sym typeface="Noto Sans SC" panose="020B0200000000000000" charset="-122"/>
              </a:rPr>
              <a:t>超参数是强化学习算法收敛的核心前提，缺失该配置导致无法按照论文的基准条件启动训练，这是本次复现过程中最根本、最难以绕开的技术阻断点。</a:t>
            </a:r>
            <a:endParaRPr lang="en-US" altLang="en-US" sz="1600">
              <a:solidFill>
                <a:srgbClr val="3C3C3C"/>
              </a:solidFill>
              <a:latin typeface="楷体" panose="02010609060101010101" charset="-122"/>
              <a:ea typeface="楷体" panose="02010609060101010101" charset="-122"/>
              <a:cs typeface="Noto Sans SC" panose="020B0200000000000000" charset="-122"/>
              <a:sym typeface="Noto Sans SC" panose="020B0200000000000000"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3036734" y="1623794"/>
            <a:ext cx="5869668" cy="737877"/>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35132" r="34068"/>
          <a:stretch>
            <a:fillRect/>
          </a:stretch>
        </p:blipFill>
        <p:spPr>
          <a:xfrm>
            <a:off x="0" y="0"/>
            <a:ext cx="2376264" cy="5143500"/>
          </a:xfrm>
          <a:prstGeom prst="rect">
            <a:avLst/>
          </a:prstGeom>
        </p:spPr>
      </p:pic>
      <p:grpSp>
        <p:nvGrpSpPr>
          <p:cNvPr id="3" name="组合 2"/>
          <p:cNvGrpSpPr/>
          <p:nvPr/>
        </p:nvGrpSpPr>
        <p:grpSpPr>
          <a:xfrm>
            <a:off x="645697" y="1023932"/>
            <a:ext cx="2071314" cy="3069126"/>
            <a:chOff x="1475656" y="1023932"/>
            <a:chExt cx="2071314" cy="3069126"/>
          </a:xfrm>
        </p:grpSpPr>
        <p:sp>
          <p:nvSpPr>
            <p:cNvPr id="2" name="矩形 1"/>
            <p:cNvSpPr/>
            <p:nvPr/>
          </p:nvSpPr>
          <p:spPr>
            <a:xfrm>
              <a:off x="1475656" y="1023932"/>
              <a:ext cx="2034790" cy="30691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2700000">
              <a:off x="2592171" y="2073019"/>
              <a:ext cx="956916" cy="95268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3" name="Object 303"/>
          <p:cNvSpPr txBox="1"/>
          <p:nvPr/>
        </p:nvSpPr>
        <p:spPr>
          <a:xfrm>
            <a:off x="878506" y="3012281"/>
            <a:ext cx="1743075" cy="342900"/>
          </a:xfrm>
          <a:prstGeom prst="rect">
            <a:avLst/>
          </a:prstGeom>
        </p:spPr>
        <p:txBody>
          <a:bodyPr vert="horz" rtlCol="0" anchor="t" anchorCtr="0">
            <a:noAutofit/>
          </a:bodyPr>
          <a:lstStyle/>
          <a:p>
            <a:pPr algn="l">
              <a:lnSpc>
                <a:spcPct val="100000"/>
              </a:lnSpc>
            </a:pPr>
            <a:r>
              <a:rPr lang="en-US" altLang="zh-CN" sz="2250" dirty="0">
                <a:solidFill>
                  <a:srgbClr val="FFFFFF"/>
                </a:solidFill>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rPr>
              <a:t>Content</a:t>
            </a:r>
            <a:endParaRPr lang="zh-CN" altLang="en-US" sz="675" dirty="0">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endParaRPr>
          </a:p>
        </p:txBody>
      </p:sp>
      <p:sp>
        <p:nvSpPr>
          <p:cNvPr id="304" name="Object 304"/>
          <p:cNvSpPr txBox="1"/>
          <p:nvPr/>
        </p:nvSpPr>
        <p:spPr>
          <a:xfrm>
            <a:off x="799322" y="2313719"/>
            <a:ext cx="1695450" cy="409575"/>
          </a:xfrm>
          <a:prstGeom prst="rect">
            <a:avLst/>
          </a:prstGeom>
        </p:spPr>
        <p:txBody>
          <a:bodyPr vert="horz" rtlCol="0" anchor="t" anchorCtr="0">
            <a:noAutofit/>
          </a:bodyPr>
          <a:lstStyle/>
          <a:p>
            <a:pPr algn="l">
              <a:lnSpc>
                <a:spcPct val="100000"/>
              </a:lnSpc>
            </a:pPr>
            <a:r>
              <a:rPr lang="zh-CN" altLang="en-US" sz="4000" spc="540" dirty="0">
                <a:solidFill>
                  <a:srgbClr val="FFFFFF"/>
                </a:solidFill>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rPr>
              <a:t>目录</a:t>
            </a:r>
            <a:endParaRPr lang="zh-CN" altLang="en-US" sz="1050" dirty="0">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endParaRPr>
          </a:p>
        </p:txBody>
      </p:sp>
      <p:pic>
        <p:nvPicPr>
          <p:cNvPr id="305" name="image 305"/>
          <p:cNvPicPr>
            <a:picLocks noChangeAspect="1"/>
          </p:cNvPicPr>
          <p:nvPr/>
        </p:nvPicPr>
        <p:blipFill>
          <a:blip r:embed="rId2"/>
          <a:srcRect/>
          <a:stretch>
            <a:fillRect/>
          </a:stretch>
        </p:blipFill>
        <p:spPr>
          <a:xfrm>
            <a:off x="942799" y="2170065"/>
            <a:ext cx="1614488" cy="38100"/>
          </a:xfrm>
          <a:prstGeom prst="rect">
            <a:avLst/>
          </a:prstGeom>
        </p:spPr>
      </p:pic>
      <p:pic>
        <p:nvPicPr>
          <p:cNvPr id="22" name="图片 21"/>
          <p:cNvPicPr>
            <a:picLocks noChangeAspect="1"/>
          </p:cNvPicPr>
          <p:nvPr/>
        </p:nvPicPr>
        <p:blipFill rotWithShape="1">
          <a:blip r:embed="rId3" cstate="screen"/>
          <a:srcRect t="26606" b="23577"/>
          <a:stretch>
            <a:fillRect/>
          </a:stretch>
        </p:blipFill>
        <p:spPr>
          <a:xfrm>
            <a:off x="914225" y="1608604"/>
            <a:ext cx="1180554" cy="366774"/>
          </a:xfrm>
          <a:prstGeom prst="rect">
            <a:avLst/>
          </a:prstGeom>
          <a:effectLst/>
        </p:spPr>
      </p:pic>
      <p:sp>
        <p:nvSpPr>
          <p:cNvPr id="29" name="左箭头 28"/>
          <p:cNvSpPr/>
          <p:nvPr/>
        </p:nvSpPr>
        <p:spPr>
          <a:xfrm flipH="1">
            <a:off x="3024206" y="1623794"/>
            <a:ext cx="702183" cy="737877"/>
          </a:xfrm>
          <a:prstGeom prst="leftArrow">
            <a:avLst>
              <a:gd name="adj1" fmla="val 100000"/>
              <a:gd name="adj2" fmla="val 2805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endParaRPr lang="zh-CN" altLang="en-US" sz="2000" dirty="0">
              <a:latin typeface="+mj-ea"/>
              <a:ea typeface="+mj-ea"/>
            </a:endParaRPr>
          </a:p>
        </p:txBody>
      </p:sp>
      <p:sp>
        <p:nvSpPr>
          <p:cNvPr id="32" name="矩形 31"/>
          <p:cNvSpPr/>
          <p:nvPr/>
        </p:nvSpPr>
        <p:spPr>
          <a:xfrm>
            <a:off x="2843808" y="1767387"/>
            <a:ext cx="984376" cy="506730"/>
          </a:xfrm>
          <a:prstGeom prst="rect">
            <a:avLst/>
          </a:prstGeom>
        </p:spPr>
        <p:txBody>
          <a:bodyPr wrap="square">
            <a:spAutoFit/>
          </a:bodyPr>
          <a:lstStyle/>
          <a:p>
            <a:pPr lvl="0" algn="ctr">
              <a:defRPr/>
            </a:pPr>
            <a:r>
              <a:rPr lang="zh-CN" altLang="en-US" sz="2700" spc="-1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rPr>
              <a:t>二</a:t>
            </a:r>
            <a:endParaRPr lang="zh-CN" altLang="en-US" sz="2700" spc="-1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endParaRPr>
          </a:p>
        </p:txBody>
      </p:sp>
      <p:sp>
        <p:nvSpPr>
          <p:cNvPr id="23" name="矩形 22"/>
          <p:cNvSpPr/>
          <p:nvPr/>
        </p:nvSpPr>
        <p:spPr>
          <a:xfrm>
            <a:off x="3021961" y="1767387"/>
            <a:ext cx="6420323" cy="461665"/>
          </a:xfrm>
          <a:prstGeom prst="rect">
            <a:avLst/>
          </a:prstGeom>
        </p:spPr>
        <p:txBody>
          <a:bodyPr wrap="square">
            <a:spAutoFit/>
          </a:bodyPr>
          <a:lstStyle/>
          <a:p>
            <a:pPr lvl="0" algn="ctr">
              <a:defRPr/>
            </a:pPr>
            <a:r>
              <a:rPr lang="en-US" altLang="zh-CN" sz="2400" spc="-300" dirty="0">
                <a:solidFill>
                  <a:srgbClr val="0070C0"/>
                </a:solidFill>
                <a:latin typeface="Times New Roman" panose="02020603050405020304" pitchFamily="18" charset="0"/>
                <a:ea typeface="+mj-ea"/>
                <a:cs typeface="Times New Roman" panose="02020603050405020304" pitchFamily="18" charset="0"/>
              </a:rPr>
              <a:t>MAPPO</a:t>
            </a:r>
            <a:r>
              <a:rPr lang="zh-CN" altLang="en-US" sz="2400" spc="-300" dirty="0">
                <a:solidFill>
                  <a:srgbClr val="0070C0"/>
                </a:solidFill>
                <a:latin typeface="+mj-ea"/>
                <a:ea typeface="+mj-ea"/>
              </a:rPr>
              <a:t>基线复现与多智能体协作行为优化</a:t>
            </a:r>
            <a:endParaRPr lang="zh-CN" altLang="en-US" sz="2400" spc="-300" dirty="0">
              <a:solidFill>
                <a:srgbClr val="0070C0"/>
              </a:solidFill>
              <a:latin typeface="+mj-ea"/>
              <a:ea typeface="+mj-ea"/>
            </a:endParaRPr>
          </a:p>
        </p:txBody>
      </p:sp>
      <p:sp>
        <p:nvSpPr>
          <p:cNvPr id="14" name="文本框 13"/>
          <p:cNvSpPr txBox="1"/>
          <p:nvPr/>
        </p:nvSpPr>
        <p:spPr>
          <a:xfrm>
            <a:off x="6300733" y="3772694"/>
            <a:ext cx="2593551" cy="461665"/>
          </a:xfrm>
          <a:prstGeom prst="rect">
            <a:avLst/>
          </a:prstGeom>
          <a:noFill/>
        </p:spPr>
        <p:txBody>
          <a:bodyPr wrap="square" rtlCol="0">
            <a:spAutoFit/>
          </a:bodyPr>
          <a:lstStyle/>
          <a:p>
            <a:pPr algn="ctr"/>
            <a:r>
              <a:rPr lang="zh-CN" altLang="en-US" sz="2400" dirty="0">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汇报人：孟家祺</a:t>
            </a:r>
            <a:endParaRPr lang="en-US" altLang="zh-CN" sz="2400" dirty="0">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endParaRPr>
          </a:p>
        </p:txBody>
      </p:sp>
      <p:sp>
        <p:nvSpPr>
          <p:cNvPr id="4" name="AutoShape 2"/>
          <p:cNvSpPr/>
          <p:nvPr>
            <p:custDataLst>
              <p:tags r:id="rId4"/>
            </p:custDataLst>
          </p:nvPr>
        </p:nvSpPr>
        <p:spPr>
          <a:xfrm rot="5400000">
            <a:off x="4749800" y="1104900"/>
            <a:ext cx="609600" cy="4089400"/>
          </a:xfrm>
          <a:prstGeom prst="roundRect">
            <a:avLst>
              <a:gd name="adj" fmla="val 0"/>
            </a:avLst>
          </a:prstGeom>
          <a:gradFill rotWithShape="0">
            <a:gsLst>
              <a:gs pos="0">
                <a:srgbClr val="FFFFFF">
                  <a:alpha val="0"/>
                </a:srgbClr>
              </a:gs>
              <a:gs pos="100000">
                <a:srgbClr val="0070C0">
                  <a:alpha val="100000"/>
                </a:srgbClr>
              </a:gs>
            </a:gsLst>
            <a:lin ang="5400000"/>
          </a:gradFill>
          <a:ln w="25400" cap="flat" cmpd="sng">
            <a:noFill/>
            <a:prstDash val="solid"/>
            <a:round/>
          </a:ln>
        </p:spPr>
        <p:txBody>
          <a:bodyPr vert="horz" wrap="square" lIns="63500" tIns="63500" rIns="63500" bIns="63500" rtlCol="0" anchor="ctr"/>
          <a:p>
            <a:pPr algn="ctr">
              <a:defRPr/>
            </a:pPr>
          </a:p>
        </p:txBody>
      </p:sp>
      <p:sp>
        <p:nvSpPr>
          <p:cNvPr id="5" name="AutoShape 14"/>
          <p:cNvSpPr/>
          <p:nvPr>
            <p:custDataLst>
              <p:tags r:id="rId5"/>
            </p:custDataLst>
          </p:nvPr>
        </p:nvSpPr>
        <p:spPr>
          <a:xfrm>
            <a:off x="3035300" y="2768600"/>
            <a:ext cx="914400" cy="571500"/>
          </a:xfrm>
          <a:prstGeom prst="curvedRightArrow">
            <a:avLst>
              <a:gd name="adj1" fmla="val 25000"/>
              <a:gd name="adj2" fmla="val 50000"/>
              <a:gd name="adj3" fmla="val 25000"/>
            </a:avLst>
          </a:prstGeom>
          <a:solidFill>
            <a:srgbClr val="FFFFFF">
              <a:alpha val="100000"/>
            </a:srgbClr>
          </a:solidFill>
          <a:ln w="12700" cap="flat" cmpd="sng">
            <a:solidFill>
              <a:srgbClr val="0070C0">
                <a:alpha val="100000"/>
              </a:srgbClr>
            </a:solidFill>
            <a:prstDash val="solid"/>
            <a:miter lim="10000000"/>
          </a:ln>
        </p:spPr>
        <p:txBody>
          <a:bodyPr vert="horz" wrap="square" lIns="63500" tIns="63500" rIns="63500" bIns="63500" rtlCol="0" anchor="ctr"/>
          <a:p>
            <a:pPr algn="ctr">
              <a:defRPr/>
            </a:pPr>
          </a:p>
        </p:txBody>
      </p:sp>
      <p:sp>
        <p:nvSpPr>
          <p:cNvPr id="15" name="AutoShape 15"/>
          <p:cNvSpPr/>
          <p:nvPr>
            <p:custDataLst>
              <p:tags r:id="rId6"/>
            </p:custDataLst>
          </p:nvPr>
        </p:nvSpPr>
        <p:spPr>
          <a:xfrm>
            <a:off x="2806700" y="2540000"/>
            <a:ext cx="1460500" cy="6477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ctr">
              <a:lnSpc>
                <a:spcPct val="100000"/>
              </a:lnSpc>
              <a:defRPr/>
            </a:pPr>
            <a:r>
              <a:rPr lang="en-US" sz="3600" b="1" i="0" u="none" strike="noStrike">
                <a:ln w="12700">
                  <a:solidFill>
                    <a:srgbClr val="FFFFFF">
                      <a:alpha val="100000"/>
                    </a:srgbClr>
                  </a:solidFill>
                </a:ln>
                <a:solidFill>
                  <a:srgbClr val="C00000"/>
                </a:solidFill>
                <a:effectLst>
                  <a:outerShdw blurRad="38100" dist="38100" dir="2700000" algn="tl" rotWithShape="0">
                    <a:srgbClr val="000000">
                      <a:alpha val="43000"/>
                    </a:srgbClr>
                  </a:outerShdw>
                </a:effectLst>
                <a:latin typeface="禹卫书法行书简体"/>
                <a:ea typeface="禹卫书法行书简体"/>
                <a:cs typeface="禹卫书法行书简体"/>
                <a:sym typeface="禹卫书法行书简体"/>
              </a:rPr>
              <a:t>挑战</a:t>
            </a:r>
            <a:endParaRPr lang="en-US" sz="1100"/>
          </a:p>
        </p:txBody>
      </p:sp>
      <p:sp>
        <p:nvSpPr>
          <p:cNvPr id="16" name="AutoShape 16"/>
          <p:cNvSpPr/>
          <p:nvPr>
            <p:custDataLst>
              <p:tags r:id="rId7"/>
            </p:custDataLst>
          </p:nvPr>
        </p:nvSpPr>
        <p:spPr>
          <a:xfrm>
            <a:off x="3898900" y="2921000"/>
            <a:ext cx="2222500" cy="5080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l">
              <a:lnSpc>
                <a:spcPct val="100000"/>
              </a:lnSpc>
              <a:defRPr/>
            </a:pPr>
            <a:r>
              <a:rPr lang="en-US" sz="2400" b="1" i="0" u="none" strike="noStrike">
                <a:ln w="12700">
                  <a:solidFill>
                    <a:srgbClr val="FFFFFF">
                      <a:alpha val="100000"/>
                    </a:srgbClr>
                  </a:solidFill>
                </a:ln>
                <a:solidFill>
                  <a:srgbClr val="0070C0"/>
                </a:solidFill>
                <a:effectLst>
                  <a:outerShdw blurRad="38100" dist="38100" dir="2700000" algn="tl" rotWithShape="0">
                    <a:srgbClr val="000000">
                      <a:alpha val="43000"/>
                    </a:srgbClr>
                  </a:outerShdw>
                </a:effectLst>
                <a:latin typeface="方正粗黑宋简体"/>
                <a:ea typeface="方正粗黑宋简体"/>
                <a:cs typeface="方正粗黑宋简体"/>
                <a:sym typeface="方正粗黑宋简体"/>
              </a:rPr>
              <a:t>工程落地壁垒</a:t>
            </a:r>
            <a:endParaRPr lang="en-US" sz="2400"/>
          </a:p>
        </p:txBody>
      </p:sp>
      <p:sp>
        <p:nvSpPr>
          <p:cNvPr id="7" name="AutoShape 14"/>
          <p:cNvSpPr/>
          <p:nvPr>
            <p:custDataLst>
              <p:tags r:id="rId8"/>
            </p:custDataLst>
          </p:nvPr>
        </p:nvSpPr>
        <p:spPr>
          <a:xfrm rot="5400000">
            <a:off x="7899400" y="952500"/>
            <a:ext cx="609600" cy="4394200"/>
          </a:xfrm>
          <a:prstGeom prst="roundRect">
            <a:avLst>
              <a:gd name="adj" fmla="val 0"/>
            </a:avLst>
          </a:prstGeom>
          <a:gradFill rotWithShape="0">
            <a:gsLst>
              <a:gs pos="0">
                <a:srgbClr val="FFFFFF">
                  <a:alpha val="0"/>
                </a:srgbClr>
              </a:gs>
              <a:gs pos="100000">
                <a:srgbClr val="0070C0">
                  <a:alpha val="100000"/>
                </a:srgbClr>
              </a:gs>
            </a:gsLst>
            <a:lin ang="5400000"/>
          </a:gradFill>
          <a:ln w="25400" cap="flat" cmpd="sng">
            <a:noFill/>
            <a:prstDash val="solid"/>
            <a:round/>
          </a:ln>
        </p:spPr>
        <p:txBody>
          <a:bodyPr vert="horz" wrap="square" lIns="63500" tIns="63500" rIns="63500" bIns="63500" rtlCol="0" anchor="ctr"/>
          <a:p>
            <a:pPr algn="ctr">
              <a:defRPr/>
            </a:pPr>
          </a:p>
        </p:txBody>
      </p:sp>
      <p:sp>
        <p:nvSpPr>
          <p:cNvPr id="8" name="AutoShape 15"/>
          <p:cNvSpPr/>
          <p:nvPr>
            <p:custDataLst>
              <p:tags r:id="rId9"/>
            </p:custDataLst>
          </p:nvPr>
        </p:nvSpPr>
        <p:spPr>
          <a:xfrm>
            <a:off x="6896100" y="2921000"/>
            <a:ext cx="3187700" cy="5080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l">
              <a:lnSpc>
                <a:spcPct val="100000"/>
              </a:lnSpc>
              <a:defRPr/>
            </a:pPr>
            <a:r>
              <a:rPr lang="zh-CN" altLang="en-US" sz="24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rPr>
              <a:t>深层运行原理</a:t>
            </a:r>
            <a:endParaRPr lang="zh-CN" altLang="en-US" sz="24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endParaRPr>
          </a:p>
        </p:txBody>
      </p:sp>
      <p:sp>
        <p:nvSpPr>
          <p:cNvPr id="24" name="AutoShape 16"/>
          <p:cNvSpPr/>
          <p:nvPr>
            <p:custDataLst>
              <p:tags r:id="rId10"/>
            </p:custDataLst>
          </p:nvPr>
        </p:nvSpPr>
        <p:spPr>
          <a:xfrm>
            <a:off x="6032500" y="2781300"/>
            <a:ext cx="914400" cy="571500"/>
          </a:xfrm>
          <a:prstGeom prst="curvedRightArrow">
            <a:avLst>
              <a:gd name="adj1" fmla="val 25000"/>
              <a:gd name="adj2" fmla="val 50000"/>
              <a:gd name="adj3" fmla="val 25000"/>
            </a:avLst>
          </a:prstGeom>
          <a:solidFill>
            <a:srgbClr val="FFFFFF">
              <a:alpha val="100000"/>
            </a:srgbClr>
          </a:solidFill>
          <a:ln w="12700" cap="flat" cmpd="sng">
            <a:solidFill>
              <a:srgbClr val="0070C0">
                <a:alpha val="100000"/>
              </a:srgbClr>
            </a:solidFill>
            <a:prstDash val="solid"/>
            <a:miter lim="10000000"/>
          </a:ln>
        </p:spPr>
        <p:txBody>
          <a:bodyPr vert="horz" wrap="square" lIns="63500" tIns="63500" rIns="63500" bIns="63500" rtlCol="0" anchor="ctr"/>
          <a:p>
            <a:pPr algn="ctr">
              <a:defRPr/>
            </a:pPr>
          </a:p>
        </p:txBody>
      </p:sp>
      <p:sp>
        <p:nvSpPr>
          <p:cNvPr id="25" name="AutoShape 17"/>
          <p:cNvSpPr/>
          <p:nvPr>
            <p:custDataLst>
              <p:tags r:id="rId11"/>
            </p:custDataLst>
          </p:nvPr>
        </p:nvSpPr>
        <p:spPr>
          <a:xfrm>
            <a:off x="5816600" y="2527300"/>
            <a:ext cx="1460500" cy="6477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ctr">
              <a:lnSpc>
                <a:spcPct val="100000"/>
              </a:lnSpc>
              <a:defRPr/>
            </a:pPr>
            <a:r>
              <a:rPr lang="en-US" sz="3600" b="1" i="0" u="none" strike="noStrike">
                <a:ln w="12700">
                  <a:solidFill>
                    <a:srgbClr val="FFFFFF">
                      <a:alpha val="100000"/>
                    </a:srgbClr>
                  </a:solidFill>
                </a:ln>
                <a:solidFill>
                  <a:srgbClr val="C00000"/>
                </a:solidFill>
                <a:effectLst>
                  <a:outerShdw blurRad="38100" dist="38100" dir="2700000" algn="tl" rotWithShape="0">
                    <a:srgbClr val="000000">
                      <a:alpha val="43100"/>
                    </a:srgbClr>
                  </a:outerShdw>
                </a:effectLst>
                <a:latin typeface="禹卫书法行书简体"/>
                <a:ea typeface="禹卫书法行书简体"/>
                <a:cs typeface="禹卫书法行书简体"/>
                <a:sym typeface="禹卫书法行书简体"/>
              </a:rPr>
              <a:t>剖析</a:t>
            </a:r>
            <a:endParaRPr lang="en-US" sz="110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1" cstate="print">
            <a:extLst>
              <a:ext uri="{28A0092B-C50C-407E-A947-70E740481C1C}">
                <a14:useLocalDpi xmlns:a14="http://schemas.microsoft.com/office/drawing/2010/main" val="0"/>
              </a:ext>
            </a:extLst>
          </a:blip>
          <a:srcRect t="27384" b="23262"/>
          <a:stretch>
            <a:fillRect/>
          </a:stretch>
        </p:blipFill>
        <p:spPr>
          <a:xfrm>
            <a:off x="7681201" y="276592"/>
            <a:ext cx="1231162" cy="378945"/>
          </a:xfrm>
          <a:prstGeom prst="rect">
            <a:avLst/>
          </a:prstGeom>
        </p:spPr>
      </p:pic>
      <p:cxnSp>
        <p:nvCxnSpPr>
          <p:cNvPr id="19" name="直接连接符 18"/>
          <p:cNvCxnSpPr/>
          <p:nvPr/>
        </p:nvCxnSpPr>
        <p:spPr>
          <a:xfrm>
            <a:off x="179805" y="694107"/>
            <a:ext cx="6840000"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28" name="AutoShape 4"/>
          <p:cNvSpPr/>
          <p:nvPr/>
        </p:nvSpPr>
        <p:spPr>
          <a:xfrm>
            <a:off x="1043608" y="60187"/>
            <a:ext cx="107696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2400" b="1" spc="-113" dirty="0">
              <a:ln w="12700">
                <a:noFill/>
              </a:ln>
              <a:solidFill>
                <a:srgbClr val="0070C0"/>
              </a:solidFill>
              <a:ea typeface="方正粗黑宋简体" panose="02000000000000000000" pitchFamily="2" charset="-122"/>
            </a:endParaRPr>
          </a:p>
        </p:txBody>
      </p:sp>
      <p:sp>
        <p:nvSpPr>
          <p:cNvPr id="29" name="AutoShape 5"/>
          <p:cNvSpPr/>
          <p:nvPr/>
        </p:nvSpPr>
        <p:spPr>
          <a:xfrm>
            <a:off x="231637" y="579800"/>
            <a:ext cx="8732558" cy="1079500"/>
          </a:xfrm>
          <a:prstGeom prst="rect">
            <a:avLst/>
          </a:prstGeom>
          <a:noFill/>
          <a:ln w="12700" cap="flat" cmpd="sng">
            <a:noFill/>
            <a:prstDash val="solid"/>
            <a:round/>
          </a:ln>
        </p:spPr>
        <p:txBody>
          <a:bodyPr vert="horz" wrap="square" lIns="0" tIns="0" rIns="0" bIns="0" rtlCol="0" anchor="ctr" anchorCtr="0"/>
          <a:lstStyle/>
          <a:p>
            <a:pPr marL="0" indent="0">
              <a:lnSpc>
                <a:spcPct val="117000"/>
              </a:lnSpc>
              <a:defRPr/>
            </a:pPr>
            <a:r>
              <a:rPr lang="en-US" sz="14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在 Simple Spread 多智能体协作任务中，多个智能体需协同探索并覆盖目标位置以完成任务，然而训练过程中易出现智能体重复抢占同一目标点、动作空间冲突等问题，</a:t>
            </a:r>
            <a:r>
              <a:rPr lang="zh-CN" altLang="en-US" sz="1400" dirty="0">
                <a:latin typeface="楷体" panose="02010609060101010101" charset="-122"/>
                <a:ea typeface="楷体" panose="02010609060101010101" charset="-122"/>
                <a:cs typeface="楷体" panose="02010609060101010101" charset="-122"/>
              </a:rPr>
              <a:t>可能导致目标分配不合理和路径冲突，因此需要进一步分析并优化</a:t>
            </a:r>
            <a:r>
              <a:rPr lang="en-US" altLang="zh-CN" sz="1400" dirty="0">
                <a:latin typeface="楷体" panose="02010609060101010101" charset="-122"/>
                <a:ea typeface="楷体" panose="02010609060101010101" charset="-122"/>
                <a:cs typeface="楷体" panose="02010609060101010101" charset="-122"/>
              </a:rPr>
              <a:t>Agent</a:t>
            </a:r>
            <a:r>
              <a:rPr lang="zh-CN" altLang="en-US" sz="1400" dirty="0">
                <a:latin typeface="楷体" panose="02010609060101010101" charset="-122"/>
                <a:ea typeface="楷体" panose="02010609060101010101" charset="-122"/>
                <a:cs typeface="楷体" panose="02010609060101010101" charset="-122"/>
              </a:rPr>
              <a:t>的协作行为。</a:t>
            </a:r>
            <a:endParaRPr lang="en-US" sz="1400" dirty="0">
              <a:latin typeface="楷体" panose="02010609060101010101" charset="-122"/>
              <a:ea typeface="楷体" panose="02010609060101010101" charset="-122"/>
              <a:cs typeface="楷体" panose="02010609060101010101" charset="-122"/>
            </a:endParaRPr>
          </a:p>
        </p:txBody>
      </p:sp>
      <p:sp>
        <p:nvSpPr>
          <p:cNvPr id="30" name="AutoShape 6"/>
          <p:cNvSpPr/>
          <p:nvPr>
            <p:custDataLst>
              <p:tags r:id="rId2"/>
            </p:custDataLst>
          </p:nvPr>
        </p:nvSpPr>
        <p:spPr>
          <a:xfrm>
            <a:off x="212429" y="1594639"/>
            <a:ext cx="1975296" cy="1143000"/>
          </a:xfrm>
          <a:prstGeom prst="roundRect">
            <a:avLst>
              <a:gd name="adj" fmla="val 0"/>
            </a:avLst>
          </a:prstGeom>
          <a:solidFill>
            <a:srgbClr val="64FFDA">
              <a:alpha val="8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31" name="AutoShape 7"/>
          <p:cNvSpPr/>
          <p:nvPr>
            <p:custDataLst>
              <p:tags r:id="rId3"/>
            </p:custDataLst>
          </p:nvPr>
        </p:nvSpPr>
        <p:spPr>
          <a:xfrm>
            <a:off x="339429" y="1696239"/>
            <a:ext cx="1807809"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01 </a:t>
            </a:r>
            <a:r>
              <a:rPr lang="en-US" sz="1600" b="1"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环境构建</a:t>
            </a:r>
            <a:endParaRPr lang="en-US" sz="1100" dirty="0">
              <a:solidFill>
                <a:schemeClr val="tx1"/>
              </a:solidFill>
              <a:latin typeface="楷体" panose="02010609060101010101" charset="-122"/>
              <a:ea typeface="楷体" panose="02010609060101010101" charset="-122"/>
              <a:cs typeface="楷体" panose="02010609060101010101" charset="-122"/>
            </a:endParaRPr>
          </a:p>
          <a:p>
            <a:pPr marL="0" indent="0" algn="l">
              <a:lnSpc>
                <a:spcPct val="108000"/>
              </a:lnSpc>
            </a:pPr>
            <a:r>
              <a:rPr lang="en-US" sz="11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部署</a:t>
            </a:r>
            <a:r>
              <a:rPr lang="en-US" sz="11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 Simple Spread </a:t>
            </a:r>
            <a:r>
              <a:rPr lang="en-US" sz="11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标准场景，配置多智能体交互与目标生成参数，建立实验基础环境</a:t>
            </a:r>
            <a:r>
              <a:rPr lang="en-US" sz="11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a:t>
            </a:r>
            <a:endParaRPr lang="en-US" sz="11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endParaRPr>
          </a:p>
        </p:txBody>
      </p:sp>
      <p:sp>
        <p:nvSpPr>
          <p:cNvPr id="32" name="AutoShape 8"/>
          <p:cNvSpPr/>
          <p:nvPr>
            <p:custDataLst>
              <p:tags r:id="rId4"/>
            </p:custDataLst>
          </p:nvPr>
        </p:nvSpPr>
        <p:spPr>
          <a:xfrm>
            <a:off x="2397341" y="1582263"/>
            <a:ext cx="1975296" cy="1143000"/>
          </a:xfrm>
          <a:prstGeom prst="roundRect">
            <a:avLst>
              <a:gd name="adj" fmla="val 0"/>
            </a:avLst>
          </a:prstGeom>
          <a:solidFill>
            <a:srgbClr val="64FFDA">
              <a:alpha val="8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33" name="AutoShape 9"/>
          <p:cNvSpPr/>
          <p:nvPr>
            <p:custDataLst>
              <p:tags r:id="rId5"/>
            </p:custDataLst>
          </p:nvPr>
        </p:nvSpPr>
        <p:spPr>
          <a:xfrm>
            <a:off x="2484377" y="1564311"/>
            <a:ext cx="1846827"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02 </a:t>
            </a:r>
            <a:r>
              <a:rPr lang="en-US" sz="1600" b="1"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基线训练</a:t>
            </a:r>
            <a:endParaRPr lang="en-US" sz="1100" dirty="0">
              <a:solidFill>
                <a:schemeClr val="tx1"/>
              </a:solidFill>
              <a:latin typeface="楷体" panose="02010609060101010101" charset="-122"/>
              <a:ea typeface="楷体" panose="02010609060101010101" charset="-122"/>
              <a:cs typeface="楷体" panose="02010609060101010101" charset="-122"/>
            </a:endParaRPr>
          </a:p>
          <a:p>
            <a:pPr marL="0" indent="0" algn="l">
              <a:lnSpc>
                <a:spcPct val="108000"/>
              </a:lnSpc>
            </a:pPr>
            <a:r>
              <a:rPr lang="zh-CN" altLang="en-US" sz="1100" dirty="0">
                <a:latin typeface="楷体" panose="02010609060101010101" charset="-122"/>
                <a:ea typeface="楷体" panose="02010609060101010101" charset="-122"/>
                <a:cs typeface="楷体" panose="02010609060101010101" charset="-122"/>
              </a:rPr>
              <a:t>使用</a:t>
            </a:r>
            <a:r>
              <a:rPr lang="en-US" altLang="zh-CN" sz="1100" dirty="0">
                <a:latin typeface="楷体" panose="02010609060101010101" charset="-122"/>
                <a:ea typeface="楷体" panose="02010609060101010101" charset="-122"/>
                <a:cs typeface="楷体" panose="02010609060101010101" charset="-122"/>
              </a:rPr>
              <a:t>MAPPO</a:t>
            </a:r>
            <a:r>
              <a:rPr lang="zh-CN" altLang="en-US" sz="1100" dirty="0">
                <a:latin typeface="楷体" panose="02010609060101010101" charset="-122"/>
                <a:ea typeface="楷体" panose="02010609060101010101" charset="-122"/>
                <a:cs typeface="楷体" panose="02010609060101010101" charset="-122"/>
              </a:rPr>
              <a:t>算法完成基线训练，记录训练曲线和模型性能。</a:t>
            </a:r>
            <a:endParaRPr lang="en-US" sz="1100" dirty="0">
              <a:latin typeface="楷体" panose="02010609060101010101" charset="-122"/>
              <a:ea typeface="楷体" panose="02010609060101010101" charset="-122"/>
              <a:cs typeface="楷体" panose="02010609060101010101" charset="-122"/>
              <a:sym typeface="Noto Sans SC" panose="020B0200000000000000" charset="-122"/>
            </a:endParaRPr>
          </a:p>
        </p:txBody>
      </p:sp>
      <p:sp>
        <p:nvSpPr>
          <p:cNvPr id="34" name="AutoShape 10"/>
          <p:cNvSpPr/>
          <p:nvPr>
            <p:custDataLst>
              <p:tags r:id="rId6"/>
            </p:custDataLst>
          </p:nvPr>
        </p:nvSpPr>
        <p:spPr>
          <a:xfrm>
            <a:off x="4528258" y="1594639"/>
            <a:ext cx="2055314" cy="1143000"/>
          </a:xfrm>
          <a:prstGeom prst="roundRect">
            <a:avLst>
              <a:gd name="adj" fmla="val 0"/>
            </a:avLst>
          </a:prstGeom>
          <a:solidFill>
            <a:srgbClr val="64FFDA">
              <a:alpha val="8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35" name="AutoShape 11"/>
          <p:cNvSpPr/>
          <p:nvPr>
            <p:custDataLst>
              <p:tags r:id="rId7"/>
            </p:custDataLst>
          </p:nvPr>
        </p:nvSpPr>
        <p:spPr>
          <a:xfrm>
            <a:off x="4597916" y="1582130"/>
            <a:ext cx="1960471"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03 </a:t>
            </a:r>
            <a:r>
              <a:rPr lang="en-US" sz="1600" b="1"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行为诊断</a:t>
            </a:r>
            <a:endParaRPr lang="en-US" sz="1100" dirty="0">
              <a:solidFill>
                <a:schemeClr val="tx1"/>
              </a:solidFill>
              <a:latin typeface="楷体" panose="02010609060101010101" charset="-122"/>
              <a:ea typeface="楷体" panose="02010609060101010101" charset="-122"/>
              <a:cs typeface="楷体" panose="02010609060101010101" charset="-122"/>
            </a:endParaRPr>
          </a:p>
          <a:p>
            <a:pPr marL="0" indent="0" algn="l">
              <a:lnSpc>
                <a:spcPct val="108000"/>
              </a:lnSpc>
            </a:pPr>
            <a:r>
              <a:rPr lang="en-US" sz="11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通过可视化轨迹分析智能体的空间分布与动作选择</a:t>
            </a:r>
            <a:r>
              <a:rPr lang="en-US" sz="11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100" dirty="0">
                <a:latin typeface="楷体" panose="02010609060101010101" charset="-122"/>
                <a:ea typeface="楷体" panose="02010609060101010101" charset="-122"/>
                <a:cs typeface="楷体" panose="02010609060101010101" charset="-122"/>
                <a:sym typeface="Noto Sans SC" panose="020B0200000000000000" charset="-122"/>
              </a:rPr>
              <a:t>观察</a:t>
            </a:r>
            <a:r>
              <a:rPr lang="en-US" sz="11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重复占点与路径冲突</a:t>
            </a:r>
            <a:r>
              <a:rPr lang="zh-CN" altLang="en-US" sz="11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等行为现象</a:t>
            </a:r>
            <a:r>
              <a:rPr lang="en-US" sz="11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a:t>
            </a:r>
            <a:endParaRPr lang="en-US" sz="11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endParaRPr>
          </a:p>
        </p:txBody>
      </p:sp>
      <p:sp>
        <p:nvSpPr>
          <p:cNvPr id="36" name="AutoShape 12"/>
          <p:cNvSpPr/>
          <p:nvPr>
            <p:custDataLst>
              <p:tags r:id="rId8"/>
            </p:custDataLst>
          </p:nvPr>
        </p:nvSpPr>
        <p:spPr>
          <a:xfrm>
            <a:off x="6662695" y="1582263"/>
            <a:ext cx="2271339" cy="1143000"/>
          </a:xfrm>
          <a:prstGeom prst="roundRect">
            <a:avLst>
              <a:gd name="adj" fmla="val 0"/>
            </a:avLst>
          </a:prstGeom>
          <a:solidFill>
            <a:srgbClr val="64FFDA">
              <a:alpha val="8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37" name="AutoShape 13"/>
          <p:cNvSpPr/>
          <p:nvPr>
            <p:custDataLst>
              <p:tags r:id="rId9"/>
            </p:custDataLst>
          </p:nvPr>
        </p:nvSpPr>
        <p:spPr>
          <a:xfrm>
            <a:off x="6700821" y="1659855"/>
            <a:ext cx="2170345"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04 </a:t>
            </a:r>
            <a:r>
              <a:rPr lang="zh-CN" altLang="en-US" sz="1600" b="1" dirty="0">
                <a:latin typeface="楷体" panose="02010609060101010101" charset="-122"/>
                <a:ea typeface="楷体" panose="02010609060101010101" charset="-122"/>
                <a:cs typeface="楷体" panose="02010609060101010101" charset="-122"/>
                <a:sym typeface="Noto Sans SC" panose="020B0200000000000000" charset="-122"/>
              </a:rPr>
              <a:t>行为评估</a:t>
            </a:r>
            <a:endParaRPr lang="en-US" sz="1100" dirty="0">
              <a:solidFill>
                <a:schemeClr val="tx1"/>
              </a:solidFill>
              <a:latin typeface="楷体" panose="02010609060101010101" charset="-122"/>
              <a:ea typeface="楷体" panose="02010609060101010101" charset="-122"/>
              <a:cs typeface="楷体" panose="02010609060101010101" charset="-122"/>
            </a:endParaRPr>
          </a:p>
          <a:p>
            <a:pPr marL="0" indent="0" algn="l">
              <a:lnSpc>
                <a:spcPct val="108000"/>
              </a:lnSpc>
            </a:pPr>
            <a:r>
              <a:rPr lang="zh-CN" altLang="en-US" sz="1100" dirty="0">
                <a:latin typeface="楷体" panose="02010609060101010101" charset="-122"/>
                <a:ea typeface="楷体" panose="02010609060101010101" charset="-122"/>
                <a:cs typeface="楷体" panose="02010609060101010101" charset="-122"/>
              </a:rPr>
              <a:t>引入 </a:t>
            </a:r>
            <a:r>
              <a:rPr lang="en-US" altLang="zh-CN" sz="1100" dirty="0">
                <a:latin typeface="楷体" panose="02010609060101010101" charset="-122"/>
                <a:ea typeface="楷体" panose="02010609060101010101" charset="-122"/>
                <a:cs typeface="楷体" panose="02010609060101010101" charset="-122"/>
              </a:rPr>
              <a:t>Duplicate Penalty </a:t>
            </a:r>
            <a:r>
              <a:rPr lang="zh-CN" altLang="en-US" sz="1100" dirty="0">
                <a:latin typeface="楷体" panose="02010609060101010101" charset="-122"/>
                <a:ea typeface="楷体" panose="02010609060101010101" charset="-122"/>
                <a:cs typeface="楷体" panose="02010609060101010101" charset="-122"/>
              </a:rPr>
              <a:t>奖励机制，并通过 </a:t>
            </a:r>
            <a:r>
              <a:rPr lang="en-US" altLang="zh-CN" sz="1100" dirty="0">
                <a:latin typeface="楷体" panose="02010609060101010101" charset="-122"/>
                <a:ea typeface="楷体" panose="02010609060101010101" charset="-122"/>
                <a:cs typeface="楷体" panose="02010609060101010101" charset="-122"/>
              </a:rPr>
              <a:t>Reward</a:t>
            </a:r>
            <a:r>
              <a:rPr lang="zh-CN" altLang="en-US" sz="1100" dirty="0">
                <a:latin typeface="楷体" panose="02010609060101010101" charset="-122"/>
                <a:ea typeface="楷体" panose="02010609060101010101" charset="-122"/>
                <a:cs typeface="楷体" panose="02010609060101010101" charset="-122"/>
              </a:rPr>
              <a:t>、目标覆盖、重复占点和碰撞次数等指标，对比分析改进前后的 </a:t>
            </a:r>
            <a:r>
              <a:rPr lang="en-US" altLang="zh-CN" sz="1100" dirty="0">
                <a:latin typeface="楷体" panose="02010609060101010101" charset="-122"/>
                <a:ea typeface="楷体" panose="02010609060101010101" charset="-122"/>
                <a:cs typeface="楷体" panose="02010609060101010101" charset="-122"/>
              </a:rPr>
              <a:t>Agent </a:t>
            </a:r>
            <a:r>
              <a:rPr lang="zh-CN" altLang="en-US" sz="1100" dirty="0">
                <a:latin typeface="楷体" panose="02010609060101010101" charset="-122"/>
                <a:ea typeface="楷体" panose="02010609060101010101" charset="-122"/>
                <a:cs typeface="楷体" panose="02010609060101010101" charset="-122"/>
              </a:rPr>
              <a:t>协作行为。</a:t>
            </a:r>
            <a:endParaRPr lang="en-US" sz="1100" dirty="0">
              <a:latin typeface="楷体" panose="02010609060101010101" charset="-122"/>
              <a:ea typeface="楷体" panose="02010609060101010101" charset="-122"/>
              <a:cs typeface="楷体" panose="02010609060101010101" charset="-122"/>
              <a:sym typeface="Noto Sans SC" panose="020B0200000000000000" charset="-122"/>
            </a:endParaRPr>
          </a:p>
        </p:txBody>
      </p:sp>
      <p:sp>
        <p:nvSpPr>
          <p:cNvPr id="38" name="AutoShape 14"/>
          <p:cNvSpPr/>
          <p:nvPr/>
        </p:nvSpPr>
        <p:spPr>
          <a:xfrm>
            <a:off x="212429" y="2787946"/>
            <a:ext cx="2703387"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核心工作贡献</a:t>
            </a:r>
            <a:endParaRPr lang="en-US" sz="1100" dirty="0">
              <a:solidFill>
                <a:schemeClr val="tx1"/>
              </a:solidFill>
              <a:latin typeface="楷体" panose="02010609060101010101" charset="-122"/>
              <a:ea typeface="楷体" panose="02010609060101010101" charset="-122"/>
            </a:endParaRPr>
          </a:p>
        </p:txBody>
      </p:sp>
      <p:sp>
        <p:nvSpPr>
          <p:cNvPr id="40" name="AutoShape 16"/>
          <p:cNvSpPr/>
          <p:nvPr/>
        </p:nvSpPr>
        <p:spPr>
          <a:xfrm>
            <a:off x="179705" y="3075940"/>
            <a:ext cx="5511800" cy="16560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复现</a:t>
            </a:r>
            <a:r>
              <a:rPr lang="en-US" sz="12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 MAPPO </a:t>
            </a:r>
            <a:r>
              <a:rPr lang="en-US" sz="12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核心训练流程，搭建稳定的多智能体强化学习实验框架</a:t>
            </a:r>
            <a:r>
              <a:rPr lang="en-US" sz="12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a:t>
            </a:r>
            <a:endParaRPr lang="en-US" sz="12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endParaRPr>
          </a:p>
          <a:p>
            <a:pPr marL="0" indent="0" algn="l">
              <a:lnSpc>
                <a:spcPct val="125000"/>
              </a:lnSpc>
              <a:defRPr/>
            </a:pPr>
            <a:endParaRPr lang="en-US" sz="12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endParaRPr>
          </a:p>
          <a:p>
            <a:pPr>
              <a:lnSpc>
                <a:spcPct val="125000"/>
              </a:lnSpc>
              <a:defRPr/>
            </a:pPr>
            <a:r>
              <a:rPr lang="en-US" altLang="zh-CN" sz="12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设计并实现</a:t>
            </a:r>
            <a:r>
              <a:rPr lang="en-US" altLang="zh-CN" sz="12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 Duplicate Penalty </a:t>
            </a:r>
            <a:r>
              <a:rPr lang="en-US" altLang="zh-CN" sz="12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惩罚机制</a:t>
            </a:r>
            <a:r>
              <a:rPr lang="en-US" altLang="zh-CN" sz="12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2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尝试减少</a:t>
            </a:r>
            <a:r>
              <a:rPr lang="en-US" altLang="zh-CN" sz="12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智能体间的重复占点行为</a:t>
            </a:r>
            <a:r>
              <a:rPr lang="en-US" altLang="zh-CN" sz="12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a:t>
            </a:r>
            <a:endParaRPr lang="en-US" altLang="zh-CN" sz="12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endParaRPr>
          </a:p>
          <a:p>
            <a:pPr>
              <a:lnSpc>
                <a:spcPct val="125000"/>
              </a:lnSpc>
              <a:defRPr/>
            </a:pPr>
            <a:endParaRPr lang="en-US" altLang="zh-CN" sz="12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endParaRPr>
          </a:p>
          <a:p>
            <a:pPr>
              <a:lnSpc>
                <a:spcPct val="125000"/>
              </a:lnSpc>
              <a:defRPr/>
            </a:pPr>
            <a:r>
              <a:rPr lang="en-US" altLang="zh-CN" sz="12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构建协作效率评价指标体系，量化分析改进前后的智能体</a:t>
            </a:r>
            <a:r>
              <a:rPr lang="zh-CN" altLang="en-US" sz="1200" dirty="0">
                <a:latin typeface="楷体" panose="02010609060101010101" charset="-122"/>
                <a:ea typeface="楷体" panose="02010609060101010101" charset="-122"/>
                <a:cs typeface="楷体" panose="02010609060101010101" charset="-122"/>
                <a:sym typeface="Noto Sans SC" panose="020B0200000000000000" charset="-122"/>
              </a:rPr>
              <a:t>任务表现与协作行为差异</a:t>
            </a:r>
            <a:r>
              <a:rPr lang="en-US" altLang="zh-CN" sz="12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a:t>
            </a:r>
            <a:endParaRPr lang="en-US" altLang="zh-CN" sz="1200" dirty="0">
              <a:solidFill>
                <a:schemeClr val="tx1"/>
              </a:solidFill>
              <a:latin typeface="楷体" panose="02010609060101010101" charset="-122"/>
              <a:ea typeface="楷体" panose="02010609060101010101" charset="-122"/>
              <a:cs typeface="楷体" panose="02010609060101010101" charset="-122"/>
            </a:endParaRPr>
          </a:p>
        </p:txBody>
      </p:sp>
      <p:sp>
        <p:nvSpPr>
          <p:cNvPr id="42" name="AutoShape 18"/>
          <p:cNvSpPr/>
          <p:nvPr/>
        </p:nvSpPr>
        <p:spPr>
          <a:xfrm>
            <a:off x="390228" y="3896656"/>
            <a:ext cx="5333999"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200" dirty="0">
              <a:solidFill>
                <a:schemeClr val="tx1"/>
              </a:solidFill>
            </a:endParaRPr>
          </a:p>
        </p:txBody>
      </p:sp>
      <p:sp>
        <p:nvSpPr>
          <p:cNvPr id="2" name="AutoShape 2" descr="简单分配任务示意图"/>
          <p:cNvSpPr>
            <a:spLocks noChangeAspect="1" noChangeArrowheads="1"/>
          </p:cNvSpPr>
          <p:nvPr/>
        </p:nvSpPr>
        <p:spPr bwMode="auto">
          <a:xfrm>
            <a:off x="4308502" y="194467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4" name="图片 3"/>
          <p:cNvPicPr>
            <a:picLocks noChangeAspect="1"/>
          </p:cNvPicPr>
          <p:nvPr/>
        </p:nvPicPr>
        <p:blipFill>
          <a:blip r:embed="rId10"/>
          <a:stretch>
            <a:fillRect/>
          </a:stretch>
        </p:blipFill>
        <p:spPr>
          <a:xfrm>
            <a:off x="5724307" y="2931909"/>
            <a:ext cx="3237613" cy="1745925"/>
          </a:xfrm>
          <a:prstGeom prst="rect">
            <a:avLst/>
          </a:prstGeom>
        </p:spPr>
      </p:pic>
      <p:sp>
        <p:nvSpPr>
          <p:cNvPr id="3" name="矩形 2"/>
          <p:cNvSpPr/>
          <p:nvPr/>
        </p:nvSpPr>
        <p:spPr>
          <a:xfrm>
            <a:off x="179705" y="247650"/>
            <a:ext cx="6915150" cy="407670"/>
          </a:xfrm>
          <a:prstGeom prst="rect">
            <a:avLst/>
          </a:prstGeom>
        </p:spPr>
        <p:txBody>
          <a:bodyPr wrap="square">
            <a:noAutofit/>
          </a:bodyPr>
          <a:lstStyle/>
          <a:p>
            <a:pPr>
              <a:defRPr/>
            </a:pP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一、</a:t>
            </a:r>
            <a:r>
              <a:rPr lang="en-US" altLang="zh-CN" sz="2400" b="1" spc="-113" dirty="0" err="1">
                <a:ln w="12700">
                  <a:noFill/>
                </a:ln>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MAPPO基线复现与协作行为优化</a:t>
            </a:r>
            <a:endParaRPr lang="en-US" altLang="zh-CN" sz="2400" b="1" spc="-113" dirty="0">
              <a:ln w="12700">
                <a:noFill/>
              </a:ln>
              <a:solidFill>
                <a:srgbClr val="0070C0"/>
              </a:solidFill>
              <a:latin typeface="楷体" panose="02010609060101010101" charset="-122"/>
              <a:ea typeface="楷体" panose="02010609060101010101" charset="-122"/>
              <a:cs typeface="楷体" panose="02010609060101010101"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1" cstate="print">
            <a:extLst>
              <a:ext uri="{28A0092B-C50C-407E-A947-70E740481C1C}">
                <a14:useLocalDpi xmlns:a14="http://schemas.microsoft.com/office/drawing/2010/main" val="0"/>
              </a:ext>
            </a:extLst>
          </a:blip>
          <a:srcRect t="27384" b="23262"/>
          <a:stretch>
            <a:fillRect/>
          </a:stretch>
        </p:blipFill>
        <p:spPr>
          <a:xfrm>
            <a:off x="7681201" y="276592"/>
            <a:ext cx="1231162" cy="378945"/>
          </a:xfrm>
          <a:prstGeom prst="rect">
            <a:avLst/>
          </a:prstGeom>
        </p:spPr>
      </p:pic>
      <p:sp>
        <p:nvSpPr>
          <p:cNvPr id="18" name="矩形 17"/>
          <p:cNvSpPr/>
          <p:nvPr/>
        </p:nvSpPr>
        <p:spPr>
          <a:xfrm>
            <a:off x="179070" y="233680"/>
            <a:ext cx="6915150" cy="412115"/>
          </a:xfrm>
          <a:prstGeom prst="rect">
            <a:avLst/>
          </a:prstGeom>
        </p:spPr>
        <p:txBody>
          <a:bodyPr wrap="square">
            <a:noAutofit/>
          </a:bodyPr>
          <a:lstStyle/>
          <a:p>
            <a:pPr>
              <a:defRPr/>
            </a:pP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sym typeface="+mn-ea"/>
              </a:rPr>
              <a:t>二、</a:t>
            </a:r>
            <a:r>
              <a:rPr lang="en-US" altLang="zh-CN" sz="2400" b="1" spc="-113" dirty="0" err="1">
                <a:ln w="12700">
                  <a:noFill/>
                </a:ln>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MAPPO基线复现与有效性验证</a:t>
            </a:r>
            <a:endParaRPr lang="en-US" altLang="zh-CN" sz="2400" b="1" spc="-113" dirty="0">
              <a:ln w="12700">
                <a:noFill/>
              </a:ln>
              <a:solidFill>
                <a:srgbClr val="0070C0"/>
              </a:solidFill>
              <a:latin typeface="楷体" panose="02010609060101010101" charset="-122"/>
              <a:ea typeface="楷体" panose="02010609060101010101" charset="-122"/>
              <a:cs typeface="楷体" panose="02010609060101010101" charset="-122"/>
            </a:endParaRPr>
          </a:p>
        </p:txBody>
      </p:sp>
      <p:cxnSp>
        <p:nvCxnSpPr>
          <p:cNvPr id="19" name="直接连接符 18"/>
          <p:cNvCxnSpPr/>
          <p:nvPr/>
        </p:nvCxnSpPr>
        <p:spPr>
          <a:xfrm>
            <a:off x="179805" y="694107"/>
            <a:ext cx="6840000"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7" name="AutoShape 8"/>
          <p:cNvSpPr/>
          <p:nvPr/>
        </p:nvSpPr>
        <p:spPr>
          <a:xfrm>
            <a:off x="5710580" y="868806"/>
            <a:ext cx="3384376"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latin typeface="Noto Sans SC" panose="020B0200000000000000" charset="-122"/>
                <a:ea typeface="Noto Sans SC" panose="020B0200000000000000" charset="-122"/>
                <a:cs typeface="Noto Sans SC" panose="020B0200000000000000" charset="-122"/>
                <a:sym typeface="Noto Sans SC" panose="020B0200000000000000" charset="-122"/>
              </a:rPr>
              <a:t>模型性能对比</a:t>
            </a:r>
            <a:r>
              <a:rPr lang="en-US" sz="1600" b="1" i="0" u="none" strike="noStrike" dirty="0">
                <a:latin typeface="Noto Sans SC" panose="020B0200000000000000" charset="-122"/>
                <a:ea typeface="Noto Sans SC" panose="020B0200000000000000" charset="-122"/>
                <a:cs typeface="Noto Sans SC" panose="020B0200000000000000" charset="-122"/>
                <a:sym typeface="Noto Sans SC" panose="020B0200000000000000" charset="-122"/>
              </a:rPr>
              <a:t> (Episode Reward)</a:t>
            </a:r>
            <a:endParaRPr lang="en-US" sz="1600" dirty="0"/>
          </a:p>
        </p:txBody>
      </p:sp>
      <p:graphicFrame>
        <p:nvGraphicFramePr>
          <p:cNvPr id="8" name="Table 9"/>
          <p:cNvGraphicFramePr>
            <a:graphicFrameLocks noGrp="1"/>
          </p:cNvGraphicFramePr>
          <p:nvPr/>
        </p:nvGraphicFramePr>
        <p:xfrm>
          <a:off x="5408973" y="1409878"/>
          <a:ext cx="3503390" cy="1352130"/>
        </p:xfrm>
        <a:graphic>
          <a:graphicData uri="http://schemas.openxmlformats.org/drawingml/2006/table">
            <a:tbl>
              <a:tblPr>
                <a:tableStyleId>{3C2FFA5D-87B4-456A-9821-1D502468CF0F}</a:tableStyleId>
              </a:tblPr>
              <a:tblGrid>
                <a:gridCol w="2089518"/>
                <a:gridCol w="1413872"/>
              </a:tblGrid>
              <a:tr h="450710">
                <a:tc>
                  <a:txBody>
                    <a:bodyPr/>
                    <a:lstStyle/>
                    <a:p>
                      <a:pPr marL="0" indent="0" algn="ctr">
                        <a:lnSpc>
                          <a:spcPct val="100000"/>
                        </a:lnSpc>
                        <a:defRPr/>
                      </a:pPr>
                      <a:r>
                        <a:rPr lang="en-US" sz="1200" b="1" u="none" strike="noStrike" dirty="0" err="1">
                          <a:solidFill>
                            <a:srgbClr val="0A192F"/>
                          </a:solidFill>
                          <a:sym typeface="Noto Sans SC" panose="020B0200000000000000" charset="-122"/>
                        </a:rPr>
                        <a:t>策略模型</a:t>
                      </a:r>
                      <a:endParaRPr lang="en-US" sz="1200" dirty="0"/>
                    </a:p>
                  </a:txBody>
                  <a:tcPr marL="101600" marR="101600" marT="101600" marB="101600" anchor="ctr"/>
                </a:tc>
                <a:tc>
                  <a:txBody>
                    <a:bodyPr/>
                    <a:lstStyle/>
                    <a:p>
                      <a:pPr marL="0" indent="0" algn="ctr">
                        <a:lnSpc>
                          <a:spcPct val="100000"/>
                        </a:lnSpc>
                        <a:defRPr/>
                      </a:pPr>
                      <a:r>
                        <a:rPr lang="en-US" sz="1200" b="1" u="none" strike="noStrike" dirty="0" err="1">
                          <a:solidFill>
                            <a:srgbClr val="0A192F"/>
                          </a:solidFill>
                          <a:sym typeface="Noto Sans SC" panose="020B0200000000000000" charset="-122"/>
                        </a:rPr>
                        <a:t>平均回合奖励值</a:t>
                      </a:r>
                      <a:endParaRPr lang="en-US" sz="1200" dirty="0"/>
                    </a:p>
                  </a:txBody>
                  <a:tcPr marL="101600" marR="101600" marT="101600" marB="101600" anchor="ctr"/>
                </a:tc>
              </a:tr>
              <a:tr h="450710">
                <a:tc>
                  <a:txBody>
                    <a:bodyPr/>
                    <a:lstStyle/>
                    <a:p>
                      <a:pPr marL="0" indent="0" algn="ctr" defTabSz="914400" rtl="0" eaLnBrk="1" latinLnBrk="0" hangingPunct="1">
                        <a:lnSpc>
                          <a:spcPct val="100000"/>
                        </a:lnSpc>
                        <a:defRPr/>
                      </a:pPr>
                      <a:r>
                        <a:rPr lang="en-US" sz="1200" b="1" u="none" strike="noStrike" kern="1200" dirty="0">
                          <a:solidFill>
                            <a:srgbClr val="0A192F"/>
                          </a:solidFill>
                          <a:latin typeface="+mn-lt"/>
                          <a:ea typeface="+mn-ea"/>
                          <a:cs typeface="+mn-cs"/>
                          <a:sym typeface="Noto Sans SC" panose="020B0200000000000000" charset="-122"/>
                        </a:rPr>
                        <a:t>Random Policy (</a:t>
                      </a:r>
                      <a:r>
                        <a:rPr lang="en-US" sz="1200" b="1" u="none" strike="noStrike" kern="1200" dirty="0" err="1">
                          <a:solidFill>
                            <a:srgbClr val="0A192F"/>
                          </a:solidFill>
                          <a:latin typeface="+mn-lt"/>
                          <a:ea typeface="+mn-ea"/>
                          <a:cs typeface="+mn-cs"/>
                          <a:sym typeface="Noto Sans SC" panose="020B0200000000000000" charset="-122"/>
                        </a:rPr>
                        <a:t>随机策略</a:t>
                      </a:r>
                      <a:r>
                        <a:rPr lang="en-US" sz="1200" b="1" u="none" strike="noStrike" kern="1200" dirty="0">
                          <a:solidFill>
                            <a:srgbClr val="0A192F"/>
                          </a:solidFill>
                          <a:latin typeface="+mn-lt"/>
                          <a:ea typeface="+mn-ea"/>
                          <a:cs typeface="+mn-cs"/>
                          <a:sym typeface="Noto Sans SC" panose="020B0200000000000000" charset="-122"/>
                        </a:rPr>
                        <a:t>)</a:t>
                      </a:r>
                      <a:endParaRPr lang="en-US" sz="1200" b="1" u="none" strike="noStrike" kern="1200" dirty="0">
                        <a:solidFill>
                          <a:srgbClr val="0A192F"/>
                        </a:solidFill>
                        <a:latin typeface="+mn-lt"/>
                        <a:ea typeface="+mn-ea"/>
                        <a:cs typeface="+mn-cs"/>
                      </a:endParaRPr>
                    </a:p>
                  </a:txBody>
                  <a:tcPr marL="101600" marR="101600" marT="101600" marB="101600" anchor="ctr"/>
                </a:tc>
                <a:tc>
                  <a:txBody>
                    <a:bodyPr/>
                    <a:lstStyle/>
                    <a:p>
                      <a:pPr marL="0" indent="0" algn="ctr" defTabSz="914400" rtl="0" eaLnBrk="1" latinLnBrk="0" hangingPunct="1">
                        <a:lnSpc>
                          <a:spcPct val="100000"/>
                        </a:lnSpc>
                        <a:defRPr/>
                      </a:pPr>
                      <a:r>
                        <a:rPr lang="en-US" sz="1200" b="1" u="none" strike="noStrike" kern="1200" dirty="0">
                          <a:solidFill>
                            <a:srgbClr val="0A192F"/>
                          </a:solidFill>
                          <a:latin typeface="+mn-lt"/>
                          <a:ea typeface="+mn-ea"/>
                          <a:cs typeface="+mn-cs"/>
                          <a:sym typeface="Noto Sans SC" panose="020B0200000000000000" charset="-122"/>
                        </a:rPr>
                        <a:t>-216.58</a:t>
                      </a:r>
                      <a:endParaRPr lang="en-US" sz="1200" b="1" u="none" strike="noStrike" kern="1200" dirty="0">
                        <a:solidFill>
                          <a:srgbClr val="0A192F"/>
                        </a:solidFill>
                        <a:latin typeface="+mn-lt"/>
                        <a:ea typeface="+mn-ea"/>
                        <a:cs typeface="+mn-cs"/>
                      </a:endParaRPr>
                    </a:p>
                  </a:txBody>
                  <a:tcPr marL="101600" marR="101600" marT="101600" marB="101600" anchor="ctr"/>
                </a:tc>
              </a:tr>
              <a:tr h="450710">
                <a:tc>
                  <a:txBody>
                    <a:bodyPr/>
                    <a:lstStyle/>
                    <a:p>
                      <a:pPr marL="0" indent="0" algn="ctr" defTabSz="914400" rtl="0" eaLnBrk="1" latinLnBrk="0" hangingPunct="1">
                        <a:lnSpc>
                          <a:spcPct val="100000"/>
                        </a:lnSpc>
                        <a:defRPr/>
                      </a:pPr>
                      <a:r>
                        <a:rPr lang="en-US" sz="1200" b="1" u="none" strike="noStrike" kern="1200" dirty="0">
                          <a:solidFill>
                            <a:srgbClr val="0A192F"/>
                          </a:solidFill>
                          <a:latin typeface="+mn-lt"/>
                          <a:ea typeface="+mn-ea"/>
                          <a:cs typeface="+mn-cs"/>
                          <a:sym typeface="Noto Sans SC" panose="020B0200000000000000" charset="-122"/>
                        </a:rPr>
                        <a:t>MAPPO Baseline (</a:t>
                      </a:r>
                      <a:r>
                        <a:rPr lang="en-US" sz="1200" b="1" u="none" strike="noStrike" kern="1200" dirty="0" err="1">
                          <a:solidFill>
                            <a:srgbClr val="0A192F"/>
                          </a:solidFill>
                          <a:latin typeface="+mn-lt"/>
                          <a:ea typeface="+mn-ea"/>
                          <a:cs typeface="+mn-cs"/>
                          <a:sym typeface="Noto Sans SC" panose="020B0200000000000000" charset="-122"/>
                        </a:rPr>
                        <a:t>基线模型</a:t>
                      </a:r>
                      <a:r>
                        <a:rPr lang="en-US" sz="1200" b="1" u="none" strike="noStrike" kern="1200" dirty="0">
                          <a:solidFill>
                            <a:srgbClr val="0A192F"/>
                          </a:solidFill>
                          <a:latin typeface="+mn-lt"/>
                          <a:ea typeface="+mn-ea"/>
                          <a:cs typeface="+mn-cs"/>
                          <a:sym typeface="Noto Sans SC" panose="020B0200000000000000" charset="-122"/>
                        </a:rPr>
                        <a:t>)</a:t>
                      </a:r>
                      <a:endParaRPr lang="en-US" sz="1200" b="1" u="none" strike="noStrike" kern="1200" dirty="0">
                        <a:solidFill>
                          <a:srgbClr val="0A192F"/>
                        </a:solidFill>
                        <a:latin typeface="+mn-lt"/>
                        <a:ea typeface="+mn-ea"/>
                        <a:cs typeface="+mn-cs"/>
                      </a:endParaRPr>
                    </a:p>
                  </a:txBody>
                  <a:tcPr marL="101600" marR="101600" marT="101600" marB="101600" anchor="ctr"/>
                </a:tc>
                <a:tc>
                  <a:txBody>
                    <a:bodyPr/>
                    <a:lstStyle/>
                    <a:p>
                      <a:pPr marL="0" indent="0" algn="ctr" defTabSz="914400" rtl="0" eaLnBrk="1" latinLnBrk="0" hangingPunct="1">
                        <a:lnSpc>
                          <a:spcPct val="100000"/>
                        </a:lnSpc>
                        <a:defRPr/>
                      </a:pPr>
                      <a:r>
                        <a:rPr lang="en-US" sz="1200" b="1" u="none" strike="noStrike" kern="1200" dirty="0">
                          <a:solidFill>
                            <a:srgbClr val="0A192F"/>
                          </a:solidFill>
                          <a:latin typeface="+mn-lt"/>
                          <a:ea typeface="+mn-ea"/>
                          <a:cs typeface="+mn-cs"/>
                          <a:sym typeface="Noto Sans SC" panose="020B0200000000000000" charset="-122"/>
                        </a:rPr>
                        <a:t>-187.09</a:t>
                      </a:r>
                      <a:endParaRPr lang="en-US" sz="1200" b="1" u="none" strike="noStrike" kern="1200" dirty="0">
                        <a:solidFill>
                          <a:srgbClr val="0A192F"/>
                        </a:solidFill>
                        <a:latin typeface="+mn-lt"/>
                        <a:ea typeface="+mn-ea"/>
                        <a:cs typeface="+mn-cs"/>
                      </a:endParaRPr>
                    </a:p>
                  </a:txBody>
                  <a:tcPr marL="101600" marR="101600" marT="101600" marB="101600" anchor="ctr"/>
                </a:tc>
              </a:tr>
            </a:tbl>
          </a:graphicData>
        </a:graphic>
      </p:graphicFrame>
      <p:pic>
        <p:nvPicPr>
          <p:cNvPr id="10"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53200" y="4927600"/>
            <a:ext cx="279400" cy="279400"/>
          </a:xfrm>
          <a:prstGeom prst="rect">
            <a:avLst/>
          </a:prstGeom>
        </p:spPr>
      </p:pic>
      <p:sp>
        <p:nvSpPr>
          <p:cNvPr id="11" name="AutoShape 12"/>
          <p:cNvSpPr/>
          <p:nvPr/>
        </p:nvSpPr>
        <p:spPr>
          <a:xfrm>
            <a:off x="368935" y="3699510"/>
            <a:ext cx="8595995" cy="98552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实验结果表明，MAPPO基线模型相比随机策略获得了更高的回合奖励</a:t>
            </a:r>
            <a:r>
              <a:rPr lang="en-US" sz="16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6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表明</a:t>
            </a:r>
            <a:r>
              <a:rPr lang="en-US" sz="16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智能体成功学习到了</a:t>
            </a:r>
            <a:r>
              <a:rPr lang="zh-CN" altLang="en-US" sz="16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优于随机策略的</a:t>
            </a:r>
            <a:r>
              <a:rPr lang="en-US" sz="16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目标导向行为。这验证了算法复现的有效性，为后续的策略优化奠定了坚实基础</a:t>
            </a:r>
            <a:r>
              <a:rPr lang="en-US" sz="16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a:t>
            </a:r>
            <a:endParaRPr lang="en-US" sz="1100" dirty="0">
              <a:solidFill>
                <a:schemeClr val="tx1"/>
              </a:solidFill>
              <a:latin typeface="楷体" panose="02010609060101010101" charset="-122"/>
              <a:ea typeface="楷体" panose="02010609060101010101" charset="-122"/>
              <a:cs typeface="楷体" panose="02010609060101010101" charset="-122"/>
            </a:endParaRPr>
          </a:p>
        </p:txBody>
      </p: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9070" y="771550"/>
            <a:ext cx="5171028" cy="2838969"/>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1" cstate="print">
            <a:extLst>
              <a:ext uri="{28A0092B-C50C-407E-A947-70E740481C1C}">
                <a14:useLocalDpi xmlns:a14="http://schemas.microsoft.com/office/drawing/2010/main" val="0"/>
              </a:ext>
            </a:extLst>
          </a:blip>
          <a:srcRect t="27384" b="23262"/>
          <a:stretch>
            <a:fillRect/>
          </a:stretch>
        </p:blipFill>
        <p:spPr>
          <a:xfrm>
            <a:off x="7681201" y="276592"/>
            <a:ext cx="1231162" cy="378945"/>
          </a:xfrm>
          <a:prstGeom prst="rect">
            <a:avLst/>
          </a:prstGeom>
        </p:spPr>
      </p:pic>
      <p:sp>
        <p:nvSpPr>
          <p:cNvPr id="18" name="矩形 17"/>
          <p:cNvSpPr/>
          <p:nvPr/>
        </p:nvSpPr>
        <p:spPr>
          <a:xfrm>
            <a:off x="179070" y="233680"/>
            <a:ext cx="7200265" cy="460375"/>
          </a:xfrm>
          <a:prstGeom prst="rect">
            <a:avLst/>
          </a:prstGeom>
        </p:spPr>
        <p:txBody>
          <a:bodyPr wrap="square">
            <a:spAutoFit/>
          </a:bodyPr>
          <a:lstStyle/>
          <a:p>
            <a:pPr>
              <a:defRPr/>
            </a:pP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sym typeface="+mn-ea"/>
              </a:rPr>
              <a:t>三、</a:t>
            </a:r>
            <a:r>
              <a:rPr lang="en-US" altLang="zh-CN" sz="2400" b="1" spc="-113" dirty="0">
                <a:ln w="12700">
                  <a:noFill/>
                </a:ln>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Duplicate </a:t>
            </a:r>
            <a:r>
              <a:rPr lang="en-US" altLang="zh-CN" sz="2400" b="1" spc="-113" dirty="0" err="1">
                <a:ln w="12700">
                  <a:noFill/>
                </a:ln>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Penalty奖励改进与行为分析</a:t>
            </a:r>
            <a:endParaRPr lang="en-US" altLang="zh-CN" sz="2400" b="1" spc="-113" dirty="0">
              <a:ln w="12700">
                <a:noFill/>
              </a:ln>
              <a:solidFill>
                <a:srgbClr val="0070C0"/>
              </a:solidFill>
              <a:latin typeface="楷体" panose="02010609060101010101" charset="-122"/>
              <a:ea typeface="楷体" panose="02010609060101010101" charset="-122"/>
              <a:cs typeface="楷体" panose="02010609060101010101" charset="-122"/>
            </a:endParaRPr>
          </a:p>
        </p:txBody>
      </p:sp>
      <p:cxnSp>
        <p:nvCxnSpPr>
          <p:cNvPr id="19" name="直接连接符 18"/>
          <p:cNvCxnSpPr/>
          <p:nvPr/>
        </p:nvCxnSpPr>
        <p:spPr>
          <a:xfrm>
            <a:off x="179805" y="694107"/>
            <a:ext cx="6840000"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AutoShape 6"/>
          <p:cNvSpPr/>
          <p:nvPr/>
        </p:nvSpPr>
        <p:spPr>
          <a:xfrm>
            <a:off x="238820" y="1654432"/>
            <a:ext cx="1946944" cy="798614"/>
          </a:xfrm>
          <a:prstGeom prst="roundRect">
            <a:avLst>
              <a:gd name="adj" fmla="val 0"/>
            </a:avLst>
          </a:prstGeom>
          <a:solidFill>
            <a:srgbClr val="64FFDA">
              <a:alpha val="8000"/>
            </a:srgbClr>
          </a:solidFill>
          <a:ln w="12700" cap="flat" cmpd="sng">
            <a:solidFill>
              <a:srgbClr val="64FFDA">
                <a:alpha val="25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7" name="AutoShape 7"/>
          <p:cNvSpPr/>
          <p:nvPr/>
        </p:nvSpPr>
        <p:spPr>
          <a:xfrm>
            <a:off x="238820" y="1654432"/>
            <a:ext cx="1946944" cy="798614"/>
          </a:xfrm>
          <a:prstGeom prst="rect">
            <a:avLst/>
          </a:prstGeom>
          <a:noFill/>
          <a:ln w="12700" cap="flat" cmpd="sng">
            <a:noFill/>
            <a:prstDash val="solid"/>
            <a:round/>
          </a:ln>
        </p:spPr>
        <p:txBody>
          <a:bodyPr vert="horz" wrap="square" lIns="0" tIns="0" rIns="0" bIns="0" rtlCol="0" anchor="ctr" anchorCtr="0"/>
          <a:lstStyle/>
          <a:p>
            <a:pPr algn="ctr">
              <a:lnSpc>
                <a:spcPct val="125000"/>
              </a:lnSpc>
              <a:defRPr/>
            </a:pPr>
            <a:r>
              <a:rPr lang="en-US" sz="1400" b="1" dirty="0">
                <a:latin typeface="楷体" panose="02010609060101010101" charset="-122"/>
                <a:ea typeface="楷体" panose="02010609060101010101" charset="-122"/>
                <a:cs typeface="楷体" panose="02010609060101010101" charset="-122"/>
                <a:sym typeface="Noto Sans SC" panose="020B0200000000000000" charset="-122"/>
              </a:rPr>
              <a:t>01. </a:t>
            </a:r>
            <a:r>
              <a:rPr lang="en-US" sz="1400" b="1" dirty="0" err="1">
                <a:latin typeface="楷体" panose="02010609060101010101" charset="-122"/>
                <a:ea typeface="楷体" panose="02010609060101010101" charset="-122"/>
                <a:cs typeface="楷体" panose="02010609060101010101" charset="-122"/>
                <a:sym typeface="Noto Sans SC" panose="020B0200000000000000" charset="-122"/>
              </a:rPr>
              <a:t>行为实时感知</a:t>
            </a:r>
            <a:endParaRPr lang="en-US" sz="1400" b="1" dirty="0">
              <a:latin typeface="楷体" panose="02010609060101010101" charset="-122"/>
              <a:ea typeface="楷体" panose="02010609060101010101" charset="-122"/>
              <a:cs typeface="楷体" panose="02010609060101010101" charset="-122"/>
            </a:endParaRPr>
          </a:p>
          <a:p>
            <a:pPr indent="0" algn="ctr">
              <a:lnSpc>
                <a:spcPct val="125000"/>
              </a:lnSpc>
              <a:defRPr/>
            </a:pPr>
            <a:r>
              <a:rPr lang="en-US" sz="1000" dirty="0" err="1">
                <a:latin typeface="楷体" panose="02010609060101010101" charset="-122"/>
                <a:ea typeface="楷体" panose="02010609060101010101" charset="-122"/>
                <a:cs typeface="楷体" panose="02010609060101010101" charset="-122"/>
                <a:sym typeface="Noto Sans SC" panose="020B0200000000000000" charset="-122"/>
              </a:rPr>
              <a:t>捕捉智能体目标选择</a:t>
            </a:r>
            <a:br>
              <a:rPr lang="en-US" sz="1000" dirty="0">
                <a:latin typeface="楷体" panose="02010609060101010101" charset="-122"/>
                <a:ea typeface="楷体" panose="02010609060101010101" charset="-122"/>
                <a:cs typeface="楷体" panose="02010609060101010101" charset="-122"/>
                <a:sym typeface="Noto Sans SC" panose="020B0200000000000000" charset="-122"/>
              </a:rPr>
            </a:br>
            <a:r>
              <a:rPr lang="en-US" sz="1000" dirty="0" err="1">
                <a:latin typeface="楷体" panose="02010609060101010101" charset="-122"/>
                <a:ea typeface="楷体" panose="02010609060101010101" charset="-122"/>
                <a:cs typeface="楷体" panose="02010609060101010101" charset="-122"/>
                <a:sym typeface="Noto Sans SC" panose="020B0200000000000000" charset="-122"/>
              </a:rPr>
              <a:t>与实时移动轨迹特征</a:t>
            </a:r>
            <a:endParaRPr lang="en-US" sz="1000" dirty="0">
              <a:latin typeface="楷体" panose="02010609060101010101" charset="-122"/>
              <a:ea typeface="楷体" panose="02010609060101010101" charset="-122"/>
              <a:cs typeface="楷体" panose="02010609060101010101" charset="-122"/>
              <a:sym typeface="Noto Sans SC" panose="020B0200000000000000" charset="-122"/>
            </a:endParaR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60380" y="1946036"/>
            <a:ext cx="245930" cy="245930"/>
          </a:xfrm>
          <a:prstGeom prst="rect">
            <a:avLst/>
          </a:prstGeom>
        </p:spPr>
      </p:pic>
      <p:sp>
        <p:nvSpPr>
          <p:cNvPr id="9" name="AutoShape 9"/>
          <p:cNvSpPr/>
          <p:nvPr/>
        </p:nvSpPr>
        <p:spPr>
          <a:xfrm>
            <a:off x="2346693" y="1654432"/>
            <a:ext cx="2197228" cy="798614"/>
          </a:xfrm>
          <a:prstGeom prst="roundRect">
            <a:avLst>
              <a:gd name="adj" fmla="val 0"/>
            </a:avLst>
          </a:prstGeom>
          <a:solidFill>
            <a:srgbClr val="64FFDA">
              <a:alpha val="8000"/>
            </a:srgbClr>
          </a:solidFill>
          <a:ln w="12700" cap="flat" cmpd="sng">
            <a:solidFill>
              <a:srgbClr val="64FFDA">
                <a:alpha val="25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10" name="AutoShape 10"/>
          <p:cNvSpPr/>
          <p:nvPr/>
        </p:nvSpPr>
        <p:spPr>
          <a:xfrm>
            <a:off x="2420099" y="1651952"/>
            <a:ext cx="2021640" cy="798614"/>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dirty="0">
                <a:latin typeface="楷体" panose="02010609060101010101" charset="-122"/>
                <a:ea typeface="楷体" panose="02010609060101010101" charset="-122"/>
                <a:cs typeface="楷体" panose="02010609060101010101" charset="-122"/>
                <a:sym typeface="Noto Sans SC" panose="020B0200000000000000" charset="-122"/>
              </a:rPr>
              <a:t>02. </a:t>
            </a:r>
            <a:r>
              <a:rPr lang="en-US" sz="1400" b="1" dirty="0" err="1">
                <a:latin typeface="楷体" panose="02010609060101010101" charset="-122"/>
                <a:ea typeface="楷体" panose="02010609060101010101" charset="-122"/>
                <a:cs typeface="楷体" panose="02010609060101010101" charset="-122"/>
                <a:sym typeface="Noto Sans SC" panose="020B0200000000000000" charset="-122"/>
              </a:rPr>
              <a:t>重复占点判定</a:t>
            </a:r>
            <a:endParaRPr lang="en-US" sz="1400" b="1" dirty="0">
              <a:latin typeface="楷体" panose="02010609060101010101" charset="-122"/>
              <a:ea typeface="楷体" panose="02010609060101010101" charset="-122"/>
              <a:cs typeface="楷体" panose="02010609060101010101" charset="-122"/>
            </a:endParaRPr>
          </a:p>
          <a:p>
            <a:pPr algn="ctr">
              <a:lnSpc>
                <a:spcPct val="125000"/>
              </a:lnSpc>
              <a:defRPr/>
            </a:pPr>
            <a:r>
              <a:rPr lang="zh-CN" altLang="en-US" sz="1000" dirty="0">
                <a:latin typeface="楷体" panose="02010609060101010101" charset="-122"/>
                <a:ea typeface="楷体" panose="02010609060101010101" charset="-122"/>
                <a:cs typeface="楷体" panose="02010609060101010101" charset="-122"/>
              </a:rPr>
              <a:t>根据</a:t>
            </a:r>
            <a:r>
              <a:rPr lang="en-US" altLang="zh-CN" sz="1000" dirty="0">
                <a:latin typeface="楷体" panose="02010609060101010101" charset="-122"/>
                <a:ea typeface="楷体" panose="02010609060101010101" charset="-122"/>
                <a:cs typeface="楷体" panose="02010609060101010101" charset="-122"/>
              </a:rPr>
              <a:t>Agent</a:t>
            </a:r>
            <a:r>
              <a:rPr lang="zh-CN" altLang="en-US" sz="1000" dirty="0">
                <a:latin typeface="楷体" panose="02010609060101010101" charset="-122"/>
                <a:ea typeface="楷体" panose="02010609060101010101" charset="-122"/>
                <a:cs typeface="楷体" panose="02010609060101010101" charset="-122"/>
              </a:rPr>
              <a:t>与</a:t>
            </a:r>
            <a:r>
              <a:rPr lang="en-US" altLang="zh-CN" sz="1000" dirty="0">
                <a:latin typeface="楷体" panose="02010609060101010101" charset="-122"/>
                <a:ea typeface="楷体" panose="02010609060101010101" charset="-122"/>
                <a:cs typeface="楷体" panose="02010609060101010101" charset="-122"/>
              </a:rPr>
              <a:t>Landmark</a:t>
            </a:r>
            <a:r>
              <a:rPr lang="zh-CN" altLang="en-US" sz="1000" dirty="0">
                <a:latin typeface="楷体" panose="02010609060101010101" charset="-122"/>
                <a:ea typeface="楷体" panose="02010609060101010101" charset="-122"/>
                <a:cs typeface="楷体" panose="02010609060101010101" charset="-122"/>
              </a:rPr>
              <a:t>之间的距离，判断是否有多个</a:t>
            </a:r>
            <a:r>
              <a:rPr lang="en-US" altLang="zh-CN" sz="1000" dirty="0">
                <a:latin typeface="楷体" panose="02010609060101010101" charset="-122"/>
                <a:ea typeface="楷体" panose="02010609060101010101" charset="-122"/>
                <a:cs typeface="楷体" panose="02010609060101010101" charset="-122"/>
              </a:rPr>
              <a:t>Agent</a:t>
            </a:r>
            <a:r>
              <a:rPr lang="zh-CN" altLang="en-US" sz="1000" dirty="0">
                <a:latin typeface="楷体" panose="02010609060101010101" charset="-122"/>
                <a:ea typeface="楷体" panose="02010609060101010101" charset="-122"/>
                <a:cs typeface="楷体" panose="02010609060101010101" charset="-122"/>
              </a:rPr>
              <a:t>同时接近同一目标。</a:t>
            </a:r>
            <a:endParaRPr lang="en-US" sz="1000" dirty="0">
              <a:latin typeface="楷体" panose="02010609060101010101" charset="-122"/>
              <a:ea typeface="楷体" panose="02010609060101010101" charset="-122"/>
              <a:cs typeface="楷体" panose="02010609060101010101" charset="-122"/>
              <a:sym typeface="Noto Sans SC" panose="020B0200000000000000" charset="-122"/>
            </a:endParaRPr>
          </a:p>
        </p:txBody>
      </p:sp>
      <p:pic>
        <p:nvPicPr>
          <p:cNvPr id="11"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15145" y="1915349"/>
            <a:ext cx="245930" cy="245930"/>
          </a:xfrm>
          <a:prstGeom prst="rect">
            <a:avLst/>
          </a:prstGeom>
        </p:spPr>
      </p:pic>
      <p:sp>
        <p:nvSpPr>
          <p:cNvPr id="12" name="AutoShape 12"/>
          <p:cNvSpPr/>
          <p:nvPr/>
        </p:nvSpPr>
        <p:spPr>
          <a:xfrm>
            <a:off x="4738335" y="1639007"/>
            <a:ext cx="2197229" cy="798614"/>
          </a:xfrm>
          <a:prstGeom prst="roundRect">
            <a:avLst>
              <a:gd name="adj" fmla="val 0"/>
            </a:avLst>
          </a:prstGeom>
          <a:solidFill>
            <a:srgbClr val="64FFDA">
              <a:alpha val="8000"/>
            </a:srgbClr>
          </a:solidFill>
          <a:ln w="12700" cap="flat" cmpd="sng">
            <a:solidFill>
              <a:srgbClr val="64FFDA">
                <a:alpha val="25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13" name="AutoShape 13"/>
          <p:cNvSpPr/>
          <p:nvPr/>
        </p:nvSpPr>
        <p:spPr>
          <a:xfrm>
            <a:off x="4796119" y="1622301"/>
            <a:ext cx="2103271" cy="798614"/>
          </a:xfrm>
          <a:prstGeom prst="rect">
            <a:avLst/>
          </a:prstGeom>
          <a:noFill/>
          <a:ln w="12700" cap="flat" cmpd="sng">
            <a:noFill/>
            <a:prstDash val="solid"/>
            <a:round/>
          </a:ln>
        </p:spPr>
        <p:txBody>
          <a:bodyPr vert="horz" wrap="square" lIns="0" tIns="0" rIns="0" bIns="0" rtlCol="0" anchor="ctr" anchorCtr="0"/>
          <a:lstStyle/>
          <a:p>
            <a:pPr algn="ctr">
              <a:lnSpc>
                <a:spcPct val="125000"/>
              </a:lnSpc>
              <a:defRPr/>
            </a:pPr>
            <a:r>
              <a:rPr lang="en-US" sz="1400" b="1" dirty="0">
                <a:latin typeface="楷体" panose="02010609060101010101" charset="-122"/>
                <a:ea typeface="楷体" panose="02010609060101010101" charset="-122"/>
                <a:cs typeface="楷体" panose="02010609060101010101" charset="-122"/>
                <a:sym typeface="Noto Sans SC" panose="020B0200000000000000" charset="-122"/>
              </a:rPr>
              <a:t>03. </a:t>
            </a:r>
            <a:r>
              <a:rPr lang="zh-CN" altLang="en-US" sz="1400" b="1" dirty="0">
                <a:latin typeface="楷体" panose="02010609060101010101" charset="-122"/>
                <a:ea typeface="楷体" panose="02010609060101010101" charset="-122"/>
                <a:cs typeface="楷体" panose="02010609060101010101" charset="-122"/>
                <a:sym typeface="Noto Sans SC" panose="020B0200000000000000" charset="-122"/>
              </a:rPr>
              <a:t>重复占点惩罚</a:t>
            </a:r>
            <a:endParaRPr lang="en-US" altLang="zh-CN" sz="1400" b="1" dirty="0">
              <a:latin typeface="楷体" panose="02010609060101010101" charset="-122"/>
              <a:ea typeface="楷体" panose="02010609060101010101" charset="-122"/>
              <a:cs typeface="楷体" panose="02010609060101010101" charset="-122"/>
              <a:sym typeface="Noto Sans SC" panose="020B0200000000000000" charset="-122"/>
            </a:endParaRPr>
          </a:p>
          <a:p>
            <a:pPr marL="0" indent="0" algn="ctr">
              <a:lnSpc>
                <a:spcPct val="125000"/>
              </a:lnSpc>
              <a:defRPr/>
            </a:pPr>
            <a:r>
              <a:rPr lang="zh-CN" altLang="en-US" sz="1000" dirty="0">
                <a:latin typeface="楷体" panose="02010609060101010101" charset="-122"/>
                <a:ea typeface="楷体" panose="02010609060101010101" charset="-122"/>
                <a:cs typeface="楷体" panose="02010609060101010101" charset="-122"/>
              </a:rPr>
              <a:t>当多个</a:t>
            </a:r>
            <a:r>
              <a:rPr lang="en-US" altLang="zh-CN" sz="1000" dirty="0">
                <a:latin typeface="楷体" panose="02010609060101010101" charset="-122"/>
                <a:ea typeface="楷体" panose="02010609060101010101" charset="-122"/>
                <a:cs typeface="楷体" panose="02010609060101010101" charset="-122"/>
              </a:rPr>
              <a:t>Agent</a:t>
            </a:r>
            <a:r>
              <a:rPr lang="zh-CN" altLang="en-US" sz="1000" dirty="0">
                <a:latin typeface="楷体" panose="02010609060101010101" charset="-122"/>
                <a:ea typeface="楷体" panose="02010609060101010101" charset="-122"/>
                <a:cs typeface="楷体" panose="02010609060101010101" charset="-122"/>
              </a:rPr>
              <a:t>靠近同一目标时加入固定惩罚，引导</a:t>
            </a:r>
            <a:r>
              <a:rPr lang="en-US" altLang="zh-CN" sz="1000" dirty="0">
                <a:latin typeface="楷体" panose="02010609060101010101" charset="-122"/>
                <a:ea typeface="楷体" panose="02010609060101010101" charset="-122"/>
                <a:cs typeface="楷体" panose="02010609060101010101" charset="-122"/>
              </a:rPr>
              <a:t>Agent</a:t>
            </a:r>
            <a:r>
              <a:rPr lang="zh-CN" altLang="en-US" sz="1000" dirty="0">
                <a:latin typeface="楷体" panose="02010609060101010101" charset="-122"/>
                <a:ea typeface="楷体" panose="02010609060101010101" charset="-122"/>
                <a:cs typeface="楷体" panose="02010609060101010101" charset="-122"/>
              </a:rPr>
              <a:t>减少目标竞争</a:t>
            </a:r>
            <a:endParaRPr lang="en-US" sz="1000" dirty="0">
              <a:latin typeface="楷体" panose="02010609060101010101" charset="-122"/>
              <a:ea typeface="楷体" panose="02010609060101010101" charset="-122"/>
              <a:cs typeface="楷体" panose="02010609060101010101" charset="-122"/>
              <a:sym typeface="Noto Sans SC" panose="020B0200000000000000" charset="-122"/>
            </a:endParaRPr>
          </a:p>
        </p:txBody>
      </p:sp>
      <p:pic>
        <p:nvPicPr>
          <p:cNvPr id="14" name="Picture 1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28012" y="1922534"/>
            <a:ext cx="245930" cy="245930"/>
          </a:xfrm>
          <a:prstGeom prst="rect">
            <a:avLst/>
          </a:prstGeom>
        </p:spPr>
      </p:pic>
      <p:sp>
        <p:nvSpPr>
          <p:cNvPr id="15" name="AutoShape 15"/>
          <p:cNvSpPr/>
          <p:nvPr/>
        </p:nvSpPr>
        <p:spPr>
          <a:xfrm>
            <a:off x="7151588" y="1639007"/>
            <a:ext cx="1816060" cy="798614"/>
          </a:xfrm>
          <a:prstGeom prst="roundRect">
            <a:avLst>
              <a:gd name="adj" fmla="val 0"/>
            </a:avLst>
          </a:prstGeom>
          <a:solidFill>
            <a:srgbClr val="64FFDA">
              <a:alpha val="8000"/>
            </a:srgbClr>
          </a:solidFill>
          <a:ln w="12700" cap="flat" cmpd="sng">
            <a:solidFill>
              <a:srgbClr val="64FFDA">
                <a:alpha val="25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16" name="AutoShape 16"/>
          <p:cNvSpPr/>
          <p:nvPr/>
        </p:nvSpPr>
        <p:spPr>
          <a:xfrm>
            <a:off x="7232160" y="1639007"/>
            <a:ext cx="1735488" cy="798614"/>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04. </a:t>
            </a:r>
            <a:r>
              <a:rPr lang="en-US" sz="1400" b="1"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协作策略优化</a:t>
            </a:r>
            <a:endParaRPr lang="en-US" sz="1400" dirty="0">
              <a:solidFill>
                <a:schemeClr val="tx1"/>
              </a:solidFill>
              <a:latin typeface="楷体" panose="02010609060101010101" charset="-122"/>
              <a:ea typeface="楷体" panose="02010609060101010101" charset="-122"/>
              <a:cs typeface="楷体" panose="02010609060101010101" charset="-122"/>
            </a:endParaRPr>
          </a:p>
          <a:p>
            <a:pPr algn="ctr">
              <a:lnSpc>
                <a:spcPct val="125000"/>
              </a:lnSpc>
              <a:defRPr/>
            </a:pPr>
            <a:r>
              <a:rPr lang="zh-CN" altLang="en-US" sz="1000" dirty="0">
                <a:latin typeface="楷体" panose="02010609060101010101" charset="-122"/>
                <a:ea typeface="楷体" panose="02010609060101010101" charset="-122"/>
                <a:cs typeface="楷体" panose="02010609060101010101" charset="-122"/>
              </a:rPr>
              <a:t>引导智能体减少重复选点，观察其对协作行为的影响。</a:t>
            </a:r>
            <a:endParaRPr lang="en-US" sz="1000" dirty="0">
              <a:latin typeface="楷体" panose="02010609060101010101" charset="-122"/>
              <a:ea typeface="楷体" panose="02010609060101010101" charset="-122"/>
              <a:cs typeface="楷体" panose="02010609060101010101" charset="-122"/>
              <a:sym typeface="Noto Sans SC" panose="020B0200000000000000" charset="-122"/>
            </a:endParaRPr>
          </a:p>
        </p:txBody>
      </p:sp>
      <p:sp>
        <p:nvSpPr>
          <p:cNvPr id="20" name="AutoShape 17"/>
          <p:cNvSpPr/>
          <p:nvPr/>
        </p:nvSpPr>
        <p:spPr>
          <a:xfrm>
            <a:off x="323528" y="2678326"/>
            <a:ext cx="533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1" i="0" u="none" strike="noStrike" dirty="0" err="1">
                <a:latin typeface="Noto Sans SC" panose="020B0200000000000000" charset="-122"/>
                <a:ea typeface="Noto Sans SC" panose="020B0200000000000000" charset="-122"/>
                <a:cs typeface="Noto Sans SC" panose="020B0200000000000000" charset="-122"/>
                <a:sym typeface="Noto Sans SC" panose="020B0200000000000000" charset="-122"/>
              </a:rPr>
              <a:t>实验数据对比（关键指标</a:t>
            </a:r>
            <a:r>
              <a:rPr lang="en-US" sz="1600" b="1" i="0" u="none" strike="noStrike" dirty="0">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2" name="AutoShape 19"/>
          <p:cNvSpPr/>
          <p:nvPr/>
        </p:nvSpPr>
        <p:spPr>
          <a:xfrm>
            <a:off x="4884420" y="2680970"/>
            <a:ext cx="4332605"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1" i="0" u="none" strike="noStrike" dirty="0" err="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优化成效总结</a:t>
            </a:r>
            <a:endParaRPr lang="en-US" sz="1100" dirty="0">
              <a:solidFill>
                <a:schemeClr val="tx1"/>
              </a:solidFill>
            </a:endParaRPr>
          </a:p>
        </p:txBody>
      </p:sp>
      <p:sp>
        <p:nvSpPr>
          <p:cNvPr id="25" name="AutoShape 22"/>
          <p:cNvSpPr/>
          <p:nvPr/>
        </p:nvSpPr>
        <p:spPr>
          <a:xfrm>
            <a:off x="5004048" y="2974811"/>
            <a:ext cx="39763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dirty="0" err="1">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任务</a:t>
            </a:r>
            <a:r>
              <a:rPr lang="zh-CN" altLang="en-US" sz="1200" b="1" i="0" u="none" strike="noStrike" dirty="0">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表现基本保持</a:t>
            </a:r>
            <a:r>
              <a:rPr lang="en-US" sz="1200" b="1" i="0" u="none" strike="noStrike" dirty="0">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a:t>
            </a:r>
            <a:r>
              <a:rPr lang="en-US" sz="1200" b="0" i="0" u="none" strike="noStrike" dirty="0" err="1">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奖励与覆盖率指标保持稳定，基础任务完成能力未受影响</a:t>
            </a:r>
            <a:r>
              <a:rPr lang="en-US" sz="1200" b="0" i="0" u="none" strike="noStrike" dirty="0">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a:t>
            </a:r>
            <a:endParaRPr lang="en-US" sz="1200" dirty="0">
              <a:solidFill>
                <a:schemeClr val="tx1"/>
              </a:solidFill>
              <a:latin typeface="楷体" panose="02010609060101010101" charset="-122"/>
              <a:ea typeface="楷体" panose="02010609060101010101" charset="-122"/>
            </a:endParaRPr>
          </a:p>
        </p:txBody>
      </p:sp>
      <p:sp>
        <p:nvSpPr>
          <p:cNvPr id="28" name="AutoShape 25"/>
          <p:cNvSpPr/>
          <p:nvPr/>
        </p:nvSpPr>
        <p:spPr>
          <a:xfrm>
            <a:off x="5004048" y="3487249"/>
            <a:ext cx="39763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200" b="1" dirty="0">
                <a:latin typeface="楷体" panose="02010609060101010101" charset="-122"/>
                <a:ea typeface="楷体" panose="02010609060101010101" charset="-122"/>
                <a:cs typeface="楷体" panose="02010609060101010101" charset="-122"/>
              </a:rPr>
              <a:t>重复占点减少</a:t>
            </a:r>
            <a:r>
              <a:rPr lang="en-US" sz="1200" b="1"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200" dirty="0">
                <a:latin typeface="楷体" panose="02010609060101010101" charset="-122"/>
                <a:ea typeface="楷体" panose="02010609060101010101" charset="-122"/>
                <a:cs typeface="楷体" panose="02010609060101010101" charset="-122"/>
              </a:rPr>
              <a:t>重复占点率由</a:t>
            </a:r>
            <a:r>
              <a:rPr lang="en-US" altLang="zh-CN" sz="1200" dirty="0">
                <a:latin typeface="楷体" panose="02010609060101010101" charset="-122"/>
                <a:ea typeface="楷体" panose="02010609060101010101" charset="-122"/>
                <a:cs typeface="楷体" panose="02010609060101010101" charset="-122"/>
              </a:rPr>
              <a:t>0.00547</a:t>
            </a:r>
            <a:r>
              <a:rPr lang="zh-CN" altLang="en-US" sz="1200" dirty="0">
                <a:latin typeface="楷体" panose="02010609060101010101" charset="-122"/>
                <a:ea typeface="楷体" panose="02010609060101010101" charset="-122"/>
                <a:cs typeface="楷体" panose="02010609060101010101" charset="-122"/>
              </a:rPr>
              <a:t>下降至</a:t>
            </a:r>
            <a:r>
              <a:rPr lang="en-US" altLang="zh-CN" sz="1200" dirty="0">
                <a:latin typeface="楷体" panose="02010609060101010101" charset="-122"/>
                <a:ea typeface="楷体" panose="02010609060101010101" charset="-122"/>
                <a:cs typeface="楷体" panose="02010609060101010101" charset="-122"/>
              </a:rPr>
              <a:t>0.00467</a:t>
            </a:r>
            <a:r>
              <a:rPr lang="zh-CN" altLang="en-US" sz="1200" dirty="0">
                <a:latin typeface="楷体" panose="02010609060101010101" charset="-122"/>
                <a:ea typeface="楷体" panose="02010609060101010101" charset="-122"/>
                <a:cs typeface="楷体" panose="02010609060101010101" charset="-122"/>
              </a:rPr>
              <a:t>，说明惩罚机制对目标竞争行为具有一定改善作用。</a:t>
            </a:r>
            <a:endParaRPr lang="en-US" sz="1200" dirty="0">
              <a:latin typeface="楷体" panose="02010609060101010101" charset="-122"/>
              <a:ea typeface="楷体" panose="02010609060101010101" charset="-122"/>
              <a:cs typeface="楷体" panose="02010609060101010101" charset="-122"/>
            </a:endParaRPr>
          </a:p>
        </p:txBody>
      </p:sp>
      <p:sp>
        <p:nvSpPr>
          <p:cNvPr id="31" name="AutoShape 28"/>
          <p:cNvSpPr/>
          <p:nvPr/>
        </p:nvSpPr>
        <p:spPr>
          <a:xfrm>
            <a:off x="5004048" y="4054891"/>
            <a:ext cx="39763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200" b="1" dirty="0">
                <a:latin typeface="楷体" panose="02010609060101010101" charset="-122"/>
                <a:ea typeface="楷体" panose="02010609060101010101" charset="-122"/>
              </a:rPr>
              <a:t>协作行为有所改善</a:t>
            </a:r>
            <a:r>
              <a:rPr lang="en-US" sz="1200" b="1" i="0" u="none" strike="noStrike" dirty="0">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a:t>
            </a:r>
            <a:r>
              <a:rPr lang="zh-CN" altLang="en-US" sz="1200" dirty="0">
                <a:latin typeface="楷体" panose="02010609060101010101" charset="-122"/>
                <a:ea typeface="楷体" panose="02010609060101010101" charset="-122"/>
              </a:rPr>
              <a:t>重复占点率下降，碰撞次数略有减少，但整体改善幅度有限。</a:t>
            </a:r>
            <a:endParaRPr lang="en-US" sz="1200" dirty="0">
              <a:latin typeface="楷体" panose="02010609060101010101" charset="-122"/>
              <a:ea typeface="楷体" panose="02010609060101010101" charset="-122"/>
            </a:endParaRPr>
          </a:p>
        </p:txBody>
      </p:sp>
      <p:sp>
        <p:nvSpPr>
          <p:cNvPr id="2" name="文本框 1"/>
          <p:cNvSpPr txBox="1"/>
          <p:nvPr/>
        </p:nvSpPr>
        <p:spPr>
          <a:xfrm>
            <a:off x="611560" y="843634"/>
            <a:ext cx="7749959" cy="645160"/>
          </a:xfrm>
          <a:prstGeom prst="rect">
            <a:avLst/>
          </a:prstGeom>
          <a:noFill/>
        </p:spPr>
        <p:txBody>
          <a:bodyPr wrap="square" rtlCol="0">
            <a:spAutoFit/>
          </a:bodyPr>
          <a:lstStyle/>
          <a:p>
            <a:r>
              <a:rPr lang="en-US" altLang="zh-CN" dirty="0">
                <a:latin typeface="楷体" panose="02010609060101010101" charset="-122"/>
                <a:ea typeface="楷体" panose="02010609060101010101" charset="-122"/>
                <a:cs typeface="楷体" panose="02010609060101010101" charset="-122"/>
              </a:rPr>
              <a:t>Baseline</a:t>
            </a:r>
            <a:r>
              <a:rPr lang="zh-CN" altLang="en-US" dirty="0">
                <a:latin typeface="楷体" panose="02010609060101010101" charset="-122"/>
                <a:ea typeface="楷体" panose="02010609060101010101" charset="-122"/>
                <a:cs typeface="楷体" panose="02010609060101010101" charset="-122"/>
              </a:rPr>
              <a:t>运行中仍会出现少量多个</a:t>
            </a:r>
            <a:r>
              <a:rPr lang="en-US" altLang="zh-CN" dirty="0">
                <a:latin typeface="楷体" panose="02010609060101010101" charset="-122"/>
                <a:ea typeface="楷体" panose="02010609060101010101" charset="-122"/>
                <a:cs typeface="楷体" panose="02010609060101010101" charset="-122"/>
              </a:rPr>
              <a:t>Agent</a:t>
            </a:r>
            <a:r>
              <a:rPr lang="zh-CN" altLang="en-US" dirty="0">
                <a:latin typeface="楷体" panose="02010609060101010101" charset="-122"/>
                <a:ea typeface="楷体" panose="02010609060101010101" charset="-122"/>
                <a:cs typeface="楷体" panose="02010609060101010101" charset="-122"/>
              </a:rPr>
              <a:t>同时接近同一目标的情况，因此尝试加入</a:t>
            </a:r>
            <a:r>
              <a:rPr lang="en-US" altLang="zh-CN" dirty="0">
                <a:latin typeface="楷体" panose="02010609060101010101" charset="-122"/>
                <a:ea typeface="楷体" panose="02010609060101010101" charset="-122"/>
                <a:cs typeface="楷体" panose="02010609060101010101" charset="-122"/>
              </a:rPr>
              <a:t>Duplicate Penalty</a:t>
            </a:r>
            <a:r>
              <a:rPr lang="zh-CN" altLang="en-US" dirty="0">
                <a:latin typeface="楷体" panose="02010609060101010101" charset="-122"/>
                <a:ea typeface="楷体" panose="02010609060101010101" charset="-122"/>
                <a:cs typeface="楷体" panose="02010609060101010101" charset="-122"/>
              </a:rPr>
              <a:t>进行行为引导。</a:t>
            </a:r>
            <a:endParaRPr lang="zh-CN" altLang="en-US" dirty="0">
              <a:latin typeface="楷体" panose="02010609060101010101" charset="-122"/>
              <a:ea typeface="楷体" panose="02010609060101010101" charset="-122"/>
              <a:cs typeface="楷体" panose="02010609060101010101" charset="-122"/>
            </a:endParaRPr>
          </a:p>
        </p:txBody>
      </p:sp>
      <p:graphicFrame>
        <p:nvGraphicFramePr>
          <p:cNvPr id="3" name="表格 3"/>
          <p:cNvGraphicFramePr>
            <a:graphicFrameLocks noGrp="1"/>
          </p:cNvGraphicFramePr>
          <p:nvPr/>
        </p:nvGraphicFramePr>
        <p:xfrm>
          <a:off x="217420" y="3001543"/>
          <a:ext cx="4412175" cy="1859555"/>
        </p:xfrm>
        <a:graphic>
          <a:graphicData uri="http://schemas.openxmlformats.org/drawingml/2006/table">
            <a:tbl>
              <a:tblPr firstRow="1" bandRow="1">
                <a:tableStyleId>{5C22544A-7EE6-4342-B048-85BDC9FD1C3A}</a:tableStyleId>
              </a:tblPr>
              <a:tblGrid>
                <a:gridCol w="1470725"/>
                <a:gridCol w="1470725"/>
                <a:gridCol w="1470725"/>
              </a:tblGrid>
              <a:tr h="395625">
                <a:tc>
                  <a:txBody>
                    <a:bodyPr/>
                    <a:lstStyle/>
                    <a:p>
                      <a:pPr marL="0" indent="0" algn="ctr">
                        <a:lnSpc>
                          <a:spcPct val="100000"/>
                        </a:lnSpc>
                        <a:defRPr/>
                      </a:pPr>
                      <a:r>
                        <a:rPr lang="en-US" sz="1400" b="1" u="none" strike="noStrike" dirty="0" err="1">
                          <a:solidFill>
                            <a:schemeClr val="tx1"/>
                          </a:solidFill>
                          <a:sym typeface="Noto Sans SC" panose="020B0200000000000000" charset="-122"/>
                        </a:rPr>
                        <a:t>核心指标</a:t>
                      </a:r>
                      <a:endParaRPr lang="en-US" sz="1100" dirty="0">
                        <a:solidFill>
                          <a:schemeClr val="tx1"/>
                        </a:solidFill>
                      </a:endParaRPr>
                    </a:p>
                  </a:txBody>
                  <a:tcPr marL="101600" marR="101600" marT="101600" marB="101600" anchor="ctr"/>
                </a:tc>
                <a:tc>
                  <a:txBody>
                    <a:bodyPr/>
                    <a:lstStyle/>
                    <a:p>
                      <a:pPr marL="0" indent="0" algn="ctr">
                        <a:lnSpc>
                          <a:spcPct val="100000"/>
                        </a:lnSpc>
                        <a:defRPr/>
                      </a:pPr>
                      <a:r>
                        <a:rPr lang="en-US" sz="1400" b="1" u="none" strike="noStrike">
                          <a:solidFill>
                            <a:schemeClr val="tx1"/>
                          </a:solidFill>
                          <a:sym typeface="Noto Sans SC" panose="020B0200000000000000" charset="-122"/>
                        </a:rPr>
                        <a:t>Baseline</a:t>
                      </a:r>
                      <a:endParaRPr lang="en-US" sz="1100">
                        <a:solidFill>
                          <a:schemeClr val="tx1"/>
                        </a:solidFill>
                      </a:endParaRPr>
                    </a:p>
                  </a:txBody>
                  <a:tcPr marL="101600" marR="101600" marT="101600" marB="101600" anchor="ctr"/>
                </a:tc>
                <a:tc>
                  <a:txBody>
                    <a:bodyPr/>
                    <a:lstStyle/>
                    <a:p>
                      <a:pPr marL="0" indent="0" algn="ctr">
                        <a:lnSpc>
                          <a:spcPct val="100000"/>
                        </a:lnSpc>
                        <a:defRPr/>
                      </a:pPr>
                      <a:r>
                        <a:rPr lang="en-US" sz="1400" b="1" u="none" strike="noStrike">
                          <a:solidFill>
                            <a:schemeClr val="tx1"/>
                          </a:solidFill>
                          <a:sym typeface="Noto Sans SC" panose="020B0200000000000000" charset="-122"/>
                        </a:rPr>
                        <a:t>Penalty (0.1)</a:t>
                      </a:r>
                      <a:endParaRPr lang="en-US" sz="1100">
                        <a:solidFill>
                          <a:schemeClr val="tx1"/>
                        </a:solidFill>
                      </a:endParaRPr>
                    </a:p>
                  </a:txBody>
                  <a:tcPr marL="101600" marR="101600" marT="101600" marB="101600" anchor="ctr"/>
                </a:tc>
              </a:tr>
              <a:tr h="352203">
                <a:tc>
                  <a:txBody>
                    <a:bodyPr/>
                    <a:lstStyle/>
                    <a:p>
                      <a:pPr marL="0" indent="0" algn="ctr">
                        <a:lnSpc>
                          <a:spcPct val="100000"/>
                        </a:lnSpc>
                        <a:defRPr/>
                      </a:pPr>
                      <a:r>
                        <a:rPr lang="en-US" sz="1100" b="0" u="none" strike="noStrike" dirty="0">
                          <a:solidFill>
                            <a:schemeClr val="tx1"/>
                          </a:solidFill>
                          <a:sym typeface="Noto Sans SC" panose="020B0200000000000000" charset="-122"/>
                        </a:rPr>
                        <a:t>Episode Reward</a:t>
                      </a:r>
                      <a:endParaRPr lang="en-US" sz="1100" dirty="0">
                        <a:solidFill>
                          <a:schemeClr val="tx1"/>
                        </a:solidFill>
                      </a:endParaRPr>
                    </a:p>
                  </a:txBody>
                  <a:tcPr marL="101600" marR="101600" marT="101600" marB="101600" anchor="ctr"/>
                </a:tc>
                <a:tc>
                  <a:txBody>
                    <a:bodyPr/>
                    <a:lstStyle/>
                    <a:p>
                      <a:pPr marL="0" indent="0" algn="ctr">
                        <a:lnSpc>
                          <a:spcPct val="100000"/>
                        </a:lnSpc>
                        <a:defRPr/>
                      </a:pPr>
                      <a:r>
                        <a:rPr lang="en-US" sz="1100" b="0" u="none" strike="noStrike" dirty="0">
                          <a:solidFill>
                            <a:schemeClr val="tx1"/>
                          </a:solidFill>
                          <a:sym typeface="Noto Sans SC" panose="020B0200000000000000" charset="-122"/>
                        </a:rPr>
                        <a:t>-187.09</a:t>
                      </a:r>
                      <a:endParaRPr lang="en-US" sz="1100" dirty="0">
                        <a:solidFill>
                          <a:schemeClr val="tx1"/>
                        </a:solidFill>
                      </a:endParaRPr>
                    </a:p>
                  </a:txBody>
                  <a:tcPr marL="101600" marR="101600" marT="101600" marB="101600" anchor="ctr"/>
                </a:tc>
                <a:tc>
                  <a:txBody>
                    <a:bodyPr/>
                    <a:lstStyle/>
                    <a:p>
                      <a:pPr marL="0" indent="0" algn="ctr">
                        <a:lnSpc>
                          <a:spcPct val="100000"/>
                        </a:lnSpc>
                        <a:defRPr/>
                      </a:pPr>
                      <a:r>
                        <a:rPr lang="en-US" sz="1100" b="0" u="none" strike="noStrike">
                          <a:solidFill>
                            <a:schemeClr val="tx1"/>
                          </a:solidFill>
                          <a:sym typeface="Noto Sans SC" panose="020B0200000000000000" charset="-122"/>
                        </a:rPr>
                        <a:t>-187.11</a:t>
                      </a:r>
                      <a:endParaRPr lang="en-US" sz="1100">
                        <a:solidFill>
                          <a:schemeClr val="tx1"/>
                        </a:solidFill>
                      </a:endParaRPr>
                    </a:p>
                  </a:txBody>
                  <a:tcPr marL="101600" marR="101600" marT="101600" marB="101600" anchor="ctr"/>
                </a:tc>
              </a:tr>
              <a:tr h="352203">
                <a:tc>
                  <a:txBody>
                    <a:bodyPr/>
                    <a:lstStyle/>
                    <a:p>
                      <a:pPr marL="0" indent="0" algn="ctr">
                        <a:lnSpc>
                          <a:spcPct val="100000"/>
                        </a:lnSpc>
                        <a:defRPr/>
                      </a:pPr>
                      <a:r>
                        <a:rPr lang="en-US" sz="1100" b="0" u="none" strike="noStrike">
                          <a:solidFill>
                            <a:schemeClr val="tx1"/>
                          </a:solidFill>
                          <a:sym typeface="Noto Sans SC" panose="020B0200000000000000" charset="-122"/>
                        </a:rPr>
                        <a:t>Dist Coverage</a:t>
                      </a:r>
                      <a:endParaRPr lang="en-US" sz="1100">
                        <a:solidFill>
                          <a:schemeClr val="tx1"/>
                        </a:solidFill>
                      </a:endParaRPr>
                    </a:p>
                  </a:txBody>
                  <a:tcPr marL="101600" marR="101600" marT="101600" marB="101600" anchor="ctr"/>
                </a:tc>
                <a:tc>
                  <a:txBody>
                    <a:bodyPr/>
                    <a:lstStyle/>
                    <a:p>
                      <a:pPr marL="0" indent="0" algn="ctr">
                        <a:lnSpc>
                          <a:spcPct val="100000"/>
                        </a:lnSpc>
                        <a:defRPr/>
                      </a:pPr>
                      <a:r>
                        <a:rPr lang="en-US" sz="1100" b="0" u="none" strike="noStrike" dirty="0">
                          <a:solidFill>
                            <a:schemeClr val="tx1"/>
                          </a:solidFill>
                          <a:sym typeface="Noto Sans SC" panose="020B0200000000000000" charset="-122"/>
                        </a:rPr>
                        <a:t>0.769</a:t>
                      </a:r>
                      <a:endParaRPr lang="en-US" sz="1100" dirty="0">
                        <a:solidFill>
                          <a:schemeClr val="tx1"/>
                        </a:solidFill>
                      </a:endParaRPr>
                    </a:p>
                  </a:txBody>
                  <a:tcPr marL="101600" marR="101600" marT="101600" marB="101600" anchor="ctr"/>
                </a:tc>
                <a:tc>
                  <a:txBody>
                    <a:bodyPr/>
                    <a:lstStyle/>
                    <a:p>
                      <a:pPr marL="0" indent="0" algn="ctr">
                        <a:lnSpc>
                          <a:spcPct val="100000"/>
                        </a:lnSpc>
                        <a:defRPr/>
                      </a:pPr>
                      <a:r>
                        <a:rPr lang="en-US" sz="1100" b="0" u="none" strike="noStrike" dirty="0">
                          <a:solidFill>
                            <a:schemeClr val="tx1"/>
                          </a:solidFill>
                          <a:sym typeface="Noto Sans SC" panose="020B0200000000000000" charset="-122"/>
                        </a:rPr>
                        <a:t>0.768</a:t>
                      </a:r>
                      <a:endParaRPr lang="en-US" sz="1100" dirty="0">
                        <a:solidFill>
                          <a:schemeClr val="tx1"/>
                        </a:solidFill>
                      </a:endParaRPr>
                    </a:p>
                  </a:txBody>
                  <a:tcPr marL="101600" marR="101600" marT="101600" marB="101600" anchor="ctr"/>
                </a:tc>
              </a:tr>
              <a:tr h="352203">
                <a:tc>
                  <a:txBody>
                    <a:bodyPr/>
                    <a:lstStyle/>
                    <a:p>
                      <a:pPr marL="0" indent="0" algn="ctr">
                        <a:lnSpc>
                          <a:spcPct val="100000"/>
                        </a:lnSpc>
                        <a:defRPr/>
                      </a:pPr>
                      <a:r>
                        <a:rPr lang="en-US" sz="1100" b="0" u="none" strike="noStrike" dirty="0">
                          <a:solidFill>
                            <a:schemeClr val="tx1"/>
                          </a:solidFill>
                          <a:sym typeface="Noto Sans SC" panose="020B0200000000000000" charset="-122"/>
                        </a:rPr>
                        <a:t>Duplicate Rate</a:t>
                      </a:r>
                      <a:endParaRPr lang="en-US" sz="1100" dirty="0">
                        <a:solidFill>
                          <a:schemeClr val="tx1"/>
                        </a:solidFill>
                      </a:endParaRPr>
                    </a:p>
                  </a:txBody>
                  <a:tcPr marL="101600" marR="101600" marT="101600" marB="101600" anchor="ctr"/>
                </a:tc>
                <a:tc>
                  <a:txBody>
                    <a:bodyPr/>
                    <a:lstStyle/>
                    <a:p>
                      <a:pPr marL="0" indent="0" algn="ctr">
                        <a:lnSpc>
                          <a:spcPct val="100000"/>
                        </a:lnSpc>
                        <a:defRPr/>
                      </a:pPr>
                      <a:r>
                        <a:rPr lang="en-US" sz="1100" b="0" u="none" strike="noStrike">
                          <a:solidFill>
                            <a:schemeClr val="tx1"/>
                          </a:solidFill>
                          <a:sym typeface="Noto Sans SC" panose="020B0200000000000000" charset="-122"/>
                        </a:rPr>
                        <a:t>0.00547</a:t>
                      </a:r>
                      <a:endParaRPr lang="en-US" sz="1100">
                        <a:solidFill>
                          <a:schemeClr val="tx1"/>
                        </a:solidFill>
                      </a:endParaRPr>
                    </a:p>
                  </a:txBody>
                  <a:tcPr marL="101600" marR="101600" marT="101600" marB="101600" anchor="ctr"/>
                </a:tc>
                <a:tc>
                  <a:txBody>
                    <a:bodyPr/>
                    <a:lstStyle/>
                    <a:p>
                      <a:pPr marL="0" indent="0" algn="ctr">
                        <a:lnSpc>
                          <a:spcPct val="100000"/>
                        </a:lnSpc>
                        <a:defRPr/>
                      </a:pPr>
                      <a:r>
                        <a:rPr lang="en-US" sz="1100" b="1" u="none" strike="noStrike" dirty="0">
                          <a:solidFill>
                            <a:schemeClr val="tx1"/>
                          </a:solidFill>
                          <a:sym typeface="Noto Sans SC" panose="020B0200000000000000" charset="-122"/>
                        </a:rPr>
                        <a:t>0.00467 (↓14.6%)</a:t>
                      </a:r>
                      <a:endParaRPr lang="en-US" sz="1100" dirty="0">
                        <a:solidFill>
                          <a:schemeClr val="tx1"/>
                        </a:solidFill>
                      </a:endParaRPr>
                    </a:p>
                  </a:txBody>
                  <a:tcPr marL="101600" marR="101600" marT="101600" marB="101600" anchor="ctr"/>
                </a:tc>
              </a:tr>
              <a:tr h="330475">
                <a:tc>
                  <a:txBody>
                    <a:bodyPr/>
                    <a:lstStyle/>
                    <a:p>
                      <a:pPr algn="ctr"/>
                      <a:r>
                        <a:rPr lang="en-US" altLang="zh-CN" sz="1100" dirty="0"/>
                        <a:t>Collision Count</a:t>
                      </a:r>
                      <a:endParaRPr lang="zh-CN" altLang="en-US" sz="1100" dirty="0"/>
                    </a:p>
                  </a:txBody>
                  <a:tcPr/>
                </a:tc>
                <a:tc>
                  <a:txBody>
                    <a:bodyPr/>
                    <a:lstStyle/>
                    <a:p>
                      <a:pPr algn="ctr"/>
                      <a:r>
                        <a:rPr lang="en-US" altLang="zh-CN" sz="1100" dirty="0"/>
                        <a:t>4.06</a:t>
                      </a:r>
                      <a:endParaRPr lang="zh-CN" altLang="en-US" sz="1100" dirty="0"/>
                    </a:p>
                  </a:txBody>
                  <a:tcPr/>
                </a:tc>
                <a:tc>
                  <a:txBody>
                    <a:bodyPr/>
                    <a:lstStyle/>
                    <a:p>
                      <a:pPr algn="ctr"/>
                      <a:r>
                        <a:rPr lang="en-US" altLang="zh-CN" sz="1100" b="1" dirty="0"/>
                        <a:t>3.84(</a:t>
                      </a:r>
                      <a:r>
                        <a:rPr lang="zh-CN" altLang="en-US" sz="1100" b="1" u="none" strike="noStrike" dirty="0">
                          <a:solidFill>
                            <a:schemeClr val="tx1"/>
                          </a:solidFill>
                          <a:sym typeface="Noto Sans SC" panose="020B0200000000000000" charset="-122"/>
                        </a:rPr>
                        <a:t>略降</a:t>
                      </a:r>
                      <a:r>
                        <a:rPr lang="en-US" altLang="zh-CN" sz="1100" b="1" dirty="0"/>
                        <a:t>)</a:t>
                      </a:r>
                      <a:endParaRPr lang="zh-CN" altLang="en-US" sz="1100" b="1" dirty="0"/>
                    </a:p>
                  </a:txBody>
                  <a:tcPr/>
                </a:tc>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1" cstate="print">
            <a:extLst>
              <a:ext uri="{28A0092B-C50C-407E-A947-70E740481C1C}">
                <a14:useLocalDpi xmlns:a14="http://schemas.microsoft.com/office/drawing/2010/main" val="0"/>
              </a:ext>
            </a:extLst>
          </a:blip>
          <a:srcRect t="27384" b="23262"/>
          <a:stretch>
            <a:fillRect/>
          </a:stretch>
        </p:blipFill>
        <p:spPr>
          <a:xfrm>
            <a:off x="7681201" y="276592"/>
            <a:ext cx="1231162" cy="378945"/>
          </a:xfrm>
          <a:prstGeom prst="rect">
            <a:avLst/>
          </a:prstGeom>
        </p:spPr>
      </p:pic>
      <p:sp>
        <p:nvSpPr>
          <p:cNvPr id="18" name="矩形 17"/>
          <p:cNvSpPr/>
          <p:nvPr/>
        </p:nvSpPr>
        <p:spPr>
          <a:xfrm>
            <a:off x="179070" y="233680"/>
            <a:ext cx="6915150" cy="460375"/>
          </a:xfrm>
          <a:prstGeom prst="rect">
            <a:avLst/>
          </a:prstGeom>
        </p:spPr>
        <p:txBody>
          <a:bodyPr wrap="square">
            <a:spAutoFit/>
          </a:bodyPr>
          <a:lstStyle/>
          <a:p>
            <a:pPr>
              <a:defRPr/>
            </a:pP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sym typeface="+mn-ea"/>
              </a:rPr>
              <a:t>四、</a:t>
            </a:r>
            <a:r>
              <a:rPr lang="en-US" altLang="zh-CN" sz="2400" b="1" spc="-113" dirty="0" err="1">
                <a:ln w="12700">
                  <a:noFill/>
                </a:ln>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Agent轨迹分析与项目总结</a:t>
            </a:r>
            <a:endParaRPr lang="en-US" altLang="zh-CN" sz="2400" b="1" spc="-113" dirty="0">
              <a:ln w="12700">
                <a:noFill/>
              </a:ln>
              <a:solidFill>
                <a:srgbClr val="0070C0"/>
              </a:solidFill>
              <a:latin typeface="楷体" panose="02010609060101010101" charset="-122"/>
              <a:ea typeface="楷体" panose="02010609060101010101" charset="-122"/>
              <a:cs typeface="楷体" panose="02010609060101010101" charset="-122"/>
            </a:endParaRPr>
          </a:p>
        </p:txBody>
      </p:sp>
      <p:cxnSp>
        <p:nvCxnSpPr>
          <p:cNvPr id="19" name="直接连接符 18"/>
          <p:cNvCxnSpPr/>
          <p:nvPr/>
        </p:nvCxnSpPr>
        <p:spPr>
          <a:xfrm>
            <a:off x="179805" y="694107"/>
            <a:ext cx="6840000"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069" y="915565"/>
            <a:ext cx="4574043" cy="2736305"/>
          </a:xfrm>
          <a:prstGeom prst="rect">
            <a:avLst/>
          </a:prstGeom>
        </p:spPr>
      </p:pic>
      <p:sp>
        <p:nvSpPr>
          <p:cNvPr id="7" name="AutoShape 7"/>
          <p:cNvSpPr/>
          <p:nvPr/>
        </p:nvSpPr>
        <p:spPr>
          <a:xfrm>
            <a:off x="340360" y="3827780"/>
            <a:ext cx="3799205" cy="68262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dirty="0" err="1">
                <a:latin typeface="楷体" panose="02010609060101010101" charset="-122"/>
                <a:ea typeface="楷体" panose="02010609060101010101" charset="-122"/>
                <a:cs typeface="楷体" panose="02010609060101010101" charset="-122"/>
                <a:sym typeface="Noto Sans SC" panose="020B0200000000000000" charset="-122"/>
              </a:rPr>
              <a:t>样本说明：</a:t>
            </a:r>
            <a:r>
              <a:rPr lang="en-US" altLang="zh-CN" sz="1200" dirty="0" err="1">
                <a:latin typeface="楷体" panose="02010609060101010101" charset="-122"/>
                <a:ea typeface="楷体" panose="02010609060101010101" charset="-122"/>
                <a:cs typeface="楷体" panose="02010609060101010101" charset="-122"/>
              </a:rPr>
              <a:t>Seed</a:t>
            </a:r>
            <a:r>
              <a:rPr lang="en-US" altLang="zh-CN" sz="1200" dirty="0">
                <a:latin typeface="楷体" panose="02010609060101010101" charset="-122"/>
                <a:ea typeface="楷体" panose="02010609060101010101" charset="-122"/>
                <a:cs typeface="楷体" panose="02010609060101010101" charset="-122"/>
              </a:rPr>
              <a:t> 28</a:t>
            </a:r>
            <a:r>
              <a:rPr lang="zh-CN" altLang="en-US" sz="1200" dirty="0">
                <a:latin typeface="楷体" panose="02010609060101010101" charset="-122"/>
                <a:ea typeface="楷体" panose="02010609060101010101" charset="-122"/>
                <a:cs typeface="楷体" panose="02010609060101010101" charset="-122"/>
              </a:rPr>
              <a:t>由预设数值规则筛选，两种模型使用相同初始状态。轨迹图仅用于展示代表性行为差异，整体结论以</a:t>
            </a:r>
            <a:r>
              <a:rPr lang="en-US" altLang="zh-CN" sz="1200" dirty="0">
                <a:latin typeface="楷体" panose="02010609060101010101" charset="-122"/>
                <a:ea typeface="楷体" panose="02010609060101010101" charset="-122"/>
                <a:cs typeface="楷体" panose="02010609060101010101" charset="-122"/>
              </a:rPr>
              <a:t>100</a:t>
            </a:r>
            <a:r>
              <a:rPr lang="zh-CN" altLang="en-US" sz="1200" dirty="0">
                <a:latin typeface="楷体" panose="02010609060101010101" charset="-122"/>
                <a:ea typeface="楷体" panose="02010609060101010101" charset="-122"/>
                <a:cs typeface="楷体" panose="02010609060101010101" charset="-122"/>
              </a:rPr>
              <a:t>个</a:t>
            </a:r>
            <a:r>
              <a:rPr lang="en-US" altLang="zh-CN" sz="1200" dirty="0">
                <a:latin typeface="楷体" panose="02010609060101010101" charset="-122"/>
                <a:ea typeface="楷体" panose="02010609060101010101" charset="-122"/>
                <a:cs typeface="楷体" panose="02010609060101010101" charset="-122"/>
              </a:rPr>
              <a:t>episode</a:t>
            </a:r>
            <a:r>
              <a:rPr lang="zh-CN" altLang="en-US" sz="1200" dirty="0">
                <a:latin typeface="楷体" panose="02010609060101010101" charset="-122"/>
                <a:ea typeface="楷体" panose="02010609060101010101" charset="-122"/>
                <a:cs typeface="楷体" panose="02010609060101010101" charset="-122"/>
              </a:rPr>
              <a:t>统计结果为准。</a:t>
            </a:r>
            <a:endParaRPr lang="en-US" sz="1200" dirty="0">
              <a:latin typeface="楷体" panose="02010609060101010101" charset="-122"/>
              <a:ea typeface="楷体" panose="02010609060101010101" charset="-122"/>
              <a:cs typeface="楷体" panose="02010609060101010101" charset="-122"/>
            </a:endParaRPr>
          </a:p>
        </p:txBody>
      </p:sp>
      <p:sp>
        <p:nvSpPr>
          <p:cNvPr id="8" name="AutoShape 8"/>
          <p:cNvSpPr/>
          <p:nvPr/>
        </p:nvSpPr>
        <p:spPr>
          <a:xfrm>
            <a:off x="4860032" y="843558"/>
            <a:ext cx="394325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01 / </a:t>
            </a:r>
            <a:r>
              <a:rPr lang="en-US" sz="2000" b="1" i="0" u="none" strike="noStrike" dirty="0" err="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实验关键发现</a:t>
            </a:r>
            <a:endParaRPr lang="en-US" sz="1100" dirty="0">
              <a:solidFill>
                <a:schemeClr val="tx1"/>
              </a:solidFill>
            </a:endParaRPr>
          </a:p>
        </p:txBody>
      </p:sp>
      <p:sp>
        <p:nvSpPr>
          <p:cNvPr id="9" name="AutoShape 9"/>
          <p:cNvSpPr/>
          <p:nvPr/>
        </p:nvSpPr>
        <p:spPr>
          <a:xfrm>
            <a:off x="4860032" y="1478558"/>
            <a:ext cx="5112568" cy="698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10" name="AutoShape 10"/>
          <p:cNvSpPr/>
          <p:nvPr/>
        </p:nvSpPr>
        <p:spPr>
          <a:xfrm>
            <a:off x="4860031" y="1312466"/>
            <a:ext cx="4052332"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有效行为习得：</a:t>
            </a:r>
            <a:r>
              <a:rPr lang="en-US" sz="12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MAPPO模型显著优于随机策略</a:t>
            </a:r>
            <a:r>
              <a:rPr lang="en-US" sz="12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200" dirty="0">
                <a:latin typeface="楷体" panose="02010609060101010101" charset="-122"/>
                <a:ea typeface="楷体" panose="02010609060101010101" charset="-122"/>
                <a:cs typeface="楷体" panose="02010609060101010101" charset="-122"/>
              </a:rPr>
              <a:t>智能体表现出更明显的目标接近行为</a:t>
            </a:r>
            <a:r>
              <a:rPr lang="en-US" sz="1200" dirty="0">
                <a:latin typeface="楷体" panose="02010609060101010101" charset="-122"/>
                <a:ea typeface="楷体" panose="02010609060101010101" charset="-122"/>
                <a:cs typeface="楷体" panose="02010609060101010101" charset="-122"/>
                <a:sym typeface="Noto Sans SC" panose="020B0200000000000000" charset="-122"/>
              </a:rPr>
              <a:t>。</a:t>
            </a:r>
            <a:endParaRPr lang="en-US" sz="1200" dirty="0">
              <a:latin typeface="楷体" panose="02010609060101010101" charset="-122"/>
              <a:ea typeface="楷体" panose="02010609060101010101" charset="-122"/>
              <a:cs typeface="楷体" panose="02010609060101010101" charset="-122"/>
            </a:endParaRPr>
          </a:p>
        </p:txBody>
      </p:sp>
      <p:sp>
        <p:nvSpPr>
          <p:cNvPr id="11" name="AutoShape 11"/>
          <p:cNvSpPr/>
          <p:nvPr/>
        </p:nvSpPr>
        <p:spPr>
          <a:xfrm>
            <a:off x="4860032" y="2304058"/>
            <a:ext cx="5461000" cy="698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12" name="AutoShape 12"/>
          <p:cNvSpPr/>
          <p:nvPr/>
        </p:nvSpPr>
        <p:spPr>
          <a:xfrm>
            <a:off x="4841983" y="1904008"/>
            <a:ext cx="407038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惩罚机制</a:t>
            </a:r>
            <a:r>
              <a:rPr lang="zh-CN" altLang="en-US" sz="1200" b="1"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效果</a:t>
            </a:r>
            <a:r>
              <a:rPr lang="en-US" sz="1200" b="1"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a:t>
            </a:r>
            <a:r>
              <a:rPr lang="en-US" altLang="zh-CN" sz="1200" dirty="0">
                <a:latin typeface="楷体" panose="02010609060101010101" charset="-122"/>
                <a:ea typeface="楷体" panose="02010609060101010101" charset="-122"/>
                <a:cs typeface="楷体" panose="02010609060101010101" charset="-122"/>
              </a:rPr>
              <a:t>Duplicate Penalty</a:t>
            </a:r>
            <a:r>
              <a:rPr lang="zh-CN" altLang="en-US" sz="1200" dirty="0">
                <a:latin typeface="楷体" panose="02010609060101010101" charset="-122"/>
                <a:ea typeface="楷体" panose="02010609060101010101" charset="-122"/>
                <a:cs typeface="楷体" panose="02010609060101010101" charset="-122"/>
              </a:rPr>
              <a:t>未明显提升总</a:t>
            </a:r>
            <a:r>
              <a:rPr lang="en-US" altLang="zh-CN" sz="1200" dirty="0">
                <a:latin typeface="楷体" panose="02010609060101010101" charset="-122"/>
                <a:ea typeface="楷体" panose="02010609060101010101" charset="-122"/>
                <a:cs typeface="楷体" panose="02010609060101010101" charset="-122"/>
              </a:rPr>
              <a:t>Reward</a:t>
            </a:r>
            <a:r>
              <a:rPr lang="zh-CN" altLang="en-US" sz="1200" dirty="0">
                <a:latin typeface="楷体" panose="02010609060101010101" charset="-122"/>
                <a:ea typeface="楷体" panose="02010609060101010101" charset="-122"/>
                <a:cs typeface="楷体" panose="02010609060101010101" charset="-122"/>
              </a:rPr>
              <a:t>和目标接近能力，但实验中观察到重复占点率下降，说明其在一定程度上改善了</a:t>
            </a:r>
            <a:r>
              <a:rPr lang="en-US" altLang="zh-CN" sz="1200" dirty="0">
                <a:latin typeface="楷体" panose="02010609060101010101" charset="-122"/>
                <a:ea typeface="楷体" panose="02010609060101010101" charset="-122"/>
                <a:cs typeface="楷体" panose="02010609060101010101" charset="-122"/>
              </a:rPr>
              <a:t>Agent</a:t>
            </a:r>
            <a:r>
              <a:rPr lang="zh-CN" altLang="en-US" sz="1200" dirty="0">
                <a:latin typeface="楷体" panose="02010609060101010101" charset="-122"/>
                <a:ea typeface="楷体" panose="02010609060101010101" charset="-122"/>
                <a:cs typeface="楷体" panose="02010609060101010101" charset="-122"/>
              </a:rPr>
              <a:t>的协作行为。</a:t>
            </a:r>
            <a:endParaRPr lang="en-US" sz="1200" dirty="0">
              <a:latin typeface="楷体" panose="02010609060101010101" charset="-122"/>
              <a:ea typeface="楷体" panose="02010609060101010101" charset="-122"/>
              <a:cs typeface="楷体" panose="02010609060101010101" charset="-122"/>
            </a:endParaRPr>
          </a:p>
        </p:txBody>
      </p:sp>
      <p:sp>
        <p:nvSpPr>
          <p:cNvPr id="13" name="AutoShape 13"/>
          <p:cNvSpPr/>
          <p:nvPr/>
        </p:nvSpPr>
        <p:spPr>
          <a:xfrm>
            <a:off x="4860032" y="3129558"/>
            <a:ext cx="5461000" cy="698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14" name="AutoShape 14"/>
          <p:cNvSpPr/>
          <p:nvPr/>
        </p:nvSpPr>
        <p:spPr>
          <a:xfrm>
            <a:off x="4830543" y="2483661"/>
            <a:ext cx="407038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多维评价体系：</a:t>
            </a:r>
            <a:r>
              <a:rPr lang="en-US" sz="12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验证了单一</a:t>
            </a:r>
            <a:r>
              <a:rPr lang="en-US" sz="12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 Reward </a:t>
            </a:r>
            <a:r>
              <a:rPr lang="en-US" sz="12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指标的局限性，行为指标（如覆盖率、冲突率）对模型评估至关重要</a:t>
            </a:r>
            <a:r>
              <a:rPr lang="en-US" sz="12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a:t>
            </a:r>
            <a:endParaRPr lang="en-US" sz="1200" dirty="0">
              <a:solidFill>
                <a:schemeClr val="tx1"/>
              </a:solidFill>
              <a:latin typeface="楷体" panose="02010609060101010101" charset="-122"/>
              <a:ea typeface="楷体" panose="02010609060101010101" charset="-122"/>
              <a:cs typeface="楷体" panose="02010609060101010101" charset="-122"/>
            </a:endParaRPr>
          </a:p>
        </p:txBody>
      </p:sp>
      <p:sp>
        <p:nvSpPr>
          <p:cNvPr id="16" name="AutoShape 16"/>
          <p:cNvSpPr/>
          <p:nvPr/>
        </p:nvSpPr>
        <p:spPr>
          <a:xfrm>
            <a:off x="4830543" y="3147814"/>
            <a:ext cx="3972739"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02 / </a:t>
            </a:r>
            <a:r>
              <a:rPr lang="en-US" sz="2000" b="1" i="0" u="none" strike="noStrike" dirty="0" err="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未来优化方向</a:t>
            </a:r>
            <a:endParaRPr lang="en-US" sz="1100" dirty="0">
              <a:solidFill>
                <a:schemeClr val="tx1"/>
              </a:solidFill>
            </a:endParaRPr>
          </a:p>
        </p:txBody>
      </p:sp>
      <p:sp>
        <p:nvSpPr>
          <p:cNvPr id="20" name="AutoShape 17"/>
          <p:cNvSpPr/>
          <p:nvPr/>
        </p:nvSpPr>
        <p:spPr>
          <a:xfrm>
            <a:off x="4281810" y="3804742"/>
            <a:ext cx="1442318" cy="904974"/>
          </a:xfrm>
          <a:prstGeom prst="roundRect">
            <a:avLst>
              <a:gd name="adj" fmla="val 0"/>
            </a:avLst>
          </a:prstGeom>
          <a:solidFill>
            <a:srgbClr val="64FFDA">
              <a:alpha val="8000"/>
            </a:srgbClr>
          </a:solidFill>
          <a:ln w="12700" cap="flat" cmpd="sng">
            <a:solidFill>
              <a:srgbClr val="64FFDA">
                <a:alpha val="20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21" name="AutoShape 18"/>
          <p:cNvSpPr/>
          <p:nvPr/>
        </p:nvSpPr>
        <p:spPr>
          <a:xfrm>
            <a:off x="4345310" y="3719116"/>
            <a:ext cx="1378818"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权重精细化</a:t>
            </a:r>
            <a:endParaRPr lang="en-US" sz="1100" dirty="0">
              <a:solidFill>
                <a:schemeClr val="tx1"/>
              </a:solidFill>
              <a:latin typeface="楷体" panose="02010609060101010101" charset="-122"/>
              <a:ea typeface="楷体" panose="02010609060101010101" charset="-122"/>
              <a:cs typeface="楷体" panose="02010609060101010101" charset="-122"/>
            </a:endParaRPr>
          </a:p>
          <a:p>
            <a:pPr marL="0" indent="0" algn="l">
              <a:lnSpc>
                <a:spcPct val="100000"/>
              </a:lnSpc>
            </a:pPr>
            <a:r>
              <a:rPr lang="en-US" sz="900" b="0" i="0" u="none" strike="noStrike" dirty="0" err="1">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动态调整Penalty系数，平衡短期收益与长期协作</a:t>
            </a:r>
            <a:r>
              <a:rPr lang="en-US" sz="9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rPr>
              <a:t>。</a:t>
            </a:r>
            <a:endParaRPr lang="en-US" sz="900" b="0" i="0" u="none" strike="noStrike" dirty="0">
              <a:solidFill>
                <a:schemeClr val="tx1"/>
              </a:solidFill>
              <a:latin typeface="楷体" panose="02010609060101010101" charset="-122"/>
              <a:ea typeface="楷体" panose="02010609060101010101" charset="-122"/>
              <a:cs typeface="楷体" panose="02010609060101010101" charset="-122"/>
              <a:sym typeface="Noto Sans SC" panose="020B0200000000000000" charset="-122"/>
            </a:endParaRPr>
          </a:p>
        </p:txBody>
      </p:sp>
      <p:sp>
        <p:nvSpPr>
          <p:cNvPr id="22" name="AutoShape 19"/>
          <p:cNvSpPr/>
          <p:nvPr/>
        </p:nvSpPr>
        <p:spPr>
          <a:xfrm>
            <a:off x="5865986" y="3810239"/>
            <a:ext cx="1580751" cy="904974"/>
          </a:xfrm>
          <a:prstGeom prst="roundRect">
            <a:avLst>
              <a:gd name="adj" fmla="val 0"/>
            </a:avLst>
          </a:prstGeom>
          <a:solidFill>
            <a:srgbClr val="64FFDA">
              <a:alpha val="8000"/>
            </a:srgbClr>
          </a:solidFill>
          <a:ln w="12700" cap="flat" cmpd="sng">
            <a:solidFill>
              <a:srgbClr val="64FFDA">
                <a:alpha val="20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23" name="AutoShape 20"/>
          <p:cNvSpPr/>
          <p:nvPr/>
        </p:nvSpPr>
        <p:spPr>
          <a:xfrm>
            <a:off x="5929486" y="3724613"/>
            <a:ext cx="1495885"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显式通信机制</a:t>
            </a:r>
            <a:endParaRPr lang="en-US" sz="1100" dirty="0">
              <a:solidFill>
                <a:schemeClr val="tx1"/>
              </a:solidFill>
              <a:latin typeface="楷体" panose="02010609060101010101" charset="-122"/>
              <a:ea typeface="楷体" panose="02010609060101010101" charset="-122"/>
            </a:endParaRPr>
          </a:p>
          <a:p>
            <a:r>
              <a:rPr lang="en-US" sz="900" dirty="0" err="1">
                <a:latin typeface="楷体" panose="02010609060101010101" charset="-122"/>
                <a:ea typeface="楷体" panose="02010609060101010101" charset="-122"/>
                <a:sym typeface="Noto Sans SC" panose="020B0200000000000000" charset="-122"/>
              </a:rPr>
              <a:t>引入智能体间的信息交互，提升复杂场景下的协同效率</a:t>
            </a:r>
            <a:r>
              <a:rPr lang="en-US" sz="900" dirty="0">
                <a:latin typeface="楷体" panose="02010609060101010101" charset="-122"/>
                <a:ea typeface="楷体" panose="02010609060101010101" charset="-122"/>
                <a:sym typeface="Noto Sans SC" panose="020B0200000000000000" charset="-122"/>
              </a:rPr>
              <a:t>。</a:t>
            </a:r>
            <a:endParaRPr lang="en-US" sz="900" dirty="0">
              <a:latin typeface="楷体" panose="02010609060101010101" charset="-122"/>
              <a:ea typeface="楷体" panose="02010609060101010101" charset="-122"/>
              <a:sym typeface="Noto Sans SC" panose="020B0200000000000000" charset="-122"/>
            </a:endParaRPr>
          </a:p>
        </p:txBody>
      </p:sp>
      <p:sp>
        <p:nvSpPr>
          <p:cNvPr id="24" name="AutoShape 21"/>
          <p:cNvSpPr/>
          <p:nvPr/>
        </p:nvSpPr>
        <p:spPr>
          <a:xfrm>
            <a:off x="7522629" y="3819982"/>
            <a:ext cx="1513867" cy="877590"/>
          </a:xfrm>
          <a:prstGeom prst="roundRect">
            <a:avLst>
              <a:gd name="adj" fmla="val 0"/>
            </a:avLst>
          </a:prstGeom>
          <a:solidFill>
            <a:srgbClr val="64FFDA">
              <a:alpha val="8000"/>
            </a:srgbClr>
          </a:solidFill>
          <a:ln w="12700" cap="flat" cmpd="sng">
            <a:solidFill>
              <a:srgbClr val="64FFDA">
                <a:alpha val="20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25" name="AutoShape 22"/>
          <p:cNvSpPr/>
          <p:nvPr/>
        </p:nvSpPr>
        <p:spPr>
          <a:xfrm>
            <a:off x="7586129" y="3706972"/>
            <a:ext cx="1378818"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多环境泛化</a:t>
            </a:r>
            <a:endParaRPr lang="en-US" sz="1100" dirty="0">
              <a:solidFill>
                <a:schemeClr val="tx1"/>
              </a:solidFill>
              <a:latin typeface="楷体" panose="02010609060101010101" charset="-122"/>
              <a:ea typeface="楷体" panose="02010609060101010101" charset="-122"/>
            </a:endParaRPr>
          </a:p>
          <a:p>
            <a:pPr indent="0">
              <a:lnSpc>
                <a:spcPct val="100000"/>
              </a:lnSpc>
            </a:pPr>
            <a:r>
              <a:rPr lang="en-US" sz="900" dirty="0" err="1">
                <a:latin typeface="楷体" panose="02010609060101010101" charset="-122"/>
                <a:ea typeface="楷体" panose="02010609060101010101" charset="-122"/>
                <a:sym typeface="Noto Sans SC" panose="020B0200000000000000" charset="-122"/>
              </a:rPr>
              <a:t>在动态障碍物与不规则地形中验证模型鲁棒性</a:t>
            </a:r>
            <a:r>
              <a:rPr lang="en-US" sz="900" dirty="0">
                <a:latin typeface="楷体" panose="02010609060101010101" charset="-122"/>
                <a:ea typeface="楷体" panose="02010609060101010101" charset="-122"/>
                <a:sym typeface="Noto Sans SC" panose="020B0200000000000000" charset="-122"/>
              </a:rPr>
              <a:t>。</a:t>
            </a:r>
            <a:endParaRPr lang="en-US" sz="900" dirty="0">
              <a:latin typeface="楷体" panose="02010609060101010101" charset="-122"/>
              <a:ea typeface="楷体" panose="02010609060101010101" charset="-122"/>
              <a:sym typeface="Noto Sans SC" panose="020B0200000000000000"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3036734" y="1623794"/>
            <a:ext cx="5869668" cy="737877"/>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35132" r="34068"/>
          <a:stretch>
            <a:fillRect/>
          </a:stretch>
        </p:blipFill>
        <p:spPr>
          <a:xfrm>
            <a:off x="0" y="0"/>
            <a:ext cx="2376264" cy="5143500"/>
          </a:xfrm>
          <a:prstGeom prst="rect">
            <a:avLst/>
          </a:prstGeom>
        </p:spPr>
      </p:pic>
      <p:grpSp>
        <p:nvGrpSpPr>
          <p:cNvPr id="3" name="组合 2"/>
          <p:cNvGrpSpPr/>
          <p:nvPr/>
        </p:nvGrpSpPr>
        <p:grpSpPr>
          <a:xfrm>
            <a:off x="645697" y="1023932"/>
            <a:ext cx="2071314" cy="3069126"/>
            <a:chOff x="1475656" y="1023932"/>
            <a:chExt cx="2071314" cy="3069126"/>
          </a:xfrm>
        </p:grpSpPr>
        <p:sp>
          <p:nvSpPr>
            <p:cNvPr id="2" name="矩形 1"/>
            <p:cNvSpPr/>
            <p:nvPr/>
          </p:nvSpPr>
          <p:spPr>
            <a:xfrm>
              <a:off x="1475656" y="1023932"/>
              <a:ext cx="2034790" cy="30691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2700000">
              <a:off x="2592171" y="2073019"/>
              <a:ext cx="956916" cy="95268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3" name="Object 303"/>
          <p:cNvSpPr txBox="1"/>
          <p:nvPr/>
        </p:nvSpPr>
        <p:spPr>
          <a:xfrm>
            <a:off x="878506" y="3012281"/>
            <a:ext cx="1743075" cy="342900"/>
          </a:xfrm>
          <a:prstGeom prst="rect">
            <a:avLst/>
          </a:prstGeom>
        </p:spPr>
        <p:txBody>
          <a:bodyPr vert="horz" rtlCol="0" anchor="t" anchorCtr="0">
            <a:noAutofit/>
          </a:bodyPr>
          <a:lstStyle/>
          <a:p>
            <a:pPr algn="l">
              <a:lnSpc>
                <a:spcPct val="100000"/>
              </a:lnSpc>
            </a:pPr>
            <a:r>
              <a:rPr lang="en-US" altLang="zh-CN" sz="2250" dirty="0">
                <a:solidFill>
                  <a:srgbClr val="FFFFFF"/>
                </a:solidFill>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rPr>
              <a:t>Content</a:t>
            </a:r>
            <a:endParaRPr lang="zh-CN" altLang="en-US" sz="675" dirty="0">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endParaRPr>
          </a:p>
        </p:txBody>
      </p:sp>
      <p:sp>
        <p:nvSpPr>
          <p:cNvPr id="304" name="Object 304"/>
          <p:cNvSpPr txBox="1"/>
          <p:nvPr/>
        </p:nvSpPr>
        <p:spPr>
          <a:xfrm>
            <a:off x="799322" y="2313719"/>
            <a:ext cx="1695450" cy="409575"/>
          </a:xfrm>
          <a:prstGeom prst="rect">
            <a:avLst/>
          </a:prstGeom>
        </p:spPr>
        <p:txBody>
          <a:bodyPr vert="horz" rtlCol="0" anchor="t" anchorCtr="0">
            <a:noAutofit/>
          </a:bodyPr>
          <a:lstStyle/>
          <a:p>
            <a:pPr algn="l">
              <a:lnSpc>
                <a:spcPct val="100000"/>
              </a:lnSpc>
            </a:pPr>
            <a:r>
              <a:rPr lang="zh-CN" altLang="en-US" sz="4000" spc="540" dirty="0">
                <a:solidFill>
                  <a:srgbClr val="FFFFFF"/>
                </a:solidFill>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rPr>
              <a:t>目录</a:t>
            </a:r>
            <a:endParaRPr lang="zh-CN" altLang="en-US" sz="1050" dirty="0">
              <a:effectLst>
                <a:outerShdw blurRad="38100" dist="38100" dir="2700000" algn="tl">
                  <a:srgbClr val="000000">
                    <a:alpha val="43137"/>
                  </a:srgbClr>
                </a:outerShdw>
              </a:effectLst>
              <a:latin typeface="方正粗宋简体" panose="03000509000000000000" pitchFamily="65" charset="-122"/>
              <a:ea typeface="方正粗宋简体" panose="03000509000000000000" pitchFamily="65" charset="-122"/>
            </a:endParaRPr>
          </a:p>
        </p:txBody>
      </p:sp>
      <p:pic>
        <p:nvPicPr>
          <p:cNvPr id="305" name="image 305"/>
          <p:cNvPicPr>
            <a:picLocks noChangeAspect="1"/>
          </p:cNvPicPr>
          <p:nvPr/>
        </p:nvPicPr>
        <p:blipFill>
          <a:blip r:embed="rId2"/>
          <a:srcRect/>
          <a:stretch>
            <a:fillRect/>
          </a:stretch>
        </p:blipFill>
        <p:spPr>
          <a:xfrm>
            <a:off x="942799" y="2170065"/>
            <a:ext cx="1614488" cy="38100"/>
          </a:xfrm>
          <a:prstGeom prst="rect">
            <a:avLst/>
          </a:prstGeom>
        </p:spPr>
      </p:pic>
      <p:pic>
        <p:nvPicPr>
          <p:cNvPr id="22" name="图片 21"/>
          <p:cNvPicPr>
            <a:picLocks noChangeAspect="1"/>
          </p:cNvPicPr>
          <p:nvPr/>
        </p:nvPicPr>
        <p:blipFill rotWithShape="1">
          <a:blip r:embed="rId3" cstate="screen"/>
          <a:srcRect t="26606" b="23577"/>
          <a:stretch>
            <a:fillRect/>
          </a:stretch>
        </p:blipFill>
        <p:spPr>
          <a:xfrm>
            <a:off x="914225" y="1608604"/>
            <a:ext cx="1180554" cy="366774"/>
          </a:xfrm>
          <a:prstGeom prst="rect">
            <a:avLst/>
          </a:prstGeom>
          <a:effectLst/>
        </p:spPr>
      </p:pic>
      <p:sp>
        <p:nvSpPr>
          <p:cNvPr id="29" name="左箭头 28"/>
          <p:cNvSpPr/>
          <p:nvPr/>
        </p:nvSpPr>
        <p:spPr>
          <a:xfrm flipH="1">
            <a:off x="3024206" y="1623794"/>
            <a:ext cx="702183" cy="737877"/>
          </a:xfrm>
          <a:prstGeom prst="leftArrow">
            <a:avLst>
              <a:gd name="adj1" fmla="val 100000"/>
              <a:gd name="adj2" fmla="val 2805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endParaRPr lang="zh-CN" altLang="en-US" sz="2000" dirty="0">
              <a:latin typeface="+mj-ea"/>
              <a:ea typeface="+mj-ea"/>
            </a:endParaRPr>
          </a:p>
        </p:txBody>
      </p:sp>
      <p:sp>
        <p:nvSpPr>
          <p:cNvPr id="32" name="矩形 31"/>
          <p:cNvSpPr/>
          <p:nvPr/>
        </p:nvSpPr>
        <p:spPr>
          <a:xfrm>
            <a:off x="2843808" y="1767387"/>
            <a:ext cx="984376" cy="506730"/>
          </a:xfrm>
          <a:prstGeom prst="rect">
            <a:avLst/>
          </a:prstGeom>
        </p:spPr>
        <p:txBody>
          <a:bodyPr wrap="square">
            <a:spAutoFit/>
          </a:bodyPr>
          <a:lstStyle/>
          <a:p>
            <a:pPr lvl="0" algn="ctr">
              <a:defRPr/>
            </a:pPr>
            <a:r>
              <a:rPr lang="zh-CN" altLang="en-US" sz="2700" spc="-1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rPr>
              <a:t>三</a:t>
            </a:r>
            <a:endParaRPr lang="zh-CN" altLang="en-US" sz="2700" spc="-1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endParaRPr>
          </a:p>
        </p:txBody>
      </p:sp>
      <p:sp>
        <p:nvSpPr>
          <p:cNvPr id="23" name="矩形 22"/>
          <p:cNvSpPr/>
          <p:nvPr/>
        </p:nvSpPr>
        <p:spPr>
          <a:xfrm>
            <a:off x="3021961" y="1767387"/>
            <a:ext cx="6420323" cy="460375"/>
          </a:xfrm>
          <a:prstGeom prst="rect">
            <a:avLst/>
          </a:prstGeom>
        </p:spPr>
        <p:txBody>
          <a:bodyPr wrap="square">
            <a:spAutoFit/>
          </a:bodyPr>
          <a:lstStyle/>
          <a:p>
            <a:pPr lvl="0" algn="ctr">
              <a:defRPr/>
            </a:pPr>
            <a:r>
              <a:rPr lang="en-US" altLang="zh-CN" sz="2400" spc="-300" dirty="0">
                <a:solidFill>
                  <a:srgbClr val="0070C0"/>
                </a:solidFill>
                <a:latin typeface="方正粗黑宋简体" panose="02000000000000000000" pitchFamily="2" charset="-122"/>
                <a:ea typeface="方正粗黑宋简体" panose="02000000000000000000" pitchFamily="2" charset="-122"/>
                <a:sym typeface="+mn-ea"/>
              </a:rPr>
              <a:t>MARVEL </a:t>
            </a:r>
            <a:r>
              <a:rPr lang="zh-CN" altLang="en-US" sz="2400" spc="-300" dirty="0">
                <a:solidFill>
                  <a:srgbClr val="0070C0"/>
                </a:solidFill>
                <a:latin typeface="方正粗黑宋简体" panose="02000000000000000000" pitchFamily="2" charset="-122"/>
                <a:ea typeface="方正粗黑宋简体" panose="02000000000000000000" pitchFamily="2" charset="-122"/>
                <a:sym typeface="+mn-ea"/>
              </a:rPr>
              <a:t>算法及改进分析</a:t>
            </a:r>
            <a:endParaRPr lang="zh-CN" altLang="en-US" sz="2400" spc="-300" dirty="0">
              <a:solidFill>
                <a:srgbClr val="0070C0"/>
              </a:solidFill>
              <a:latin typeface="+mj-ea"/>
              <a:ea typeface="+mj-ea"/>
            </a:endParaRPr>
          </a:p>
        </p:txBody>
      </p:sp>
      <p:sp>
        <p:nvSpPr>
          <p:cNvPr id="14" name="文本框 13"/>
          <p:cNvSpPr txBox="1"/>
          <p:nvPr/>
        </p:nvSpPr>
        <p:spPr>
          <a:xfrm>
            <a:off x="6300733" y="3772694"/>
            <a:ext cx="2593551" cy="460375"/>
          </a:xfrm>
          <a:prstGeom prst="rect">
            <a:avLst/>
          </a:prstGeom>
          <a:noFill/>
        </p:spPr>
        <p:txBody>
          <a:bodyPr wrap="square" rtlCol="0">
            <a:spAutoFit/>
          </a:bodyPr>
          <a:lstStyle/>
          <a:p>
            <a:pPr algn="ctr"/>
            <a:r>
              <a:rPr lang="zh-CN" altLang="en-US" sz="2400" dirty="0">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汇报人：蔡佳</a:t>
            </a:r>
            <a:r>
              <a:rPr lang="zh-CN" altLang="en-US" sz="2400" dirty="0">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兴</a:t>
            </a:r>
            <a:endParaRPr lang="zh-CN" altLang="en-US" sz="2400" dirty="0">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endParaRPr>
          </a:p>
        </p:txBody>
      </p:sp>
      <p:sp>
        <p:nvSpPr>
          <p:cNvPr id="4" name="AutoShape 2"/>
          <p:cNvSpPr/>
          <p:nvPr>
            <p:custDataLst>
              <p:tags r:id="rId4"/>
            </p:custDataLst>
          </p:nvPr>
        </p:nvSpPr>
        <p:spPr>
          <a:xfrm rot="5400000">
            <a:off x="4749800" y="1104900"/>
            <a:ext cx="609600" cy="4089400"/>
          </a:xfrm>
          <a:prstGeom prst="roundRect">
            <a:avLst>
              <a:gd name="adj" fmla="val 0"/>
            </a:avLst>
          </a:prstGeom>
          <a:gradFill rotWithShape="0">
            <a:gsLst>
              <a:gs pos="0">
                <a:srgbClr val="FFFFFF">
                  <a:alpha val="0"/>
                </a:srgbClr>
              </a:gs>
              <a:gs pos="100000">
                <a:srgbClr val="0070C0">
                  <a:alpha val="100000"/>
                </a:srgbClr>
              </a:gs>
            </a:gsLst>
            <a:lin ang="5400000"/>
          </a:gradFill>
          <a:ln w="25400" cap="flat" cmpd="sng">
            <a:noFill/>
            <a:prstDash val="solid"/>
            <a:round/>
          </a:ln>
        </p:spPr>
        <p:txBody>
          <a:bodyPr vert="horz" wrap="square" lIns="63500" tIns="63500" rIns="63500" bIns="63500" rtlCol="0" anchor="ctr"/>
          <a:p>
            <a:pPr algn="ctr">
              <a:defRPr/>
            </a:pPr>
          </a:p>
        </p:txBody>
      </p:sp>
      <p:sp>
        <p:nvSpPr>
          <p:cNvPr id="5" name="AutoShape 14"/>
          <p:cNvSpPr/>
          <p:nvPr>
            <p:custDataLst>
              <p:tags r:id="rId5"/>
            </p:custDataLst>
          </p:nvPr>
        </p:nvSpPr>
        <p:spPr>
          <a:xfrm>
            <a:off x="3035300" y="2768600"/>
            <a:ext cx="914400" cy="571500"/>
          </a:xfrm>
          <a:prstGeom prst="curvedRightArrow">
            <a:avLst>
              <a:gd name="adj1" fmla="val 25000"/>
              <a:gd name="adj2" fmla="val 50000"/>
              <a:gd name="adj3" fmla="val 25000"/>
            </a:avLst>
          </a:prstGeom>
          <a:solidFill>
            <a:srgbClr val="FFFFFF">
              <a:alpha val="100000"/>
            </a:srgbClr>
          </a:solidFill>
          <a:ln w="12700" cap="flat" cmpd="sng">
            <a:solidFill>
              <a:srgbClr val="0070C0">
                <a:alpha val="100000"/>
              </a:srgbClr>
            </a:solidFill>
            <a:prstDash val="solid"/>
            <a:miter lim="10000000"/>
          </a:ln>
        </p:spPr>
        <p:txBody>
          <a:bodyPr vert="horz" wrap="square" lIns="63500" tIns="63500" rIns="63500" bIns="63500" rtlCol="0" anchor="ctr"/>
          <a:p>
            <a:pPr algn="ctr">
              <a:defRPr/>
            </a:pPr>
          </a:p>
        </p:txBody>
      </p:sp>
      <p:sp>
        <p:nvSpPr>
          <p:cNvPr id="15" name="AutoShape 15"/>
          <p:cNvSpPr/>
          <p:nvPr>
            <p:custDataLst>
              <p:tags r:id="rId6"/>
            </p:custDataLst>
          </p:nvPr>
        </p:nvSpPr>
        <p:spPr>
          <a:xfrm>
            <a:off x="2806700" y="2540000"/>
            <a:ext cx="1460500" cy="6477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ctr">
              <a:lnSpc>
                <a:spcPct val="100000"/>
              </a:lnSpc>
              <a:defRPr/>
            </a:pPr>
            <a:r>
              <a:rPr lang="en-US" sz="3600" b="1" i="0" u="none" strike="noStrike">
                <a:ln w="12700">
                  <a:solidFill>
                    <a:srgbClr val="FFFFFF">
                      <a:alpha val="100000"/>
                    </a:srgbClr>
                  </a:solidFill>
                </a:ln>
                <a:solidFill>
                  <a:srgbClr val="C00000"/>
                </a:solidFill>
                <a:effectLst>
                  <a:outerShdw blurRad="38100" dist="38100" dir="2700000" algn="tl" rotWithShape="0">
                    <a:srgbClr val="000000">
                      <a:alpha val="43000"/>
                    </a:srgbClr>
                  </a:outerShdw>
                </a:effectLst>
                <a:latin typeface="禹卫书法行书简体"/>
                <a:ea typeface="禹卫书法行书简体"/>
                <a:cs typeface="禹卫书法行书简体"/>
                <a:sym typeface="禹卫书法行书简体"/>
              </a:rPr>
              <a:t>挑战</a:t>
            </a:r>
            <a:endParaRPr lang="en-US" sz="1100"/>
          </a:p>
        </p:txBody>
      </p:sp>
      <p:sp>
        <p:nvSpPr>
          <p:cNvPr id="16" name="AutoShape 16"/>
          <p:cNvSpPr/>
          <p:nvPr>
            <p:custDataLst>
              <p:tags r:id="rId7"/>
            </p:custDataLst>
          </p:nvPr>
        </p:nvSpPr>
        <p:spPr>
          <a:xfrm>
            <a:off x="3898900" y="2921000"/>
            <a:ext cx="2222500" cy="5080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l">
              <a:lnSpc>
                <a:spcPct val="100000"/>
              </a:lnSpc>
              <a:defRPr/>
            </a:pPr>
            <a:r>
              <a:rPr lang="en-US" sz="2400" b="1" i="0" u="none" strike="noStrike">
                <a:ln w="12700">
                  <a:solidFill>
                    <a:srgbClr val="FFFFFF">
                      <a:alpha val="100000"/>
                    </a:srgbClr>
                  </a:solidFill>
                </a:ln>
                <a:solidFill>
                  <a:srgbClr val="0070C0"/>
                </a:solidFill>
                <a:effectLst>
                  <a:outerShdw blurRad="38100" dist="38100" dir="2700000" algn="tl" rotWithShape="0">
                    <a:srgbClr val="000000">
                      <a:alpha val="43000"/>
                    </a:srgbClr>
                  </a:outerShdw>
                </a:effectLst>
                <a:latin typeface="方正粗黑宋简体"/>
                <a:ea typeface="方正粗黑宋简体"/>
                <a:cs typeface="方正粗黑宋简体"/>
                <a:sym typeface="方正粗黑宋简体"/>
              </a:rPr>
              <a:t>工程落地壁垒</a:t>
            </a:r>
            <a:endParaRPr lang="en-US" sz="2400"/>
          </a:p>
        </p:txBody>
      </p:sp>
      <p:sp>
        <p:nvSpPr>
          <p:cNvPr id="7" name="AutoShape 14"/>
          <p:cNvSpPr/>
          <p:nvPr>
            <p:custDataLst>
              <p:tags r:id="rId8"/>
            </p:custDataLst>
          </p:nvPr>
        </p:nvSpPr>
        <p:spPr>
          <a:xfrm rot="5400000">
            <a:off x="7899400" y="952500"/>
            <a:ext cx="609600" cy="4394200"/>
          </a:xfrm>
          <a:prstGeom prst="roundRect">
            <a:avLst>
              <a:gd name="adj" fmla="val 0"/>
            </a:avLst>
          </a:prstGeom>
          <a:gradFill rotWithShape="0">
            <a:gsLst>
              <a:gs pos="0">
                <a:srgbClr val="FFFFFF">
                  <a:alpha val="0"/>
                </a:srgbClr>
              </a:gs>
              <a:gs pos="100000">
                <a:srgbClr val="0070C0">
                  <a:alpha val="100000"/>
                </a:srgbClr>
              </a:gs>
            </a:gsLst>
            <a:lin ang="5400000"/>
          </a:gradFill>
          <a:ln w="25400" cap="flat" cmpd="sng">
            <a:noFill/>
            <a:prstDash val="solid"/>
            <a:round/>
          </a:ln>
        </p:spPr>
        <p:txBody>
          <a:bodyPr vert="horz" wrap="square" lIns="63500" tIns="63500" rIns="63500" bIns="63500" rtlCol="0" anchor="ctr"/>
          <a:p>
            <a:pPr algn="ctr">
              <a:defRPr/>
            </a:pPr>
          </a:p>
        </p:txBody>
      </p:sp>
      <p:sp>
        <p:nvSpPr>
          <p:cNvPr id="8" name="AutoShape 15"/>
          <p:cNvSpPr/>
          <p:nvPr>
            <p:custDataLst>
              <p:tags r:id="rId9"/>
            </p:custDataLst>
          </p:nvPr>
        </p:nvSpPr>
        <p:spPr>
          <a:xfrm>
            <a:off x="6896100" y="2921000"/>
            <a:ext cx="3187700" cy="5080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l">
              <a:lnSpc>
                <a:spcPct val="100000"/>
              </a:lnSpc>
              <a:defRPr/>
            </a:pPr>
            <a:r>
              <a:rPr lang="zh-CN" altLang="en-US" sz="24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rPr>
              <a:t>深层运行原理</a:t>
            </a:r>
            <a:endParaRPr lang="zh-CN" altLang="en-US" sz="24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endParaRPr>
          </a:p>
        </p:txBody>
      </p:sp>
      <p:sp>
        <p:nvSpPr>
          <p:cNvPr id="24" name="AutoShape 16"/>
          <p:cNvSpPr/>
          <p:nvPr>
            <p:custDataLst>
              <p:tags r:id="rId10"/>
            </p:custDataLst>
          </p:nvPr>
        </p:nvSpPr>
        <p:spPr>
          <a:xfrm>
            <a:off x="6032500" y="2781300"/>
            <a:ext cx="914400" cy="571500"/>
          </a:xfrm>
          <a:prstGeom prst="curvedRightArrow">
            <a:avLst>
              <a:gd name="adj1" fmla="val 25000"/>
              <a:gd name="adj2" fmla="val 50000"/>
              <a:gd name="adj3" fmla="val 25000"/>
            </a:avLst>
          </a:prstGeom>
          <a:solidFill>
            <a:srgbClr val="FFFFFF">
              <a:alpha val="100000"/>
            </a:srgbClr>
          </a:solidFill>
          <a:ln w="12700" cap="flat" cmpd="sng">
            <a:solidFill>
              <a:srgbClr val="0070C0">
                <a:alpha val="100000"/>
              </a:srgbClr>
            </a:solidFill>
            <a:prstDash val="solid"/>
            <a:miter lim="10000000"/>
          </a:ln>
        </p:spPr>
        <p:txBody>
          <a:bodyPr vert="horz" wrap="square" lIns="63500" tIns="63500" rIns="63500" bIns="63500" rtlCol="0" anchor="ctr"/>
          <a:p>
            <a:pPr algn="ctr">
              <a:defRPr/>
            </a:pPr>
          </a:p>
        </p:txBody>
      </p:sp>
      <p:sp>
        <p:nvSpPr>
          <p:cNvPr id="25" name="AutoShape 17"/>
          <p:cNvSpPr/>
          <p:nvPr>
            <p:custDataLst>
              <p:tags r:id="rId11"/>
            </p:custDataLst>
          </p:nvPr>
        </p:nvSpPr>
        <p:spPr>
          <a:xfrm>
            <a:off x="5816600" y="2527300"/>
            <a:ext cx="1460500" cy="647700"/>
          </a:xfrm>
          <a:prstGeom prst="roundRect">
            <a:avLst>
              <a:gd name="adj" fmla="val 0"/>
            </a:avLst>
          </a:prstGeom>
          <a:noFill/>
          <a:ln w="25400" cap="flat" cmpd="sng">
            <a:noFill/>
            <a:prstDash val="solid"/>
            <a:round/>
          </a:ln>
        </p:spPr>
        <p:txBody>
          <a:bodyPr vert="horz" wrap="square" lIns="88900" tIns="50800" rIns="88900" bIns="50800" rtlCol="0" anchor="t" anchorCtr="0"/>
          <a:p>
            <a:pPr marL="0" indent="0" algn="ctr">
              <a:lnSpc>
                <a:spcPct val="100000"/>
              </a:lnSpc>
              <a:defRPr/>
            </a:pPr>
            <a:r>
              <a:rPr lang="en-US" sz="3600" b="1" i="0" u="none" strike="noStrike">
                <a:ln w="12700">
                  <a:solidFill>
                    <a:srgbClr val="FFFFFF">
                      <a:alpha val="100000"/>
                    </a:srgbClr>
                  </a:solidFill>
                </a:ln>
                <a:solidFill>
                  <a:srgbClr val="C00000"/>
                </a:solidFill>
                <a:effectLst>
                  <a:outerShdw blurRad="38100" dist="38100" dir="2700000" algn="tl" rotWithShape="0">
                    <a:srgbClr val="000000">
                      <a:alpha val="43100"/>
                    </a:srgbClr>
                  </a:outerShdw>
                </a:effectLst>
                <a:latin typeface="禹卫书法行书简体"/>
                <a:ea typeface="禹卫书法行书简体"/>
                <a:cs typeface="禹卫书法行书简体"/>
                <a:sym typeface="禹卫书法行书简体"/>
              </a:rPr>
              <a:t>剖析</a:t>
            </a:r>
            <a:endParaRPr lang="en-US" sz="110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1" cstate="print">
            <a:extLst>
              <a:ext uri="{28A0092B-C50C-407E-A947-70E740481C1C}">
                <a14:useLocalDpi xmlns:a14="http://schemas.microsoft.com/office/drawing/2010/main" val="0"/>
              </a:ext>
            </a:extLst>
          </a:blip>
          <a:srcRect t="27384" b="23262"/>
          <a:stretch>
            <a:fillRect/>
          </a:stretch>
        </p:blipFill>
        <p:spPr>
          <a:xfrm>
            <a:off x="7681201" y="276592"/>
            <a:ext cx="1231162" cy="378945"/>
          </a:xfrm>
          <a:prstGeom prst="rect">
            <a:avLst/>
          </a:prstGeom>
        </p:spPr>
      </p:pic>
      <p:sp>
        <p:nvSpPr>
          <p:cNvPr id="18" name="矩形 17"/>
          <p:cNvSpPr/>
          <p:nvPr/>
        </p:nvSpPr>
        <p:spPr>
          <a:xfrm>
            <a:off x="179070" y="233680"/>
            <a:ext cx="6915150" cy="460375"/>
          </a:xfrm>
          <a:prstGeom prst="rect">
            <a:avLst/>
          </a:prstGeom>
        </p:spPr>
        <p:txBody>
          <a:bodyPr wrap="square">
            <a:spAutoFit/>
          </a:bodyPr>
          <a:lstStyle/>
          <a:p>
            <a:pPr>
              <a:defRPr/>
            </a:pPr>
            <a:r>
              <a:rPr lang="zh-CN" altLang="en-US" sz="2400" b="1" spc="-113" dirty="0">
                <a:ln w="12700">
                  <a:noFill/>
                </a:ln>
                <a:solidFill>
                  <a:srgbClr val="0070C0"/>
                </a:solidFill>
                <a:latin typeface="楷体" panose="02010609060101010101" charset="-122"/>
                <a:ea typeface="楷体" panose="02010609060101010101" charset="-122"/>
              </a:rPr>
              <a:t>一、核⼼挑战：受限视场下的多机器⼈探索</a:t>
            </a:r>
            <a:endParaRPr lang="zh-CN" altLang="en-US" sz="2400" b="1" spc="-113" dirty="0">
              <a:ln w="12700">
                <a:noFill/>
              </a:ln>
              <a:solidFill>
                <a:srgbClr val="0070C0"/>
              </a:solidFill>
              <a:latin typeface="楷体" panose="02010609060101010101" charset="-122"/>
              <a:ea typeface="楷体" panose="02010609060101010101" charset="-122"/>
            </a:endParaRPr>
          </a:p>
        </p:txBody>
      </p:sp>
      <p:cxnSp>
        <p:nvCxnSpPr>
          <p:cNvPr id="19" name="直接连接符 18"/>
          <p:cNvCxnSpPr/>
          <p:nvPr/>
        </p:nvCxnSpPr>
        <p:spPr>
          <a:xfrm>
            <a:off x="179805" y="694107"/>
            <a:ext cx="6840000"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pic>
        <p:nvPicPr>
          <p:cNvPr id="3" name="图片 2" descr="8f6cee4091dbb5d93f9a2b02b7a7551d"/>
          <p:cNvPicPr>
            <a:picLocks noChangeAspect="1"/>
          </p:cNvPicPr>
          <p:nvPr/>
        </p:nvPicPr>
        <p:blipFill>
          <a:blip r:embed="rId2"/>
          <a:stretch>
            <a:fillRect/>
          </a:stretch>
        </p:blipFill>
        <p:spPr>
          <a:xfrm>
            <a:off x="179705" y="771525"/>
            <a:ext cx="8686800" cy="3971925"/>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1" cstate="print">
            <a:extLst>
              <a:ext uri="{28A0092B-C50C-407E-A947-70E740481C1C}">
                <a14:useLocalDpi xmlns:a14="http://schemas.microsoft.com/office/drawing/2010/main" val="0"/>
              </a:ext>
            </a:extLst>
          </a:blip>
          <a:srcRect t="27384" b="23262"/>
          <a:stretch>
            <a:fillRect/>
          </a:stretch>
        </p:blipFill>
        <p:spPr>
          <a:xfrm>
            <a:off x="7681201" y="276592"/>
            <a:ext cx="1231162" cy="378945"/>
          </a:xfrm>
          <a:prstGeom prst="rect">
            <a:avLst/>
          </a:prstGeom>
        </p:spPr>
      </p:pic>
      <p:sp>
        <p:nvSpPr>
          <p:cNvPr id="18" name="矩形 17"/>
          <p:cNvSpPr/>
          <p:nvPr/>
        </p:nvSpPr>
        <p:spPr>
          <a:xfrm>
            <a:off x="179070" y="233680"/>
            <a:ext cx="6915150" cy="460375"/>
          </a:xfrm>
          <a:prstGeom prst="rect">
            <a:avLst/>
          </a:prstGeom>
        </p:spPr>
        <p:txBody>
          <a:bodyPr wrap="square">
            <a:spAutoFit/>
          </a:bodyPr>
          <a:lstStyle/>
          <a:p>
            <a:pPr>
              <a:defRPr/>
            </a:pP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二、</a:t>
            </a:r>
            <a:r>
              <a:rPr lang="en-US" altLang="zh-CN" sz="2400" b="1" spc="-113" dirty="0">
                <a:ln w="12700">
                  <a:noFill/>
                </a:ln>
                <a:solidFill>
                  <a:srgbClr val="0070C0"/>
                </a:solidFill>
                <a:latin typeface="楷体" panose="02010609060101010101" charset="-122"/>
                <a:ea typeface="楷体" panose="02010609060101010101" charset="-122"/>
                <a:cs typeface="楷体" panose="02010609060101010101" charset="-122"/>
              </a:rPr>
              <a:t>MARVEL </a:t>
            </a: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核⼼算法架构</a:t>
            </a:r>
            <a:endPar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endParaRPr>
          </a:p>
        </p:txBody>
      </p:sp>
      <p:cxnSp>
        <p:nvCxnSpPr>
          <p:cNvPr id="19" name="直接连接符 18"/>
          <p:cNvCxnSpPr/>
          <p:nvPr/>
        </p:nvCxnSpPr>
        <p:spPr>
          <a:xfrm>
            <a:off x="179805" y="694107"/>
            <a:ext cx="6840000"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pic>
        <p:nvPicPr>
          <p:cNvPr id="4" name="图片 3" descr="e47c9619344d9bea1f35d9ddfd447e68"/>
          <p:cNvPicPr>
            <a:picLocks noChangeAspect="1"/>
          </p:cNvPicPr>
          <p:nvPr/>
        </p:nvPicPr>
        <p:blipFill>
          <a:blip r:embed="rId2"/>
          <a:stretch>
            <a:fillRect/>
          </a:stretch>
        </p:blipFill>
        <p:spPr>
          <a:xfrm>
            <a:off x="104775" y="1539875"/>
            <a:ext cx="6565900" cy="3484880"/>
          </a:xfrm>
          <a:prstGeom prst="rect">
            <a:avLst/>
          </a:prstGeom>
        </p:spPr>
      </p:pic>
      <p:pic>
        <p:nvPicPr>
          <p:cNvPr id="5" name="图片 4" descr="bd51c1794ce348f40a274d96fd085146"/>
          <p:cNvPicPr>
            <a:picLocks noChangeAspect="1"/>
          </p:cNvPicPr>
          <p:nvPr/>
        </p:nvPicPr>
        <p:blipFill>
          <a:blip r:embed="rId3"/>
          <a:stretch>
            <a:fillRect/>
          </a:stretch>
        </p:blipFill>
        <p:spPr>
          <a:xfrm>
            <a:off x="3996055" y="2283460"/>
            <a:ext cx="5403215" cy="1202690"/>
          </a:xfrm>
          <a:prstGeom prst="rect">
            <a:avLst/>
          </a:prstGeom>
        </p:spPr>
      </p:pic>
      <p:cxnSp>
        <p:nvCxnSpPr>
          <p:cNvPr id="7" name="直接箭头连接符 6"/>
          <p:cNvCxnSpPr/>
          <p:nvPr/>
        </p:nvCxnSpPr>
        <p:spPr>
          <a:xfrm>
            <a:off x="2268220" y="2643505"/>
            <a:ext cx="1584325" cy="7239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251460" y="843280"/>
            <a:ext cx="7740650" cy="645160"/>
          </a:xfrm>
          <a:prstGeom prst="rect">
            <a:avLst/>
          </a:prstGeom>
          <a:noFill/>
        </p:spPr>
        <p:txBody>
          <a:bodyPr wrap="square" rtlCol="0">
            <a:spAutoFit/>
          </a:bodyPr>
          <a:p>
            <a:r>
              <a:rPr lang="en-US" altLang="zh-CN"/>
              <a:t>MARVEL </a:t>
            </a:r>
            <a:r>
              <a:rPr lang="zh-CN" altLang="en-US"/>
              <a:t>论文的核心设计——用 </a:t>
            </a:r>
            <a:r>
              <a:rPr lang="en-US" altLang="zh-CN"/>
              <a:t>SAC </a:t>
            </a:r>
            <a:r>
              <a:rPr lang="zh-CN" altLang="en-US"/>
              <a:t>保证个体智能，用 </a:t>
            </a:r>
            <a:r>
              <a:rPr lang="en-US" altLang="zh-CN"/>
              <a:t>MAAC </a:t>
            </a:r>
            <a:r>
              <a:rPr lang="zh-CN" altLang="en-US"/>
              <a:t>实现团队协作，两者相辅相成，解决了受限视场下大规模环境探索的难题。</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inVertic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1" cstate="print">
            <a:extLst>
              <a:ext uri="{28A0092B-C50C-407E-A947-70E740481C1C}">
                <a14:useLocalDpi xmlns:a14="http://schemas.microsoft.com/office/drawing/2010/main" val="0"/>
              </a:ext>
            </a:extLst>
          </a:blip>
          <a:srcRect t="27384" b="23262"/>
          <a:stretch>
            <a:fillRect/>
          </a:stretch>
        </p:blipFill>
        <p:spPr>
          <a:xfrm>
            <a:off x="7681201" y="276592"/>
            <a:ext cx="1231162" cy="378945"/>
          </a:xfrm>
          <a:prstGeom prst="rect">
            <a:avLst/>
          </a:prstGeom>
        </p:spPr>
      </p:pic>
      <p:sp>
        <p:nvSpPr>
          <p:cNvPr id="18" name="矩形 17"/>
          <p:cNvSpPr/>
          <p:nvPr/>
        </p:nvSpPr>
        <p:spPr>
          <a:xfrm>
            <a:off x="179070" y="233680"/>
            <a:ext cx="6915150" cy="460375"/>
          </a:xfrm>
          <a:prstGeom prst="rect">
            <a:avLst/>
          </a:prstGeom>
        </p:spPr>
        <p:txBody>
          <a:bodyPr wrap="square">
            <a:spAutoFit/>
          </a:bodyPr>
          <a:lstStyle/>
          <a:p>
            <a:pPr>
              <a:defRPr/>
            </a:pP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三、用到的强化学习算法</a:t>
            </a:r>
            <a:r>
              <a:rPr lang="en-US" altLang="zh-CN" sz="2400" b="1" spc="-113" dirty="0">
                <a:ln w="12700">
                  <a:noFill/>
                </a:ln>
                <a:solidFill>
                  <a:srgbClr val="0070C0"/>
                </a:solidFill>
                <a:latin typeface="楷体" panose="02010609060101010101" charset="-122"/>
                <a:ea typeface="楷体" panose="02010609060101010101" charset="-122"/>
                <a:cs typeface="楷体" panose="02010609060101010101" charset="-122"/>
              </a:rPr>
              <a:t>——SAC</a:t>
            </a:r>
            <a:endPar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endParaRPr>
          </a:p>
        </p:txBody>
      </p:sp>
      <p:cxnSp>
        <p:nvCxnSpPr>
          <p:cNvPr id="19" name="直接连接符 18"/>
          <p:cNvCxnSpPr/>
          <p:nvPr/>
        </p:nvCxnSpPr>
        <p:spPr>
          <a:xfrm>
            <a:off x="179805" y="694107"/>
            <a:ext cx="6840000"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pic>
        <p:nvPicPr>
          <p:cNvPr id="3" name="图片 2" descr="1d11d04674bc8526dc5457cb459c3516"/>
          <p:cNvPicPr>
            <a:picLocks noChangeAspect="1"/>
          </p:cNvPicPr>
          <p:nvPr/>
        </p:nvPicPr>
        <p:blipFill>
          <a:blip r:embed="rId2"/>
          <a:stretch>
            <a:fillRect/>
          </a:stretch>
        </p:blipFill>
        <p:spPr>
          <a:xfrm>
            <a:off x="107315" y="694055"/>
            <a:ext cx="4156710" cy="3335655"/>
          </a:xfrm>
          <a:prstGeom prst="rect">
            <a:avLst/>
          </a:prstGeom>
        </p:spPr>
      </p:pic>
      <p:pic>
        <p:nvPicPr>
          <p:cNvPr id="4" name="图片 3" descr="4d0b6e57e0f986b639062b0a988577d2"/>
          <p:cNvPicPr>
            <a:picLocks noChangeAspect="1"/>
          </p:cNvPicPr>
          <p:nvPr/>
        </p:nvPicPr>
        <p:blipFill>
          <a:blip r:embed="rId3"/>
          <a:stretch>
            <a:fillRect/>
          </a:stretch>
        </p:blipFill>
        <p:spPr>
          <a:xfrm>
            <a:off x="4356100" y="694055"/>
            <a:ext cx="4051300" cy="1196340"/>
          </a:xfrm>
          <a:prstGeom prst="rect">
            <a:avLst/>
          </a:prstGeom>
        </p:spPr>
      </p:pic>
      <p:pic>
        <p:nvPicPr>
          <p:cNvPr id="5" name="图片 4" descr="4a34061a5fc70bf20e1abb40e269c819"/>
          <p:cNvPicPr>
            <a:picLocks noChangeAspect="1"/>
          </p:cNvPicPr>
          <p:nvPr/>
        </p:nvPicPr>
        <p:blipFill>
          <a:blip r:embed="rId4"/>
          <a:stretch>
            <a:fillRect/>
          </a:stretch>
        </p:blipFill>
        <p:spPr>
          <a:xfrm>
            <a:off x="4264025" y="1851660"/>
            <a:ext cx="4647565" cy="1340485"/>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1" cstate="print">
            <a:extLst>
              <a:ext uri="{28A0092B-C50C-407E-A947-70E740481C1C}">
                <a14:useLocalDpi xmlns:a14="http://schemas.microsoft.com/office/drawing/2010/main" val="0"/>
              </a:ext>
            </a:extLst>
          </a:blip>
          <a:srcRect t="27384" b="23262"/>
          <a:stretch>
            <a:fillRect/>
          </a:stretch>
        </p:blipFill>
        <p:spPr>
          <a:xfrm>
            <a:off x="7681201" y="276592"/>
            <a:ext cx="1231162" cy="378945"/>
          </a:xfrm>
          <a:prstGeom prst="rect">
            <a:avLst/>
          </a:prstGeom>
        </p:spPr>
      </p:pic>
      <p:sp>
        <p:nvSpPr>
          <p:cNvPr id="18" name="矩形 17"/>
          <p:cNvSpPr/>
          <p:nvPr/>
        </p:nvSpPr>
        <p:spPr>
          <a:xfrm>
            <a:off x="179070" y="233680"/>
            <a:ext cx="6915150" cy="460375"/>
          </a:xfrm>
          <a:prstGeom prst="rect">
            <a:avLst/>
          </a:prstGeom>
        </p:spPr>
        <p:txBody>
          <a:bodyPr wrap="square">
            <a:spAutoFit/>
          </a:bodyPr>
          <a:lstStyle/>
          <a:p>
            <a:pPr>
              <a:defRPr/>
            </a:pP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三、用到的强化学习算法</a:t>
            </a:r>
            <a:r>
              <a:rPr lang="en-US" altLang="zh-CN" sz="2400" b="1" spc="-113" dirty="0">
                <a:ln w="12700">
                  <a:noFill/>
                </a:ln>
                <a:solidFill>
                  <a:srgbClr val="0070C0"/>
                </a:solidFill>
                <a:latin typeface="楷体" panose="02010609060101010101" charset="-122"/>
                <a:ea typeface="楷体" panose="02010609060101010101" charset="-122"/>
                <a:cs typeface="楷体" panose="02010609060101010101" charset="-122"/>
              </a:rPr>
              <a:t>——SAC</a:t>
            </a:r>
            <a:endPar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endParaRPr>
          </a:p>
        </p:txBody>
      </p:sp>
      <p:cxnSp>
        <p:nvCxnSpPr>
          <p:cNvPr id="19" name="直接连接符 18"/>
          <p:cNvCxnSpPr/>
          <p:nvPr/>
        </p:nvCxnSpPr>
        <p:spPr>
          <a:xfrm>
            <a:off x="179805" y="694107"/>
            <a:ext cx="6840000"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pic>
        <p:nvPicPr>
          <p:cNvPr id="2" name="图片 1" descr="78d0a990a1d52ec1f1d937b3514c7d2b"/>
          <p:cNvPicPr>
            <a:picLocks noChangeAspect="1"/>
          </p:cNvPicPr>
          <p:nvPr/>
        </p:nvPicPr>
        <p:blipFill>
          <a:blip r:embed="rId2"/>
          <a:stretch>
            <a:fillRect/>
          </a:stretch>
        </p:blipFill>
        <p:spPr>
          <a:xfrm>
            <a:off x="179070" y="627380"/>
            <a:ext cx="7204075" cy="3132455"/>
          </a:xfrm>
          <a:prstGeom prst="rect">
            <a:avLst/>
          </a:prstGeom>
        </p:spPr>
      </p:pic>
      <p:pic>
        <p:nvPicPr>
          <p:cNvPr id="7" name="图片 6" descr="1cdfc2780bed7ee0b64f65175089e05e"/>
          <p:cNvPicPr>
            <a:picLocks noChangeAspect="1"/>
          </p:cNvPicPr>
          <p:nvPr/>
        </p:nvPicPr>
        <p:blipFill>
          <a:blip r:embed="rId3"/>
          <a:stretch>
            <a:fillRect/>
          </a:stretch>
        </p:blipFill>
        <p:spPr>
          <a:xfrm>
            <a:off x="323850" y="3435985"/>
            <a:ext cx="5323840" cy="1604010"/>
          </a:xfrm>
          <a:prstGeom prst="rect">
            <a:avLst/>
          </a:prstGeo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1" cstate="print">
            <a:extLst>
              <a:ext uri="{28A0092B-C50C-407E-A947-70E740481C1C}">
                <a14:useLocalDpi xmlns:a14="http://schemas.microsoft.com/office/drawing/2010/main" val="0"/>
              </a:ext>
            </a:extLst>
          </a:blip>
          <a:srcRect t="27384" b="23262"/>
          <a:stretch>
            <a:fillRect/>
          </a:stretch>
        </p:blipFill>
        <p:spPr>
          <a:xfrm>
            <a:off x="7681201" y="276592"/>
            <a:ext cx="1231162" cy="378945"/>
          </a:xfrm>
          <a:prstGeom prst="rect">
            <a:avLst/>
          </a:prstGeom>
        </p:spPr>
      </p:pic>
      <p:sp>
        <p:nvSpPr>
          <p:cNvPr id="18" name="矩形 17"/>
          <p:cNvSpPr/>
          <p:nvPr/>
        </p:nvSpPr>
        <p:spPr>
          <a:xfrm>
            <a:off x="179070" y="233680"/>
            <a:ext cx="6915150" cy="460375"/>
          </a:xfrm>
          <a:prstGeom prst="rect">
            <a:avLst/>
          </a:prstGeom>
        </p:spPr>
        <p:txBody>
          <a:bodyPr wrap="square">
            <a:spAutoFit/>
          </a:bodyPr>
          <a:lstStyle/>
          <a:p>
            <a:pPr>
              <a:defRPr/>
            </a:pP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四、</a:t>
            </a:r>
            <a:r>
              <a:rPr lang="en-US" altLang="zh-CN" sz="2400" b="1" spc="-113" dirty="0">
                <a:ln w="12700">
                  <a:noFill/>
                </a:ln>
                <a:solidFill>
                  <a:srgbClr val="0070C0"/>
                </a:solidFill>
                <a:latin typeface="楷体" panose="02010609060101010101" charset="-122"/>
                <a:ea typeface="楷体" panose="02010609060101010101" charset="-122"/>
                <a:cs typeface="楷体" panose="02010609060101010101" charset="-122"/>
              </a:rPr>
              <a:t>MAAC</a:t>
            </a:r>
            <a:r>
              <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rPr>
              <a:t>多智能体协调机制</a:t>
            </a:r>
            <a:endParaRPr lang="zh-CN" altLang="en-US" sz="2400" b="1" spc="-113" dirty="0">
              <a:ln w="12700">
                <a:noFill/>
              </a:ln>
              <a:solidFill>
                <a:srgbClr val="0070C0"/>
              </a:solidFill>
              <a:latin typeface="楷体" panose="02010609060101010101" charset="-122"/>
              <a:ea typeface="楷体" panose="02010609060101010101" charset="-122"/>
              <a:cs typeface="楷体" panose="02010609060101010101" charset="-122"/>
            </a:endParaRPr>
          </a:p>
        </p:txBody>
      </p:sp>
      <p:cxnSp>
        <p:nvCxnSpPr>
          <p:cNvPr id="19" name="直接连接符 18"/>
          <p:cNvCxnSpPr/>
          <p:nvPr/>
        </p:nvCxnSpPr>
        <p:spPr>
          <a:xfrm>
            <a:off x="179805" y="694107"/>
            <a:ext cx="6840000"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251460" y="771525"/>
            <a:ext cx="8317865" cy="829945"/>
          </a:xfrm>
          <a:prstGeom prst="rect">
            <a:avLst/>
          </a:prstGeom>
          <a:noFill/>
        </p:spPr>
        <p:txBody>
          <a:bodyPr wrap="square" rtlCol="0">
            <a:spAutoFit/>
          </a:bodyPr>
          <a:p>
            <a:r>
              <a:rPr lang="zh-CN" altLang="en-US" sz="1600">
                <a:latin typeface="楷体" panose="02010609060101010101" charset="-122"/>
                <a:ea typeface="楷体" panose="02010609060101010101" charset="-122"/>
                <a:cs typeface="楷体" panose="02010609060101010101" charset="-122"/>
              </a:rPr>
              <a:t>让每个机器人在做决策时，都能互相"感知"其他机器人在做什么。</a:t>
            </a:r>
            <a:endParaRPr lang="zh-CN" altLang="en-US" sz="1600">
              <a:latin typeface="楷体" panose="02010609060101010101" charset="-122"/>
              <a:ea typeface="楷体" panose="02010609060101010101" charset="-122"/>
              <a:cs typeface="楷体" panose="02010609060101010101" charset="-122"/>
            </a:endParaRPr>
          </a:p>
          <a:p>
            <a:r>
              <a:rPr lang="en-US" altLang="zh-CN" sz="1600">
                <a:latin typeface="楷体" panose="02010609060101010101" charset="-122"/>
                <a:ea typeface="楷体" panose="02010609060101010101" charset="-122"/>
                <a:cs typeface="楷体" panose="02010609060101010101" charset="-122"/>
              </a:rPr>
              <a:t>MAAC </a:t>
            </a:r>
            <a:r>
              <a:rPr lang="zh-CN" altLang="en-US" sz="1600">
                <a:latin typeface="楷体" panose="02010609060101010101" charset="-122"/>
                <a:ea typeface="楷体" panose="02010609060101010101" charset="-122"/>
                <a:cs typeface="楷体" panose="02010609060101010101" charset="-122"/>
              </a:rPr>
              <a:t>就是让机器人之间实现 隐式通信 ——不需要直接说话，而是通过注意力机制"感知"队友的意图。</a:t>
            </a:r>
            <a:endParaRPr lang="zh-CN" altLang="en-US" sz="1600">
              <a:latin typeface="楷体" panose="02010609060101010101" charset="-122"/>
              <a:ea typeface="楷体" panose="02010609060101010101" charset="-122"/>
              <a:cs typeface="楷体" panose="02010609060101010101" charset="-122"/>
            </a:endParaRPr>
          </a:p>
        </p:txBody>
      </p:sp>
      <p:pic>
        <p:nvPicPr>
          <p:cNvPr id="3" name="图片 2" descr="3b295bf6d9a07112c88a44827fd374b5"/>
          <p:cNvPicPr>
            <a:picLocks noChangeAspect="1"/>
          </p:cNvPicPr>
          <p:nvPr/>
        </p:nvPicPr>
        <p:blipFill>
          <a:blip r:embed="rId2"/>
          <a:stretch>
            <a:fillRect/>
          </a:stretch>
        </p:blipFill>
        <p:spPr>
          <a:xfrm>
            <a:off x="595630" y="1645920"/>
            <a:ext cx="7085330" cy="3411220"/>
          </a:xfrm>
          <a:prstGeom prst="rect">
            <a:avLst/>
          </a:prstGeom>
        </p:spPr>
      </p:pic>
      <p:pic>
        <p:nvPicPr>
          <p:cNvPr id="4" name="图片 3" descr="8811090b04b8a6538426e44fbf4aeb63"/>
          <p:cNvPicPr>
            <a:picLocks noChangeAspect="1"/>
          </p:cNvPicPr>
          <p:nvPr/>
        </p:nvPicPr>
        <p:blipFill>
          <a:blip r:embed="rId3"/>
          <a:stretch>
            <a:fillRect/>
          </a:stretch>
        </p:blipFill>
        <p:spPr>
          <a:xfrm>
            <a:off x="899795" y="1923415"/>
            <a:ext cx="6569075" cy="210375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32" fill="hold" nodeType="clickEffect">
                                  <p:stCondLst>
                                    <p:cond delay="0"/>
                                  </p:stCondLst>
                                  <p:childTnLst>
                                    <p:animEffect transition="out" filter="box(out)">
                                      <p:cBhvr>
                                        <p:cTn id="6" dur="2000"/>
                                        <p:tgtEl>
                                          <p:spTgt spid="3"/>
                                        </p:tgtEl>
                                      </p:cBhvr>
                                    </p:animEffect>
                                    <p:set>
                                      <p:cBhvr>
                                        <p:cTn id="7" dur="1" fill="hold">
                                          <p:stCondLst>
                                            <p:cond delay="19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amond(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400000">
            <a:off x="4749800" y="1104900"/>
            <a:ext cx="609600" cy="4089400"/>
          </a:xfrm>
          <a:prstGeom prst="roundRect">
            <a:avLst>
              <a:gd name="adj" fmla="val 0"/>
            </a:avLst>
          </a:prstGeom>
          <a:gradFill rotWithShape="0">
            <a:gsLst>
              <a:gs pos="0">
                <a:srgbClr val="FFFFFF">
                  <a:alpha val="0"/>
                </a:srgbClr>
              </a:gs>
              <a:gs pos="100000">
                <a:srgbClr val="0070C0">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035300" y="1625600"/>
            <a:ext cx="5867400" cy="736600"/>
          </a:xfrm>
          <a:prstGeom prst="roundRect">
            <a:avLst>
              <a:gd name="adj" fmla="val 0"/>
            </a:avLst>
          </a:prstGeom>
          <a:solidFill>
            <a:srgbClr val="FFFFFF">
              <a:alpha val="100000"/>
            </a:srgbClr>
          </a:solidFill>
          <a:ln w="25400" cap="flat" cmpd="sng">
            <a:solidFill>
              <a:srgbClr val="0070C0">
                <a:alpha val="100000"/>
              </a:srgbClr>
            </a:solidFill>
            <a:prstDash val="solid"/>
            <a:miter lim="10000000"/>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l="35090" r="34102"/>
          <a:stretch>
            <a:fillRect/>
          </a:stretch>
        </p:blipFill>
        <p:spPr>
          <a:xfrm>
            <a:off x="0" y="0"/>
            <a:ext cx="2374900" cy="5143500"/>
          </a:xfrm>
          <a:prstGeom prst="rect">
            <a:avLst/>
          </a:prstGeom>
          <a:noFill/>
          <a:ln w="25400" cap="flat" cmpd="sng">
            <a:noFill/>
            <a:prstDash val="solid"/>
            <a:round/>
          </a:ln>
        </p:spPr>
      </p:pic>
      <p:sp>
        <p:nvSpPr>
          <p:cNvPr id="5" name="AutoShape 5"/>
          <p:cNvSpPr/>
          <p:nvPr/>
        </p:nvSpPr>
        <p:spPr>
          <a:xfrm>
            <a:off x="647700" y="1028700"/>
            <a:ext cx="2032000" cy="3073400"/>
          </a:xfrm>
          <a:prstGeom prst="roundRect">
            <a:avLst>
              <a:gd name="adj" fmla="val 0"/>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rot="2700000">
            <a:off x="1765300" y="2070100"/>
            <a:ext cx="952500" cy="952500"/>
          </a:xfrm>
          <a:prstGeom prst="roundRect">
            <a:avLst>
              <a:gd name="adj" fmla="val 0"/>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876300" y="3009900"/>
            <a:ext cx="1739900" cy="342900"/>
          </a:xfrm>
          <a:prstGeom prst="rect">
            <a:avLst/>
          </a:prstGeom>
          <a:noFill/>
          <a:ln w="9525" cap="flat" cmpd="sng">
            <a:noFill/>
            <a:prstDash val="solid"/>
            <a:round/>
          </a:ln>
        </p:spPr>
        <p:txBody>
          <a:bodyPr vert="horz" wrap="square" lIns="88900" tIns="50800" rIns="88900" bIns="50800" rtlCol="0" anchor="t" anchorCtr="0"/>
          <a:lstStyle/>
          <a:p>
            <a:pPr marL="0" indent="0" algn="l">
              <a:lnSpc>
                <a:spcPct val="100000"/>
              </a:lnSpc>
              <a:defRPr/>
            </a:pPr>
            <a:r>
              <a:rPr lang="en-US" sz="2300" b="0" i="0" u="none" strike="noStrike">
                <a:solidFill>
                  <a:srgbClr val="FFFFFF"/>
                </a:solidFill>
                <a:effectLst>
                  <a:outerShdw blurRad="38100" dist="38100" dir="2700000" algn="tl" rotWithShape="0">
                    <a:srgbClr val="000000">
                      <a:alpha val="43100"/>
                    </a:srgbClr>
                  </a:outerShdw>
                </a:effectLst>
                <a:latin typeface="方正粗宋简体"/>
                <a:ea typeface="方正粗宋简体"/>
                <a:cs typeface="方正粗宋简体"/>
                <a:sym typeface="方正粗宋简体"/>
              </a:rPr>
              <a:t>Content</a:t>
            </a:r>
            <a:endParaRPr lang="en-US" sz="1100"/>
          </a:p>
        </p:txBody>
      </p:sp>
      <p:sp>
        <p:nvSpPr>
          <p:cNvPr id="8" name="AutoShape 8"/>
          <p:cNvSpPr/>
          <p:nvPr/>
        </p:nvSpPr>
        <p:spPr>
          <a:xfrm>
            <a:off x="800100" y="2311400"/>
            <a:ext cx="1701800" cy="406400"/>
          </a:xfrm>
          <a:prstGeom prst="rect">
            <a:avLst/>
          </a:prstGeom>
          <a:noFill/>
          <a:ln w="9525" cap="flat" cmpd="sng">
            <a:noFill/>
            <a:prstDash val="solid"/>
            <a:round/>
          </a:ln>
        </p:spPr>
        <p:txBody>
          <a:bodyPr vert="horz" wrap="square" lIns="88900" tIns="50800" rIns="88900" bIns="50800" rtlCol="0" anchor="t" anchorCtr="0"/>
          <a:lstStyle/>
          <a:p>
            <a:pPr marL="0" indent="0" algn="l">
              <a:lnSpc>
                <a:spcPct val="100000"/>
              </a:lnSpc>
              <a:defRPr/>
            </a:pPr>
            <a:r>
              <a:rPr lang="en-US" sz="4000" b="0" i="0" u="none" strike="noStrike" spc="500">
                <a:solidFill>
                  <a:srgbClr val="FFFFFF"/>
                </a:solidFill>
                <a:effectLst>
                  <a:outerShdw blurRad="38100" dist="38100" dir="2700000" algn="tl" rotWithShape="0">
                    <a:srgbClr val="000000">
                      <a:alpha val="43100"/>
                    </a:srgbClr>
                  </a:outerShdw>
                </a:effectLst>
                <a:latin typeface="方正粗宋简体"/>
                <a:ea typeface="方正粗宋简体"/>
                <a:cs typeface="方正粗宋简体"/>
                <a:sym typeface="方正粗宋简体"/>
              </a:rPr>
              <a:t>目录</a:t>
            </a:r>
            <a:endParaRPr lang="en-US" sz="1100"/>
          </a:p>
        </p:txBody>
      </p:sp>
      <p:pic>
        <p:nvPicPr>
          <p:cNvPr id="9" name="Picture 9"/>
          <p:cNvPicPr>
            <a:picLocks noChangeAspect="1"/>
          </p:cNvPicPr>
          <p:nvPr/>
        </p:nvPicPr>
        <p:blipFill>
          <a:blip r:embed="rId2"/>
          <a:srcRect/>
          <a:stretch>
            <a:fillRect/>
          </a:stretch>
        </p:blipFill>
        <p:spPr>
          <a:xfrm>
            <a:off x="939800" y="2171700"/>
            <a:ext cx="1612900" cy="38100"/>
          </a:xfrm>
          <a:prstGeom prst="rect">
            <a:avLst/>
          </a:prstGeom>
          <a:noFill/>
          <a:ln w="25400" cap="flat" cmpd="sng">
            <a:noFill/>
            <a:prstDash val="solid"/>
            <a:round/>
          </a:ln>
        </p:spPr>
      </p:pic>
      <p:pic>
        <p:nvPicPr>
          <p:cNvPr id="10" name="Picture 10"/>
          <p:cNvPicPr>
            <a:picLocks noChangeAspect="1"/>
          </p:cNvPicPr>
          <p:nvPr/>
        </p:nvPicPr>
        <p:blipFill>
          <a:blip r:embed="rId3"/>
          <a:srcRect t="25862" b="24137"/>
          <a:stretch>
            <a:fillRect/>
          </a:stretch>
        </p:blipFill>
        <p:spPr>
          <a:xfrm>
            <a:off x="914400" y="1612900"/>
            <a:ext cx="1181100" cy="368300"/>
          </a:xfrm>
          <a:prstGeom prst="rect">
            <a:avLst/>
          </a:prstGeom>
          <a:noFill/>
          <a:ln w="25400" cap="flat" cmpd="sng">
            <a:noFill/>
            <a:prstDash val="solid"/>
            <a:round/>
          </a:ln>
        </p:spPr>
      </p:pic>
      <p:sp>
        <p:nvSpPr>
          <p:cNvPr id="11" name="AutoShape 11"/>
          <p:cNvSpPr/>
          <p:nvPr/>
        </p:nvSpPr>
        <p:spPr>
          <a:xfrm rot="10800000" flipV="1">
            <a:off x="3022600" y="1625600"/>
            <a:ext cx="698500" cy="736600"/>
          </a:xfrm>
          <a:prstGeom prst="leftArrow">
            <a:avLst>
              <a:gd name="adj1" fmla="val 100000"/>
              <a:gd name="adj2" fmla="val 28055"/>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2844800" y="1765300"/>
            <a:ext cx="990600" cy="508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00000"/>
              </a:lnSpc>
              <a:defRPr/>
            </a:pPr>
            <a:r>
              <a:rPr lang="en-US" sz="2700" b="0" i="0" u="none" strike="noStrike">
                <a:solidFill>
                  <a:srgbClr val="FFFFFF"/>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rPr>
              <a:t>三</a:t>
            </a:r>
            <a:endParaRPr lang="en-US" sz="1100"/>
          </a:p>
        </p:txBody>
      </p:sp>
      <p:sp>
        <p:nvSpPr>
          <p:cNvPr id="13" name="AutoShape 13"/>
          <p:cNvSpPr/>
          <p:nvPr/>
        </p:nvSpPr>
        <p:spPr>
          <a:xfrm>
            <a:off x="3898900" y="2921000"/>
            <a:ext cx="2222500" cy="508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27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rPr>
              <a:t>经验复盘</a:t>
            </a:r>
            <a:endParaRPr lang="en-US" sz="1100"/>
          </a:p>
        </p:txBody>
      </p:sp>
      <p:sp>
        <p:nvSpPr>
          <p:cNvPr id="14" name="AutoShape 14"/>
          <p:cNvSpPr/>
          <p:nvPr/>
        </p:nvSpPr>
        <p:spPr>
          <a:xfrm rot="5400000">
            <a:off x="7899400" y="952500"/>
            <a:ext cx="609600" cy="4394200"/>
          </a:xfrm>
          <a:prstGeom prst="roundRect">
            <a:avLst>
              <a:gd name="adj" fmla="val 0"/>
            </a:avLst>
          </a:prstGeom>
          <a:gradFill rotWithShape="0">
            <a:gsLst>
              <a:gs pos="0">
                <a:srgbClr val="FFFFFF">
                  <a:alpha val="0"/>
                </a:srgbClr>
              </a:gs>
              <a:gs pos="100000">
                <a:srgbClr val="0070C0">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896100" y="2921000"/>
            <a:ext cx="3187700" cy="508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2700" b="1" i="0" u="none" strike="noStrike">
                <a:ln w="12700">
                  <a:solidFill>
                    <a:srgbClr val="FFFFFF">
                      <a:alpha val="100000"/>
                    </a:srgbClr>
                  </a:solidFill>
                </a:ln>
                <a:solidFill>
                  <a:srgbClr val="0070C0"/>
                </a:solidFill>
                <a:effectLst>
                  <a:outerShdw blurRad="38100" dist="38100" dir="2700000" algn="tl" rotWithShape="0">
                    <a:srgbClr val="000000">
                      <a:alpha val="43100"/>
                    </a:srgbClr>
                  </a:outerShdw>
                </a:effectLst>
                <a:latin typeface="方正粗黑宋简体"/>
                <a:ea typeface="方正粗黑宋简体"/>
                <a:cs typeface="方正粗黑宋简体"/>
                <a:sym typeface="方正粗黑宋简体"/>
              </a:rPr>
              <a:t>未来展望</a:t>
            </a:r>
            <a:endParaRPr lang="en-US" sz="1100"/>
          </a:p>
        </p:txBody>
      </p:sp>
      <p:sp>
        <p:nvSpPr>
          <p:cNvPr id="16" name="AutoShape 16"/>
          <p:cNvSpPr/>
          <p:nvPr/>
        </p:nvSpPr>
        <p:spPr>
          <a:xfrm>
            <a:off x="6032500" y="2781300"/>
            <a:ext cx="914400" cy="571500"/>
          </a:xfrm>
          <a:prstGeom prst="curvedRightArrow">
            <a:avLst>
              <a:gd name="adj1" fmla="val 25000"/>
              <a:gd name="adj2" fmla="val 50000"/>
              <a:gd name="adj3" fmla="val 25000"/>
            </a:avLst>
          </a:prstGeom>
          <a:solidFill>
            <a:srgbClr val="FFFFFF">
              <a:alpha val="100000"/>
            </a:srgbClr>
          </a:solidFill>
          <a:ln w="12700" cap="flat" cmpd="sng">
            <a:solidFill>
              <a:srgbClr val="0070C0">
                <a:alpha val="100000"/>
              </a:srgbClr>
            </a:solidFill>
            <a:prstDash val="solid"/>
            <a:miter lim="10000000"/>
          </a:ln>
        </p:spPr>
        <p:txBody>
          <a:bodyPr vert="horz" wrap="square" lIns="63500" tIns="63500" rIns="63500" bIns="63500" rtlCol="0" anchor="ctr"/>
          <a:lstStyle/>
          <a:p>
            <a:pPr algn="ctr">
              <a:defRPr/>
            </a:pPr>
          </a:p>
        </p:txBody>
      </p:sp>
      <p:sp>
        <p:nvSpPr>
          <p:cNvPr id="17" name="AutoShape 17"/>
          <p:cNvSpPr/>
          <p:nvPr/>
        </p:nvSpPr>
        <p:spPr>
          <a:xfrm>
            <a:off x="5816600" y="2527300"/>
            <a:ext cx="1460500" cy="647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00000"/>
              </a:lnSpc>
              <a:defRPr/>
            </a:pPr>
            <a:r>
              <a:rPr lang="en-US" sz="3600" b="1" i="0" u="none" strike="noStrike">
                <a:ln w="12700">
                  <a:solidFill>
                    <a:srgbClr val="FFFFFF">
                      <a:alpha val="100000"/>
                    </a:srgbClr>
                  </a:solidFill>
                </a:ln>
                <a:solidFill>
                  <a:srgbClr val="C00000"/>
                </a:solidFill>
                <a:effectLst>
                  <a:outerShdw blurRad="38100" dist="38100" dir="2700000" algn="tl" rotWithShape="0">
                    <a:srgbClr val="000000">
                      <a:alpha val="43100"/>
                    </a:srgbClr>
                  </a:outerShdw>
                </a:effectLst>
                <a:latin typeface="禹卫书法行书简体"/>
                <a:ea typeface="禹卫书法行书简体"/>
                <a:cs typeface="禹卫书法行书简体"/>
                <a:sym typeface="禹卫书法行书简体"/>
              </a:rPr>
              <a:t>沉淀</a:t>
            </a:r>
            <a:endParaRPr lang="en-US" sz="1100"/>
          </a:p>
        </p:txBody>
      </p:sp>
      <p:sp>
        <p:nvSpPr>
          <p:cNvPr id="18" name="AutoShape 18"/>
          <p:cNvSpPr/>
          <p:nvPr/>
        </p:nvSpPr>
        <p:spPr>
          <a:xfrm>
            <a:off x="3035300" y="2768600"/>
            <a:ext cx="914400" cy="571500"/>
          </a:xfrm>
          <a:prstGeom prst="curvedRightArrow">
            <a:avLst>
              <a:gd name="adj1" fmla="val 25000"/>
              <a:gd name="adj2" fmla="val 50000"/>
              <a:gd name="adj3" fmla="val 25000"/>
            </a:avLst>
          </a:prstGeom>
          <a:solidFill>
            <a:srgbClr val="FFFFFF">
              <a:alpha val="100000"/>
            </a:srgbClr>
          </a:solidFill>
          <a:ln w="12700" cap="flat" cmpd="sng">
            <a:solidFill>
              <a:srgbClr val="0070C0">
                <a:alpha val="100000"/>
              </a:srgbClr>
            </a:solidFill>
            <a:prstDash val="solid"/>
            <a:miter lim="10000000"/>
          </a:ln>
        </p:spPr>
        <p:txBody>
          <a:bodyPr vert="horz" wrap="square" lIns="63500" tIns="63500" rIns="63500" bIns="63500" rtlCol="0" anchor="ctr"/>
          <a:lstStyle/>
          <a:p>
            <a:pPr algn="ctr">
              <a:defRPr/>
            </a:pPr>
          </a:p>
        </p:txBody>
      </p:sp>
      <p:sp>
        <p:nvSpPr>
          <p:cNvPr id="19" name="AutoShape 19"/>
          <p:cNvSpPr/>
          <p:nvPr/>
        </p:nvSpPr>
        <p:spPr>
          <a:xfrm>
            <a:off x="2806700" y="2540000"/>
            <a:ext cx="1460500" cy="647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00000"/>
              </a:lnSpc>
              <a:defRPr/>
            </a:pPr>
            <a:r>
              <a:rPr lang="en-US" sz="3600" b="1" i="0" u="none" strike="noStrike">
                <a:ln w="12700">
                  <a:solidFill>
                    <a:srgbClr val="FFFFFF">
                      <a:alpha val="100000"/>
                    </a:srgbClr>
                  </a:solidFill>
                </a:ln>
                <a:solidFill>
                  <a:srgbClr val="C00000"/>
                </a:solidFill>
                <a:effectLst>
                  <a:outerShdw blurRad="38100" dist="38100" dir="2700000" algn="tl" rotWithShape="0">
                    <a:srgbClr val="000000">
                      <a:alpha val="43100"/>
                    </a:srgbClr>
                  </a:outerShdw>
                </a:effectLst>
                <a:latin typeface="禹卫书法行书简体"/>
                <a:ea typeface="禹卫书法行书简体"/>
                <a:cs typeface="禹卫书法行书简体"/>
                <a:sym typeface="禹卫书法行书简体"/>
              </a:rPr>
              <a:t>反思</a:t>
            </a:r>
            <a:endParaRPr lang="en-US" sz="1100"/>
          </a:p>
        </p:txBody>
      </p:sp>
      <p:sp>
        <p:nvSpPr>
          <p:cNvPr id="20" name="AutoShape 20"/>
          <p:cNvSpPr/>
          <p:nvPr/>
        </p:nvSpPr>
        <p:spPr>
          <a:xfrm>
            <a:off x="3187700" y="1765300"/>
            <a:ext cx="6426200" cy="4572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00000"/>
              </a:lnSpc>
              <a:defRPr/>
            </a:pPr>
            <a:r>
              <a:rPr lang="zh-CN" altLang="en-US" sz="2400" b="0" i="0" u="none" strike="noStrike">
                <a:solidFill>
                  <a:srgbClr val="0070C0"/>
                </a:solidFill>
                <a:latin typeface="方正粗黑宋简体"/>
                <a:ea typeface="方正粗黑宋简体"/>
                <a:cs typeface="方正粗黑宋简体"/>
                <a:sym typeface="方正粗黑宋简体"/>
              </a:rPr>
              <a:t>总结</a:t>
            </a:r>
            <a:r>
              <a:rPr lang="zh-CN" altLang="en-US" sz="2400" b="0" i="0" u="none" strike="noStrike">
                <a:solidFill>
                  <a:srgbClr val="0070C0"/>
                </a:solidFill>
                <a:latin typeface="方正粗黑宋简体"/>
                <a:ea typeface="方正粗黑宋简体"/>
                <a:cs typeface="方正粗黑宋简体"/>
                <a:sym typeface="方正粗黑宋简体"/>
              </a:rPr>
              <a:t>提高</a:t>
            </a:r>
            <a:endParaRPr lang="zh-CN" altLang="en-US" sz="2400" b="0" i="0" u="none" strike="noStrike">
              <a:solidFill>
                <a:srgbClr val="0070C0"/>
              </a:solidFill>
              <a:latin typeface="方正粗黑宋简体"/>
              <a:ea typeface="方正粗黑宋简体"/>
              <a:cs typeface="方正粗黑宋简体"/>
              <a:sym typeface="方正粗黑宋简体"/>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9144000" cy="5143500"/>
          </a:xfrm>
          <a:prstGeom prst="roundRect">
            <a:avLst>
              <a:gd name="adj" fmla="val 0"/>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 y="101600"/>
            <a:ext cx="8953500" cy="4940300"/>
          </a:xfrm>
          <a:prstGeom prst="roundRect">
            <a:avLst>
              <a:gd name="adj" fmla="val 0"/>
            </a:avLst>
          </a:prstGeom>
          <a:solidFill>
            <a:srgbClr val="FFFFFF">
              <a:alpha val="100000"/>
            </a:srgbClr>
          </a:solidFill>
          <a:ln w="25400" cap="flat" cmpd="sng">
            <a:noFill/>
            <a:prstDash val="solid"/>
            <a:round/>
          </a:ln>
          <a:effectLst>
            <a:outerShdw blurRad="50800" dist="38100" dir="2700000" algn="tl" rotWithShape="0">
              <a:srgbClr val="000000">
                <a:alpha val="4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t="27868" b="22950"/>
          <a:stretch>
            <a:fillRect/>
          </a:stretch>
        </p:blipFill>
        <p:spPr>
          <a:xfrm>
            <a:off x="7683500" y="279400"/>
            <a:ext cx="1231900" cy="381000"/>
          </a:xfrm>
          <a:prstGeom prst="rect">
            <a:avLst/>
          </a:prstGeom>
          <a:noFill/>
          <a:ln w="25400" cap="flat" cmpd="sng">
            <a:noFill/>
            <a:prstDash val="solid"/>
            <a:round/>
          </a:ln>
        </p:spPr>
      </p:pic>
      <p:sp>
        <p:nvSpPr>
          <p:cNvPr id="5" name="AutoShape 5"/>
          <p:cNvSpPr/>
          <p:nvPr/>
        </p:nvSpPr>
        <p:spPr>
          <a:xfrm>
            <a:off x="177800" y="228600"/>
            <a:ext cx="6921500" cy="4572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400" b="1" i="0" u="none" strike="noStrike">
                <a:solidFill>
                  <a:srgbClr val="0070C0"/>
                </a:solidFill>
                <a:latin typeface="楷体" panose="02010609060101010101" charset="-122"/>
                <a:ea typeface="楷体" panose="02010609060101010101" charset="-122"/>
                <a:cs typeface="方正粗黑宋简体"/>
                <a:sym typeface="方正粗黑宋简体"/>
              </a:rPr>
              <a:t>三、总结提高</a:t>
            </a:r>
            <a:endParaRPr lang="zh-CN" altLang="en-US" sz="2400" b="1" i="0" u="none" strike="noStrike">
              <a:solidFill>
                <a:srgbClr val="0070C0"/>
              </a:solidFill>
              <a:latin typeface="楷体" panose="02010609060101010101" charset="-122"/>
              <a:ea typeface="楷体" panose="02010609060101010101" charset="-122"/>
              <a:cs typeface="方正粗黑宋简体"/>
              <a:sym typeface="方正粗黑宋简体"/>
            </a:endParaRPr>
          </a:p>
        </p:txBody>
      </p:sp>
      <p:cxnSp>
        <p:nvCxnSpPr>
          <p:cNvPr id="6" name="Connector 6"/>
          <p:cNvCxnSpPr/>
          <p:nvPr/>
        </p:nvCxnSpPr>
        <p:spPr>
          <a:xfrm>
            <a:off x="177800" y="698500"/>
            <a:ext cx="6845312" cy="12700"/>
          </a:xfrm>
          <a:prstGeom prst="line">
            <a:avLst/>
          </a:prstGeom>
          <a:solidFill>
            <a:srgbClr val="DEE0E3">
              <a:alpha val="100000"/>
            </a:srgbClr>
          </a:solidFill>
          <a:ln w="12700" cap="flat" cmpd="sng">
            <a:solidFill>
              <a:srgbClr val="0070C0">
                <a:alpha val="100000"/>
              </a:srgbClr>
            </a:solidFill>
            <a:prstDash val="solid"/>
            <a:miter lim="10000000"/>
            <a:headEnd type="none" w="med" len="med"/>
            <a:tailEnd type="none" w="med" len="med"/>
          </a:ln>
        </p:spPr>
      </p:cxnSp>
      <p:sp>
        <p:nvSpPr>
          <p:cNvPr id="7" name="AutoShape 7"/>
          <p:cNvSpPr/>
          <p:nvPr/>
        </p:nvSpPr>
        <p:spPr>
          <a:xfrm>
            <a:off x="381000" y="856615"/>
            <a:ext cx="4191000" cy="1651000"/>
          </a:xfrm>
          <a:prstGeom prst="roundRect">
            <a:avLst>
              <a:gd name="adj" fmla="val 0"/>
            </a:avLst>
          </a:prstGeom>
          <a:solidFill>
            <a:srgbClr val="0070C0">
              <a:alpha val="6000"/>
            </a:srgbClr>
          </a:solidFill>
          <a:ln w="12700" cap="flat" cmpd="sng">
            <a:solidFill>
              <a:srgbClr val="0070C0">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508000" y="929005"/>
            <a:ext cx="3937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01 </a:t>
            </a:r>
            <a:r>
              <a:rPr lang="zh-CN" altLang="en-US" sz="16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调研当下形式，锚定问题坐标</a:t>
            </a:r>
            <a:endParaRPr lang="en-US" sz="1100">
              <a:latin typeface="楷体" panose="02010609060101010101" charset="-122"/>
              <a:ea typeface="楷体" panose="02010609060101010101" charset="-122"/>
              <a:cs typeface="楷体" panose="02010609060101010101" charset="-122"/>
            </a:endParaRPr>
          </a:p>
        </p:txBody>
      </p:sp>
      <p:sp>
        <p:nvSpPr>
          <p:cNvPr id="9" name="AutoShape 9"/>
          <p:cNvSpPr/>
          <p:nvPr/>
        </p:nvSpPr>
        <p:spPr>
          <a:xfrm>
            <a:off x="508000" y="1259205"/>
            <a:ext cx="3937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000"/>
              </a:lnSpc>
              <a:defRPr/>
            </a:pP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梳理多智能体强化学习六大核心挑战与</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CTDE+GNN</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技术范式，明确环境非平稳性、信用分配等是制约协同的关键瓶颈，为后续实践找准方向。</a:t>
            </a:r>
            <a:endParaRPr lang="en-US" sz="1400">
              <a:latin typeface="楷体" panose="02010609060101010101" charset="-122"/>
              <a:ea typeface="楷体" panose="02010609060101010101" charset="-122"/>
              <a:cs typeface="楷体" panose="02010609060101010101" charset="-122"/>
            </a:endParaRPr>
          </a:p>
        </p:txBody>
      </p:sp>
      <p:sp>
        <p:nvSpPr>
          <p:cNvPr id="10" name="AutoShape 10"/>
          <p:cNvSpPr/>
          <p:nvPr/>
        </p:nvSpPr>
        <p:spPr>
          <a:xfrm>
            <a:off x="4699000" y="856615"/>
            <a:ext cx="4191000" cy="1651000"/>
          </a:xfrm>
          <a:prstGeom prst="roundRect">
            <a:avLst>
              <a:gd name="adj" fmla="val 0"/>
            </a:avLst>
          </a:prstGeom>
          <a:solidFill>
            <a:srgbClr val="0070C0">
              <a:alpha val="6000"/>
            </a:srgbClr>
          </a:solidFill>
          <a:ln w="12700" cap="flat" cmpd="sng">
            <a:solidFill>
              <a:srgbClr val="0070C0">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826000" y="929005"/>
            <a:ext cx="3937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altLang="zh-CN" sz="16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02 </a:t>
            </a:r>
            <a:r>
              <a:rPr lang="zh-CN" altLang="en-US" sz="16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复现经典架构，跑通协作基线</a:t>
            </a:r>
            <a:endParaRPr lang="en-US" sz="1100">
              <a:latin typeface="楷体" panose="02010609060101010101" charset="-122"/>
              <a:ea typeface="楷体" panose="02010609060101010101" charset="-122"/>
              <a:cs typeface="楷体" panose="02010609060101010101" charset="-122"/>
            </a:endParaRPr>
          </a:p>
        </p:txBody>
      </p:sp>
      <p:sp>
        <p:nvSpPr>
          <p:cNvPr id="12" name="AutoShape 12"/>
          <p:cNvSpPr/>
          <p:nvPr/>
        </p:nvSpPr>
        <p:spPr>
          <a:xfrm>
            <a:off x="4826000" y="1360805"/>
            <a:ext cx="3937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000"/>
              </a:lnSpc>
              <a:defRPr/>
            </a:pP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成功搭建</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MAPPO</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训练流程，验证其优于随机策略，学会在</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CTDE</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框架下用</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Centralized Critic</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协调分布式</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Agent</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；同时完整实现</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MARVEL</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的</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SAC+MAAC</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融合架构，理解注意力机制如何实现隐式通信。</a:t>
            </a:r>
            <a:endParaRPr lang="en-US" sz="1400">
              <a:latin typeface="楷体" panose="02010609060101010101" charset="-122"/>
              <a:ea typeface="楷体" panose="02010609060101010101" charset="-122"/>
              <a:cs typeface="楷体" panose="02010609060101010101" charset="-122"/>
            </a:endParaRPr>
          </a:p>
        </p:txBody>
      </p:sp>
      <p:sp>
        <p:nvSpPr>
          <p:cNvPr id="13" name="AutoShape 13"/>
          <p:cNvSpPr/>
          <p:nvPr/>
        </p:nvSpPr>
        <p:spPr>
          <a:xfrm>
            <a:off x="381000" y="2614930"/>
            <a:ext cx="4191000" cy="1651000"/>
          </a:xfrm>
          <a:prstGeom prst="roundRect">
            <a:avLst>
              <a:gd name="adj" fmla="val 0"/>
            </a:avLst>
          </a:prstGeom>
          <a:solidFill>
            <a:srgbClr val="0070C0">
              <a:alpha val="6000"/>
            </a:srgbClr>
          </a:solidFill>
          <a:ln w="12700" cap="flat" cmpd="sng">
            <a:solidFill>
              <a:srgbClr val="0070C0">
                <a:alpha val="2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508000" y="2694940"/>
            <a:ext cx="3937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03 </a:t>
            </a:r>
            <a:r>
              <a:rPr lang="zh-CN" altLang="en-US" sz="16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检验结论真伪，直面复现困境</a:t>
            </a:r>
            <a:endParaRPr lang="en-US" sz="1100">
              <a:latin typeface="楷体" panose="02010609060101010101" charset="-122"/>
              <a:ea typeface="楷体" panose="02010609060101010101" charset="-122"/>
              <a:cs typeface="楷体" panose="02010609060101010101" charset="-122"/>
            </a:endParaRPr>
          </a:p>
        </p:txBody>
      </p:sp>
      <p:sp>
        <p:nvSpPr>
          <p:cNvPr id="15" name="AutoShape 15"/>
          <p:cNvSpPr/>
          <p:nvPr/>
        </p:nvSpPr>
        <p:spPr>
          <a:xfrm>
            <a:off x="508000" y="3119120"/>
            <a:ext cx="3937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000"/>
              </a:lnSpc>
              <a:defRPr/>
            </a:pP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对</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RMTC</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模型展开独立复现，但遭遇关键配置文件缺失、</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SUMO</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环境耦合错误等问题，未能启动有效训练</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这恰恰揭示出顶会论文开源代码在可用性、文档完整性方面与</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可复现</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标准仍存在显著差距。</a:t>
            </a:r>
            <a:endParaRPr lang="en-US" sz="1400">
              <a:latin typeface="楷体" panose="02010609060101010101" charset="-122"/>
              <a:ea typeface="楷体" panose="02010609060101010101" charset="-122"/>
              <a:cs typeface="楷体" panose="02010609060101010101" charset="-122"/>
            </a:endParaRPr>
          </a:p>
        </p:txBody>
      </p:sp>
      <p:sp>
        <p:nvSpPr>
          <p:cNvPr id="16" name="AutoShape 16"/>
          <p:cNvSpPr/>
          <p:nvPr/>
        </p:nvSpPr>
        <p:spPr>
          <a:xfrm>
            <a:off x="4699000" y="2614930"/>
            <a:ext cx="4191000" cy="1651000"/>
          </a:xfrm>
          <a:prstGeom prst="roundRect">
            <a:avLst>
              <a:gd name="adj" fmla="val 0"/>
            </a:avLst>
          </a:prstGeom>
          <a:solidFill>
            <a:srgbClr val="0070C0">
              <a:alpha val="6000"/>
            </a:srgbClr>
          </a:solidFill>
          <a:ln w="12700" cap="flat" cmpd="sng">
            <a:solidFill>
              <a:srgbClr val="0070C0">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4826000" y="2687320"/>
            <a:ext cx="3937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04 </a:t>
            </a:r>
            <a:r>
              <a:rPr lang="zh-CN" altLang="en-US" sz="1600" b="1" i="0" u="none" strike="noStrike">
                <a:solidFill>
                  <a:srgbClr val="0070C0"/>
                </a:solidFill>
                <a:latin typeface="楷体" panose="02010609060101010101" charset="-122"/>
                <a:ea typeface="楷体" panose="02010609060101010101" charset="-122"/>
                <a:cs typeface="楷体" panose="02010609060101010101" charset="-122"/>
                <a:sym typeface="Noto Sans SC" panose="020B0200000000000000" charset="-122"/>
              </a:rPr>
              <a:t>回归协同本质，提炼可迁移的认知框架</a:t>
            </a:r>
            <a:endParaRPr lang="en-US" sz="1100">
              <a:latin typeface="楷体" panose="02010609060101010101" charset="-122"/>
              <a:ea typeface="楷体" panose="02010609060101010101" charset="-122"/>
              <a:cs typeface="楷体" panose="02010609060101010101" charset="-122"/>
            </a:endParaRPr>
          </a:p>
        </p:txBody>
      </p:sp>
      <p:sp>
        <p:nvSpPr>
          <p:cNvPr id="18" name="AutoShape 18"/>
          <p:cNvSpPr/>
          <p:nvPr/>
        </p:nvSpPr>
        <p:spPr>
          <a:xfrm>
            <a:off x="4826000" y="3119120"/>
            <a:ext cx="3937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8000"/>
              </a:lnSpc>
              <a:defRPr/>
            </a:pP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RMTC</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用角色感知内在奖励解决信用分配，</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MAPPO</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用</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CTDE</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统一训练与执行，</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MARVEL</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用注意力机制实现隐式通信</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殊途同归，均服务于</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让每个智能体在正确时机做正确贡献</a:t>
            </a:r>
            <a:r>
              <a:rPr lang="en-US" altLang="zh-CN"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a:t>
            </a:r>
            <a:r>
              <a:rPr lang="zh-CN" altLang="en-US" sz="1400" b="0" i="0" u="none" strike="noStrike">
                <a:solidFill>
                  <a:srgbClr val="333333"/>
                </a:solidFill>
                <a:latin typeface="楷体" panose="02010609060101010101" charset="-122"/>
                <a:ea typeface="楷体" panose="02010609060101010101" charset="-122"/>
                <a:cs typeface="楷体" panose="02010609060101010101" charset="-122"/>
                <a:sym typeface="Noto Sans SC" panose="020B0200000000000000" charset="-122"/>
              </a:rPr>
              <a:t>这一根本目标。</a:t>
            </a:r>
            <a:endParaRPr lang="en-US" sz="1400">
              <a:latin typeface="楷体" panose="02010609060101010101" charset="-122"/>
              <a:ea typeface="楷体" panose="02010609060101010101" charset="-122"/>
              <a:cs typeface="楷体" panose="02010609060101010101" charset="-122"/>
            </a:endParaRPr>
          </a:p>
        </p:txBody>
      </p:sp>
      <p:sp>
        <p:nvSpPr>
          <p:cNvPr id="19" name="AutoShape 19"/>
          <p:cNvSpPr/>
          <p:nvPr/>
        </p:nvSpPr>
        <p:spPr>
          <a:xfrm>
            <a:off x="323850" y="4373245"/>
            <a:ext cx="8509000" cy="58928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zh-CN" altLang="en-US" sz="1400" i="0" u="none" strike="noStrike">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多智能体协作的瓶颈不在单智能体能力，而在智能体间的</a:t>
            </a:r>
            <a:r>
              <a:rPr lang="zh-CN" altLang="en-US" sz="1400" i="0" u="none" strike="noStrike">
                <a:solidFill>
                  <a:srgbClr val="FF0000"/>
                </a:solidFill>
                <a:latin typeface="楷体" panose="02010609060101010101" charset="-122"/>
                <a:ea typeface="楷体" panose="02010609060101010101" charset="-122"/>
                <a:cs typeface="Noto Sans SC" panose="020B0200000000000000" charset="-122"/>
                <a:sym typeface="Noto Sans SC" panose="020B0200000000000000" charset="-122"/>
              </a:rPr>
              <a:t>信息交互</a:t>
            </a:r>
            <a:r>
              <a:rPr lang="zh-CN" altLang="en-US" sz="1400" i="0" u="none" strike="noStrike">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与</a:t>
            </a:r>
            <a:r>
              <a:rPr lang="zh-CN" altLang="en-US" sz="1400" i="0" u="none" strike="noStrike">
                <a:solidFill>
                  <a:srgbClr val="FF0000"/>
                </a:solidFill>
                <a:latin typeface="楷体" panose="02010609060101010101" charset="-122"/>
                <a:ea typeface="楷体" panose="02010609060101010101" charset="-122"/>
                <a:cs typeface="Noto Sans SC" panose="020B0200000000000000" charset="-122"/>
                <a:sym typeface="Noto Sans SC" panose="020B0200000000000000" charset="-122"/>
              </a:rPr>
              <a:t>激励对齐</a:t>
            </a:r>
            <a:r>
              <a:rPr lang="en-US" sz="1400" i="0" u="none" strike="noStrike">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a:t>
            </a:r>
            <a:endParaRPr lang="en-US" sz="1400" i="0" u="none" strike="noStrike">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endParaRPr>
          </a:p>
          <a:p>
            <a:pPr marL="0" indent="0" algn="ctr">
              <a:lnSpc>
                <a:spcPct val="125000"/>
              </a:lnSpc>
              <a:defRPr/>
            </a:pPr>
            <a:r>
              <a:rPr lang="zh-CN" altLang="en-US" sz="1400" i="0" u="none" strike="noStrike">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智能体如何</a:t>
            </a:r>
            <a:r>
              <a:rPr lang="zh-CN" altLang="en-US" sz="1400" i="0" u="none" strike="noStrike">
                <a:solidFill>
                  <a:srgbClr val="FF0000"/>
                </a:solidFill>
                <a:latin typeface="楷体" panose="02010609060101010101" charset="-122"/>
                <a:ea typeface="楷体" panose="02010609060101010101" charset="-122"/>
                <a:cs typeface="Noto Sans SC" panose="020B0200000000000000" charset="-122"/>
                <a:sym typeface="Noto Sans SC" panose="020B0200000000000000" charset="-122"/>
              </a:rPr>
              <a:t>感知</a:t>
            </a:r>
            <a:r>
              <a:rPr lang="zh-CN" altLang="en-US" sz="1400" i="0" u="none" strike="noStrike">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彼此？全局目标如何</a:t>
            </a:r>
            <a:r>
              <a:rPr lang="zh-CN" altLang="en-US" sz="1400" i="0" u="none" strike="noStrike">
                <a:solidFill>
                  <a:srgbClr val="FF0000"/>
                </a:solidFill>
                <a:latin typeface="楷体" panose="02010609060101010101" charset="-122"/>
                <a:ea typeface="楷体" panose="02010609060101010101" charset="-122"/>
                <a:cs typeface="Noto Sans SC" panose="020B0200000000000000" charset="-122"/>
                <a:sym typeface="Noto Sans SC" panose="020B0200000000000000" charset="-122"/>
              </a:rPr>
              <a:t>分解</a:t>
            </a:r>
            <a:r>
              <a:rPr lang="zh-CN" altLang="en-US" sz="1400" i="0" u="none" strike="noStrike">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到个体？个体行为如何</a:t>
            </a:r>
            <a:r>
              <a:rPr lang="zh-CN" altLang="en-US" sz="1400" i="0" u="none" strike="noStrike">
                <a:solidFill>
                  <a:srgbClr val="FF0000"/>
                </a:solidFill>
                <a:latin typeface="楷体" panose="02010609060101010101" charset="-122"/>
                <a:ea typeface="楷体" panose="02010609060101010101" charset="-122"/>
                <a:cs typeface="Noto Sans SC" panose="020B0200000000000000" charset="-122"/>
                <a:sym typeface="Noto Sans SC" panose="020B0200000000000000" charset="-122"/>
              </a:rPr>
              <a:t>汇聚</a:t>
            </a:r>
            <a:r>
              <a:rPr lang="zh-CN" altLang="en-US" sz="1400" i="0" u="none" strike="noStrike">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rPr>
              <a:t>为全局最优？</a:t>
            </a:r>
            <a:endParaRPr lang="zh-CN" altLang="en-US" sz="1400" i="0" u="none" strike="noStrike">
              <a:solidFill>
                <a:schemeClr val="tx1"/>
              </a:solidFill>
              <a:latin typeface="楷体" panose="02010609060101010101" charset="-122"/>
              <a:ea typeface="楷体" panose="02010609060101010101" charset="-122"/>
              <a:cs typeface="Noto Sans SC" panose="020B0200000000000000" charset="-122"/>
              <a:sym typeface="Noto Sans SC" panose="020B0200000000000000"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screen"/>
          <a:stretch>
            <a:fillRect/>
          </a:stretch>
        </p:blipFill>
        <p:spPr>
          <a:xfrm>
            <a:off x="0" y="0"/>
            <a:ext cx="9142839" cy="5143500"/>
          </a:xfrm>
          <a:prstGeom prst="rect">
            <a:avLst/>
          </a:prstGeom>
        </p:spPr>
      </p:pic>
      <p:sp>
        <p:nvSpPr>
          <p:cNvPr id="17" name="任意多边形 29"/>
          <p:cNvSpPr/>
          <p:nvPr/>
        </p:nvSpPr>
        <p:spPr>
          <a:xfrm>
            <a:off x="7711017" y="521350"/>
            <a:ext cx="3903947" cy="5383178"/>
          </a:xfrm>
          <a:custGeom>
            <a:avLst/>
            <a:gdLst>
              <a:gd name="connsiteX0" fmla="*/ 3432215 w 5205262"/>
              <a:gd name="connsiteY0" fmla="*/ 0 h 7177570"/>
              <a:gd name="connsiteX1" fmla="*/ 5205262 w 5205262"/>
              <a:gd name="connsiteY1" fmla="*/ 0 h 7177570"/>
              <a:gd name="connsiteX2" fmla="*/ 5205262 w 5205262"/>
              <a:gd name="connsiteY2" fmla="*/ 7177570 h 7177570"/>
              <a:gd name="connsiteX3" fmla="*/ 0 w 5205262"/>
              <a:gd name="connsiteY3" fmla="*/ 7177570 h 7177570"/>
            </a:gdLst>
            <a:ahLst/>
            <a:cxnLst>
              <a:cxn ang="0">
                <a:pos x="connsiteX0" y="connsiteY0"/>
              </a:cxn>
              <a:cxn ang="0">
                <a:pos x="connsiteX1" y="connsiteY1"/>
              </a:cxn>
              <a:cxn ang="0">
                <a:pos x="connsiteX2" y="connsiteY2"/>
              </a:cxn>
              <a:cxn ang="0">
                <a:pos x="connsiteX3" y="connsiteY3"/>
              </a:cxn>
            </a:cxnLst>
            <a:rect l="l" t="t" r="r" b="b"/>
            <a:pathLst>
              <a:path w="5205262" h="7177570">
                <a:moveTo>
                  <a:pt x="3432215" y="0"/>
                </a:moveTo>
                <a:lnTo>
                  <a:pt x="5205262" y="0"/>
                </a:lnTo>
                <a:lnTo>
                  <a:pt x="5205262" y="7177570"/>
                </a:lnTo>
                <a:lnTo>
                  <a:pt x="0" y="7177570"/>
                </a:lnTo>
                <a:close/>
              </a:path>
            </a:pathLst>
          </a:custGeom>
          <a:solidFill>
            <a:schemeClr val="bg1">
              <a:alpha val="2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70" dirty="0"/>
          </a:p>
        </p:txBody>
      </p:sp>
      <p:sp>
        <p:nvSpPr>
          <p:cNvPr id="18" name="任意多边形 31"/>
          <p:cNvSpPr/>
          <p:nvPr/>
        </p:nvSpPr>
        <p:spPr>
          <a:xfrm rot="10800000">
            <a:off x="-2448107" y="-999043"/>
            <a:ext cx="3903947" cy="5383178"/>
          </a:xfrm>
          <a:custGeom>
            <a:avLst/>
            <a:gdLst>
              <a:gd name="connsiteX0" fmla="*/ 3432215 w 5205262"/>
              <a:gd name="connsiteY0" fmla="*/ 0 h 7177570"/>
              <a:gd name="connsiteX1" fmla="*/ 5205262 w 5205262"/>
              <a:gd name="connsiteY1" fmla="*/ 0 h 7177570"/>
              <a:gd name="connsiteX2" fmla="*/ 5205262 w 5205262"/>
              <a:gd name="connsiteY2" fmla="*/ 7177570 h 7177570"/>
              <a:gd name="connsiteX3" fmla="*/ 0 w 5205262"/>
              <a:gd name="connsiteY3" fmla="*/ 7177570 h 7177570"/>
            </a:gdLst>
            <a:ahLst/>
            <a:cxnLst>
              <a:cxn ang="0">
                <a:pos x="connsiteX0" y="connsiteY0"/>
              </a:cxn>
              <a:cxn ang="0">
                <a:pos x="connsiteX1" y="connsiteY1"/>
              </a:cxn>
              <a:cxn ang="0">
                <a:pos x="connsiteX2" y="connsiteY2"/>
              </a:cxn>
              <a:cxn ang="0">
                <a:pos x="connsiteX3" y="connsiteY3"/>
              </a:cxn>
            </a:cxnLst>
            <a:rect l="l" t="t" r="r" b="b"/>
            <a:pathLst>
              <a:path w="5205262" h="7177570">
                <a:moveTo>
                  <a:pt x="3432215" y="0"/>
                </a:moveTo>
                <a:lnTo>
                  <a:pt x="5205262" y="0"/>
                </a:lnTo>
                <a:lnTo>
                  <a:pt x="5205262" y="7177570"/>
                </a:lnTo>
                <a:lnTo>
                  <a:pt x="0" y="7177570"/>
                </a:lnTo>
                <a:close/>
              </a:path>
            </a:pathLst>
          </a:custGeom>
          <a:solidFill>
            <a:schemeClr val="bg1">
              <a:alpha val="2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70" dirty="0"/>
          </a:p>
        </p:txBody>
      </p:sp>
      <p:sp>
        <p:nvSpPr>
          <p:cNvPr id="14" name="文本框 13"/>
          <p:cNvSpPr txBox="1"/>
          <p:nvPr/>
        </p:nvSpPr>
        <p:spPr>
          <a:xfrm>
            <a:off x="221156" y="1916745"/>
            <a:ext cx="8922844" cy="706755"/>
          </a:xfrm>
          <a:prstGeom prst="rect">
            <a:avLst/>
          </a:prstGeom>
          <a:noFill/>
        </p:spPr>
        <p:txBody>
          <a:bodyPr wrap="square" rtlCol="0">
            <a:spAutoFit/>
          </a:bodyPr>
          <a:lstStyle/>
          <a:p>
            <a:pPr algn="ctr">
              <a:lnSpc>
                <a:spcPts val="4800"/>
              </a:lnSpc>
            </a:pPr>
            <a:r>
              <a:rPr lang="zh-CN" altLang="en-US" sz="4000" b="1" spc="173"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敬请老师批评指正</a:t>
            </a:r>
            <a:endParaRPr lang="zh-CN" altLang="en-US" sz="4000" b="1" spc="173"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endParaRPr>
          </a:p>
        </p:txBody>
      </p:sp>
      <p:cxnSp>
        <p:nvCxnSpPr>
          <p:cNvPr id="15" name="直接连接符 14"/>
          <p:cNvCxnSpPr/>
          <p:nvPr/>
        </p:nvCxnSpPr>
        <p:spPr>
          <a:xfrm flipH="1">
            <a:off x="0" y="2787774"/>
            <a:ext cx="9144000" cy="0"/>
          </a:xfrm>
          <a:prstGeom prst="line">
            <a:avLst/>
          </a:prstGeom>
          <a:ln w="28575">
            <a:gradFill flip="none" rotWithShape="1">
              <a:gsLst>
                <a:gs pos="84000">
                  <a:srgbClr val="FFFFFF">
                    <a:alpha val="17000"/>
                  </a:srgbClr>
                </a:gs>
                <a:gs pos="0">
                  <a:schemeClr val="bg1">
                    <a:alpha val="0"/>
                  </a:schemeClr>
                </a:gs>
                <a:gs pos="42000">
                  <a:srgbClr val="FFFFFF">
                    <a:alpha val="90000"/>
                  </a:srgbClr>
                </a:gs>
                <a:gs pos="100000">
                  <a:schemeClr val="bg1">
                    <a:alpha val="0"/>
                  </a:schemeClr>
                </a:gs>
                <a:gs pos="19000">
                  <a:schemeClr val="bg1">
                    <a:alpha val="25000"/>
                  </a:schemeClr>
                </a:gs>
                <a:gs pos="56000">
                  <a:schemeClr val="bg1">
                    <a:alpha val="90000"/>
                  </a:schemeClr>
                </a:gs>
              </a:gsLst>
              <a:lin ang="4800000" scaled="0"/>
              <a:tileRect/>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0" y="1707654"/>
            <a:ext cx="9144000" cy="0"/>
          </a:xfrm>
          <a:prstGeom prst="line">
            <a:avLst/>
          </a:prstGeom>
          <a:ln w="28575">
            <a:gradFill flip="none" rotWithShape="1">
              <a:gsLst>
                <a:gs pos="84000">
                  <a:srgbClr val="FFFFFF">
                    <a:alpha val="17000"/>
                  </a:srgbClr>
                </a:gs>
                <a:gs pos="0">
                  <a:schemeClr val="bg1">
                    <a:alpha val="0"/>
                  </a:schemeClr>
                </a:gs>
                <a:gs pos="42000">
                  <a:srgbClr val="FFFFFF">
                    <a:alpha val="90000"/>
                  </a:srgbClr>
                </a:gs>
                <a:gs pos="100000">
                  <a:schemeClr val="bg1">
                    <a:alpha val="0"/>
                  </a:schemeClr>
                </a:gs>
                <a:gs pos="19000">
                  <a:schemeClr val="bg1">
                    <a:alpha val="25000"/>
                  </a:schemeClr>
                </a:gs>
                <a:gs pos="56000">
                  <a:schemeClr val="bg1">
                    <a:alpha val="90000"/>
                  </a:schemeClr>
                </a:gs>
              </a:gsLst>
              <a:lin ang="4800000" scaled="0"/>
              <a:tileRect/>
            </a:gra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rotWithShape="1">
          <a:blip r:embed="rId2" cstate="screen"/>
          <a:srcRect t="26606" b="23577"/>
          <a:stretch>
            <a:fillRect/>
          </a:stretch>
        </p:blipFill>
        <p:spPr>
          <a:xfrm>
            <a:off x="3706774" y="759133"/>
            <a:ext cx="1592566" cy="494778"/>
          </a:xfrm>
          <a:prstGeom prst="rect">
            <a:avLst/>
          </a:prstGeom>
          <a:effectLst/>
        </p:spPr>
      </p:pic>
      <p:sp>
        <p:nvSpPr>
          <p:cNvPr id="2" name="文本框 1"/>
          <p:cNvSpPr txBox="1"/>
          <p:nvPr/>
        </p:nvSpPr>
        <p:spPr>
          <a:xfrm>
            <a:off x="1985645" y="2952115"/>
            <a:ext cx="5166360" cy="829945"/>
          </a:xfrm>
          <a:prstGeom prst="rect">
            <a:avLst/>
          </a:prstGeom>
          <a:noFill/>
        </p:spPr>
        <p:txBody>
          <a:bodyPr wrap="square" rtlCol="0">
            <a:spAutoFit/>
          </a:bodyPr>
          <a:lstStyle/>
          <a:p>
            <a:pPr algn="ctr"/>
            <a:r>
              <a:rPr lang="zh-CN" altLang="en-US"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答辩小组：徐昊天、孟家祺、蔡佳兴</a:t>
            </a:r>
            <a:endParaRPr lang="en-US" altLang="zh-CN"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endParaRPr>
          </a:p>
          <a:p>
            <a:pPr algn="ctr"/>
            <a:r>
              <a:rPr lang="en-US" altLang="zh-CN"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2026</a:t>
            </a:r>
            <a:r>
              <a:rPr lang="zh-CN" altLang="en-US"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年</a:t>
            </a:r>
            <a:r>
              <a:rPr lang="en-US" altLang="zh-CN"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07</a:t>
            </a:r>
            <a:r>
              <a:rPr lang="zh-CN" altLang="en-US"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月</a:t>
            </a:r>
            <a:r>
              <a:rPr lang="en-US" altLang="zh-CN"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24</a:t>
            </a:r>
            <a:r>
              <a:rPr lang="zh-CN" altLang="en-US"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rPr>
              <a:t>日</a:t>
            </a:r>
            <a:endParaRPr lang="zh-CN" altLang="en-US" sz="2400" dirty="0">
              <a:solidFill>
                <a:schemeClr val="bg1"/>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Arial" panose="020B0604020202020204" pitchFamily="34" charset="0"/>
            </a:endParaRPr>
          </a:p>
        </p:txBody>
      </p:sp>
    </p:spTree>
  </p:cSld>
  <p:clrMapOvr>
    <a:masterClrMapping/>
  </p:clrMapOvr>
  <p:transition/>
</p:sld>
</file>

<file path=ppt/tags/tag1.xml><?xml version="1.0" encoding="utf-8"?>
<p:tagLst xmlns:p="http://schemas.openxmlformats.org/presentationml/2006/main">
  <p:tag name="KSO_WM_DIAGRAM_VIRTUALLY_FRAME" val="{&quot;height&quot;:241.97102362204723,&quot;left&quot;:223.92188976377952,&quot;top&quot;:80.62456692913386,&quot;width&quot;:530.2084251968503}"/>
</p:tagLst>
</file>

<file path=ppt/tags/tag2.xml><?xml version="1.0" encoding="utf-8"?>
<p:tagLst xmlns:p="http://schemas.openxmlformats.org/presentationml/2006/main">
  <p:tag name="KSO_WM_DIAGRAM_VIRTUALLY_FRAME" val="{&quot;height&quot;:241.97102362204723,&quot;left&quot;:223.92188976377952,&quot;top&quot;:80.62456692913386,&quot;width&quot;:530.2084251968503}"/>
</p:tagLst>
</file>

<file path=ppt/tags/tag3.xml><?xml version="1.0" encoding="utf-8"?>
<p:tagLst xmlns:p="http://schemas.openxmlformats.org/presentationml/2006/main">
  <p:tag name="KSO_WM_DIAGRAM_VIRTUALLY_FRAME" val="{&quot;height&quot;:241.97102362204723,&quot;left&quot;:223.92188976377952,&quot;top&quot;:80.62456692913386,&quot;width&quot;:530.2084251968503}"/>
</p:tagLst>
</file>

<file path=ppt/tags/tag4.xml><?xml version="1.0" encoding="utf-8"?>
<p:tagLst xmlns:p="http://schemas.openxmlformats.org/presentationml/2006/main">
  <p:tag name="KSO_WM_DIAGRAM_VIRTUALLY_FRAME" val="{&quot;height&quot;:241.97102362204723,&quot;left&quot;:223.92188976377952,&quot;top&quot;:80.62456692913386,&quot;width&quot;:530.2084251968503}"/>
</p:tagLst>
</file>

<file path=ppt/tags/tag5.xml><?xml version="1.0" encoding="utf-8"?>
<p:tagLst xmlns:p="http://schemas.openxmlformats.org/presentationml/2006/main">
  <p:tag name="KSO_WM_DIAGRAM_VIRTUALLY_FRAME" val="{&quot;height&quot;:241.97102362204723,&quot;left&quot;:223.92188976377952,&quot;top&quot;:80.62456692913386,&quot;width&quot;:530.2084251968503}"/>
</p:tagLst>
</file>

<file path=ppt/tags/tag6.xml><?xml version="1.0" encoding="utf-8"?>
<p:tagLst xmlns:p="http://schemas.openxmlformats.org/presentationml/2006/main">
  <p:tag name="KSO_WM_DIAGRAM_VIRTUALLY_FRAME" val="{&quot;height&quot;:241.97102362204723,&quot;left&quot;:223.92188976377952,&quot;top&quot;:80.62456692913386,&quot;width&quot;:530.2084251968503}"/>
</p:tagLst>
</file>

<file path=ppt/tags/tag7.xml><?xml version="1.0" encoding="utf-8"?>
<p:tagLst xmlns:p="http://schemas.openxmlformats.org/presentationml/2006/main">
  <p:tag name="KSO_WM_DIAGRAM_VIRTUALLY_FRAME" val="{&quot;height&quot;:241.97102362204723,&quot;left&quot;:223.92188976377952,&quot;top&quot;:80.62456692913386,&quot;width&quot;:530.2084251968503}"/>
</p:tagLst>
</file>

<file path=ppt/tags/tag8.xml><?xml version="1.0" encoding="utf-8"?>
<p:tagLst xmlns:p="http://schemas.openxmlformats.org/presentationml/2006/main">
  <p:tag name="KSO_WM_DIAGRAM_VIRTUALLY_FRAME" val="{&quot;height&quot;:241.97102362204723,&quot;left&quot;:223.92188976377952,&quot;top&quot;:80.62456692913386,&quot;width&quot;:530.2084251968503}"/>
</p:tagLst>
</file>

<file path=ppt/tags/tag9.xml><?xml version="1.0" encoding="utf-8"?>
<p:tagLst xmlns:p="http://schemas.openxmlformats.org/presentationml/2006/main">
  <p:tag name="KSO_WM_DIAGRAM_VIRTUALLY_FRAME" val="{&quot;height&quot;:241.97102362204723,&quot;left&quot;:223.92188976377952,&quot;top&quot;:80.62456692913386,&quot;width&quot;:530.2084251968503}"/>
</p:tagLst>
</file>

<file path=ppt/tags/tag10.xml><?xml version="1.0" encoding="utf-8"?>
<p:tagLst xmlns:p="http://schemas.openxmlformats.org/presentationml/2006/main">
  <p:tag name="KSO_WM_DIAGRAM_VIRTUALLY_FRAME" val="{&quot;height&quot;:241.97102362204723,&quot;left&quot;:223.92188976377952,&quot;top&quot;:80.62456692913386,&quot;width&quot;:530.2084251968503}"/>
</p:tagLst>
</file>

<file path=ppt/tags/tag11.xml><?xml version="1.0" encoding="utf-8"?>
<p:tagLst xmlns:p="http://schemas.openxmlformats.org/presentationml/2006/main">
  <p:tag name="KSO_WM_DIAGRAM_VIRTUALLY_FRAME" val="{&quot;height&quot;:241.97102362204723,&quot;left&quot;:223.92188976377952,&quot;top&quot;:80.62456692913386,&quot;width&quot;:530.2084251968503}"/>
</p:tagLst>
</file>

<file path=ppt/tags/tag12.xml><?xml version="1.0" encoding="utf-8"?>
<p:tagLst xmlns:p="http://schemas.openxmlformats.org/presentationml/2006/main">
  <p:tag name="KSO_WM_DIAGRAM_VIRTUALLY_FRAME" val="{&quot;height&quot;:241.97102362204723,&quot;left&quot;:223.92188976377952,&quot;top&quot;:80.62456692913386,&quot;width&quot;:530.2084251968503}"/>
</p:tagLst>
</file>

<file path=ppt/tags/tag13.xml><?xml version="1.0" encoding="utf-8"?>
<p:tagLst xmlns:p="http://schemas.openxmlformats.org/presentationml/2006/main">
  <p:tag name="KSO_WM_DIAGRAM_VIRTUALLY_FRAME" val="{&quot;height&quot;:73,&quot;left&quot;:221,&quot;top&quot;:199,&quot;width&quot;:598}"/>
</p:tagLst>
</file>

<file path=ppt/tags/tag14.xml><?xml version="1.0" encoding="utf-8"?>
<p:tagLst xmlns:p="http://schemas.openxmlformats.org/presentationml/2006/main">
  <p:tag name="KSO_WM_DIAGRAM_VIRTUALLY_FRAME" val="{&quot;height&quot;:73,&quot;left&quot;:221,&quot;top&quot;:199,&quot;width&quot;:598}"/>
</p:tagLst>
</file>

<file path=ppt/tags/tag15.xml><?xml version="1.0" encoding="utf-8"?>
<p:tagLst xmlns:p="http://schemas.openxmlformats.org/presentationml/2006/main">
  <p:tag name="KSO_WM_DIAGRAM_VIRTUALLY_FRAME" val="{&quot;height&quot;:73,&quot;left&quot;:221,&quot;top&quot;:199,&quot;width&quot;:598}"/>
</p:tagLst>
</file>

<file path=ppt/tags/tag16.xml><?xml version="1.0" encoding="utf-8"?>
<p:tagLst xmlns:p="http://schemas.openxmlformats.org/presentationml/2006/main">
  <p:tag name="KSO_WM_DIAGRAM_VIRTUALLY_FRAME" val="{&quot;height&quot;:73,&quot;left&quot;:221,&quot;top&quot;:199,&quot;width&quot;:598}"/>
</p:tagLst>
</file>

<file path=ppt/tags/tag17.xml><?xml version="1.0" encoding="utf-8"?>
<p:tagLst xmlns:p="http://schemas.openxmlformats.org/presentationml/2006/main">
  <p:tag name="KSO_WM_DIAGRAM_VIRTUALLY_FRAME" val="{&quot;height&quot;:73,&quot;left&quot;:221,&quot;top&quot;:199,&quot;width&quot;:598}"/>
</p:tagLst>
</file>

<file path=ppt/tags/tag18.xml><?xml version="1.0" encoding="utf-8"?>
<p:tagLst xmlns:p="http://schemas.openxmlformats.org/presentationml/2006/main">
  <p:tag name="KSO_WM_DIAGRAM_VIRTUALLY_FRAME" val="{&quot;height&quot;:73,&quot;left&quot;:221,&quot;top&quot;:199,&quot;width&quot;:598}"/>
</p:tagLst>
</file>

<file path=ppt/tags/tag19.xml><?xml version="1.0" encoding="utf-8"?>
<p:tagLst xmlns:p="http://schemas.openxmlformats.org/presentationml/2006/main">
  <p:tag name="KSO_WM_DIAGRAM_VIRTUALLY_FRAME" val="{&quot;height&quot;:73,&quot;left&quot;:221,&quot;top&quot;:199,&quot;width&quot;:598}"/>
</p:tagLst>
</file>

<file path=ppt/tags/tag20.xml><?xml version="1.0" encoding="utf-8"?>
<p:tagLst xmlns:p="http://schemas.openxmlformats.org/presentationml/2006/main">
  <p:tag name="KSO_WM_DIAGRAM_VIRTUALLY_FRAME" val="{&quot;height&quot;:73,&quot;left&quot;:221,&quot;top&quot;:199,&quot;width&quot;:598}"/>
</p:tagLst>
</file>

<file path=ppt/tags/tag21.xml><?xml version="1.0" encoding="utf-8"?>
<p:tagLst xmlns:p="http://schemas.openxmlformats.org/presentationml/2006/main">
  <p:tag name="KSO_WM_DIAGRAM_VIRTUALLY_FRAME" val="{&quot;height&quot;:428.4,&quot;left&quot;:14.157874015748032,&quot;top&quot;:51.6,&quot;width&quot;:884.842125984252}"/>
</p:tagLst>
</file>

<file path=ppt/tags/tag22.xml><?xml version="1.0" encoding="utf-8"?>
<p:tagLst xmlns:p="http://schemas.openxmlformats.org/presentationml/2006/main">
  <p:tag name="KSO_WM_DIAGRAM_VIRTUALLY_FRAME" val="{&quot;height&quot;:428.4,&quot;left&quot;:14.157874015748032,&quot;top&quot;:51.6,&quot;width&quot;:884.842125984252}"/>
</p:tagLst>
</file>

<file path=ppt/tags/tag23.xml><?xml version="1.0" encoding="utf-8"?>
<p:tagLst xmlns:p="http://schemas.openxmlformats.org/presentationml/2006/main">
  <p:tag name="KSO_WM_DIAGRAM_VIRTUALLY_FRAME" val="{&quot;height&quot;:428.4,&quot;left&quot;:14.157874015748032,&quot;top&quot;:51.6,&quot;width&quot;:884.842125984252}"/>
</p:tagLst>
</file>

<file path=ppt/tags/tag24.xml><?xml version="1.0" encoding="utf-8"?>
<p:tagLst xmlns:p="http://schemas.openxmlformats.org/presentationml/2006/main">
  <p:tag name="KSO_WM_DIAGRAM_VIRTUALLY_FRAME" val="{&quot;height&quot;:428.4,&quot;left&quot;:14.157874015748032,&quot;top&quot;:51.6,&quot;width&quot;:884.842125984252}"/>
</p:tagLst>
</file>

<file path=ppt/tags/tag25.xml><?xml version="1.0" encoding="utf-8"?>
<p:tagLst xmlns:p="http://schemas.openxmlformats.org/presentationml/2006/main">
  <p:tag name="KSO_WM_DIAGRAM_VIRTUALLY_FRAME" val="{&quot;height&quot;:143.55,&quot;left&quot;:291.15,&quot;top&quot;:242.2,&quot;width&quot;:375.4}"/>
</p:tagLst>
</file>

<file path=ppt/tags/tag26.xml><?xml version="1.0" encoding="utf-8"?>
<p:tagLst xmlns:p="http://schemas.openxmlformats.org/presentationml/2006/main">
  <p:tag name="KSO_WM_DIAGRAM_VIRTUALLY_FRAME" val="{&quot;height&quot;:143.55,&quot;left&quot;:291.15,&quot;top&quot;:242.2,&quot;width&quot;:375.4}"/>
</p:tagLst>
</file>

<file path=ppt/tags/tag27.xml><?xml version="1.0" encoding="utf-8"?>
<p:tagLst xmlns:p="http://schemas.openxmlformats.org/presentationml/2006/main">
  <p:tag name="KSO_WM_DIAGRAM_VIRTUALLY_FRAME" val="{&quot;height&quot;:143.55,&quot;left&quot;:291.15,&quot;top&quot;:242.2,&quot;width&quot;:375.4}"/>
</p:tagLst>
</file>

<file path=ppt/tags/tag28.xml><?xml version="1.0" encoding="utf-8"?>
<p:tagLst xmlns:p="http://schemas.openxmlformats.org/presentationml/2006/main">
  <p:tag name="KSO_WM_DIAGRAM_VIRTUALLY_FRAME" val="{&quot;height&quot;:143.55,&quot;left&quot;:291.15,&quot;top&quot;:242.2,&quot;width&quot;:375.4}"/>
</p:tagLst>
</file>

<file path=ppt/tags/tag29.xml><?xml version="1.0" encoding="utf-8"?>
<p:tagLst xmlns:p="http://schemas.openxmlformats.org/presentationml/2006/main">
  <p:tag name="KSO_WM_DIAGRAM_VIRTUALLY_FRAME" val="{&quot;height&quot;:428.4,&quot;left&quot;:14.157874015748032,&quot;top&quot;:51.6,&quot;width&quot;:884.842125984252}"/>
</p:tagLst>
</file>

<file path=ppt/tags/tag30.xml><?xml version="1.0" encoding="utf-8"?>
<p:tagLst xmlns:p="http://schemas.openxmlformats.org/presentationml/2006/main">
  <p:tag name="KSO_WM_DIAGRAM_VIRTUALLY_FRAME" val="{&quot;height&quot;:296.65,&quot;left&quot;:36.85,&quot;top&quot;:89.1,&quot;width&quot;:629.7}"/>
</p:tagLst>
</file>

<file path=ppt/tags/tag31.xml><?xml version="1.0" encoding="utf-8"?>
<p:tagLst xmlns:p="http://schemas.openxmlformats.org/presentationml/2006/main">
  <p:tag name="KSO_WM_DIAGRAM_VIRTUALLY_FRAME" val="{&quot;height&quot;:73,&quot;left&quot;:221,&quot;top&quot;:199,&quot;width&quot;:598}"/>
</p:tagLst>
</file>

<file path=ppt/tags/tag32.xml><?xml version="1.0" encoding="utf-8"?>
<p:tagLst xmlns:p="http://schemas.openxmlformats.org/presentationml/2006/main">
  <p:tag name="KSO_WM_DIAGRAM_VIRTUALLY_FRAME" val="{&quot;height&quot;:73,&quot;left&quot;:221,&quot;top&quot;:199,&quot;width&quot;:598}"/>
</p:tagLst>
</file>

<file path=ppt/tags/tag33.xml><?xml version="1.0" encoding="utf-8"?>
<p:tagLst xmlns:p="http://schemas.openxmlformats.org/presentationml/2006/main">
  <p:tag name="KSO_WM_DIAGRAM_VIRTUALLY_FRAME" val="{&quot;height&quot;:73,&quot;left&quot;:221,&quot;top&quot;:199,&quot;width&quot;:598}"/>
</p:tagLst>
</file>

<file path=ppt/tags/tag34.xml><?xml version="1.0" encoding="utf-8"?>
<p:tagLst xmlns:p="http://schemas.openxmlformats.org/presentationml/2006/main">
  <p:tag name="KSO_WM_DIAGRAM_VIRTUALLY_FRAME" val="{&quot;height&quot;:73,&quot;left&quot;:221,&quot;top&quot;:199,&quot;width&quot;:598}"/>
</p:tagLst>
</file>

<file path=ppt/tags/tag35.xml><?xml version="1.0" encoding="utf-8"?>
<p:tagLst xmlns:p="http://schemas.openxmlformats.org/presentationml/2006/main">
  <p:tag name="KSO_WM_DIAGRAM_VIRTUALLY_FRAME" val="{&quot;height&quot;:73,&quot;left&quot;:221,&quot;top&quot;:199,&quot;width&quot;:598}"/>
</p:tagLst>
</file>

<file path=ppt/tags/tag36.xml><?xml version="1.0" encoding="utf-8"?>
<p:tagLst xmlns:p="http://schemas.openxmlformats.org/presentationml/2006/main">
  <p:tag name="KSO_WM_DIAGRAM_VIRTUALLY_FRAME" val="{&quot;height&quot;:73,&quot;left&quot;:221,&quot;top&quot;:199,&quot;width&quot;:598}"/>
</p:tagLst>
</file>

<file path=ppt/tags/tag37.xml><?xml version="1.0" encoding="utf-8"?>
<p:tagLst xmlns:p="http://schemas.openxmlformats.org/presentationml/2006/main">
  <p:tag name="KSO_WM_DIAGRAM_VIRTUALLY_FRAME" val="{&quot;height&quot;:73,&quot;left&quot;:221,&quot;top&quot;:199,&quot;width&quot;:598}"/>
</p:tagLst>
</file>

<file path=ppt/tags/tag38.xml><?xml version="1.0" encoding="utf-8"?>
<p:tagLst xmlns:p="http://schemas.openxmlformats.org/presentationml/2006/main">
  <p:tag name="KSO_WM_DIAGRAM_VIRTUALLY_FRAME" val="{&quot;height&quot;:73,&quot;left&quot;:221,&quot;top&quot;:199,&quot;width&quot;:598}"/>
</p:tagLst>
</file>

<file path=ppt/tags/tag39.xml><?xml version="1.0" encoding="utf-8"?>
<p:tagLst xmlns:p="http://schemas.openxmlformats.org/presentationml/2006/main">
  <p:tag name="KSO_WM_DIAGRAM_VIRTUALLY_FRAME" val="{&quot;height&quot;:73,&quot;left&quot;:221,&quot;top&quot;:199,&quot;width&quot;:598}"/>
</p:tagLst>
</file>

<file path=ppt/tags/tag40.xml><?xml version="1.0" encoding="utf-8"?>
<p:tagLst xmlns:p="http://schemas.openxmlformats.org/presentationml/2006/main">
  <p:tag name="KSO_WM_DIAGRAM_VIRTUALLY_FRAME" val="{&quot;height&quot;:73,&quot;left&quot;:221,&quot;top&quot;:199,&quot;width&quot;:598}"/>
</p:tagLst>
</file>

<file path=ppt/tags/tag41.xml><?xml version="1.0" encoding="utf-8"?>
<p:tagLst xmlns:p="http://schemas.openxmlformats.org/presentationml/2006/main">
  <p:tag name="KSO_WM_DIAGRAM_VIRTUALLY_FRAME" val="{&quot;height&quot;:73,&quot;left&quot;:221,&quot;top&quot;:199,&quot;width&quot;:598}"/>
</p:tagLst>
</file>

<file path=ppt/tags/tag42.xml><?xml version="1.0" encoding="utf-8"?>
<p:tagLst xmlns:p="http://schemas.openxmlformats.org/presentationml/2006/main">
  <p:tag name="KSO_WM_DIAGRAM_VIRTUALLY_FRAME" val="{&quot;height&quot;:73,&quot;left&quot;:221,&quot;top&quot;:199,&quot;width&quot;:598}"/>
</p:tagLst>
</file>

<file path=ppt/tags/tag43.xml><?xml version="1.0" encoding="utf-8"?>
<p:tagLst xmlns:p="http://schemas.openxmlformats.org/presentationml/2006/main">
  <p:tag name="KSO_WM_DIAGRAM_VIRTUALLY_FRAME" val="{&quot;height&quot;:73,&quot;left&quot;:221,&quot;top&quot;:199,&quot;width&quot;:598}"/>
</p:tagLst>
</file>

<file path=ppt/tags/tag44.xml><?xml version="1.0" encoding="utf-8"?>
<p:tagLst xmlns:p="http://schemas.openxmlformats.org/presentationml/2006/main">
  <p:tag name="KSO_WM_DIAGRAM_VIRTUALLY_FRAME" val="{&quot;height&quot;:73,&quot;left&quot;:221,&quot;top&quot;:199,&quot;width&quot;:598}"/>
</p:tagLst>
</file>

<file path=ppt/tags/tag45.xml><?xml version="1.0" encoding="utf-8"?>
<p:tagLst xmlns:p="http://schemas.openxmlformats.org/presentationml/2006/main">
  <p:tag name="KSO_WM_DIAGRAM_VIRTUALLY_FRAME" val="{&quot;height&quot;:73,&quot;left&quot;:221,&quot;top&quot;:199,&quot;width&quot;:598}"/>
</p:tagLst>
</file>

<file path=ppt/tags/tag46.xml><?xml version="1.0" encoding="utf-8"?>
<p:tagLst xmlns:p="http://schemas.openxmlformats.org/presentationml/2006/main">
  <p:tag name="KSO_WM_DIAGRAM_VIRTUALLY_FRAME" val="{&quot;height&quot;:73,&quot;left&quot;:221,&quot;top&quot;:199,&quot;width&quot;:598}"/>
</p:tagLst>
</file>

<file path=ppt/tags/tag47.xml><?xml version="1.0" encoding="utf-8"?>
<p:tagLst xmlns:p="http://schemas.openxmlformats.org/presentationml/2006/main">
  <p:tag name="KSO_WM_DIAGRAM_VIRTUALLY_FRAME" val="{&quot;height&quot;:332.9,&quot;left&quot;:14.15,&quot;top&quot;:72.1,&quot;width&quot;:752.2}"/>
</p:tagLst>
</file>

<file path=ppt/tags/tag48.xml><?xml version="1.0" encoding="utf-8"?>
<p:tagLst xmlns:p="http://schemas.openxmlformats.org/presentationml/2006/main">
  <p:tag name="KSO_WM_DIAGRAM_VIRTUALLY_FRAME" val="{&quot;height&quot;:332.9,&quot;left&quot;:14.15,&quot;top&quot;:72.1,&quot;width&quot;:752.2}"/>
</p:tagLst>
</file>

<file path=ppt/tags/tag49.xml><?xml version="1.0" encoding="utf-8"?>
<p:tagLst xmlns:p="http://schemas.openxmlformats.org/presentationml/2006/main">
  <p:tag name="KSO_WM_DIAGRAM_VIRTUALLY_FRAME" val="{&quot;height&quot;:332.9,&quot;left&quot;:14.15,&quot;top&quot;:72.1,&quot;width&quot;:752.2}"/>
</p:tagLst>
</file>

<file path=ppt/tags/tag50.xml><?xml version="1.0" encoding="utf-8"?>
<p:tagLst xmlns:p="http://schemas.openxmlformats.org/presentationml/2006/main">
  <p:tag name="KSO_WM_DIAGRAM_VIRTUALLY_FRAME" val="{&quot;height&quot;:287.9,&quot;left&quot;:14.15,&quot;top&quot;:72.1,&quot;width&quot;:690.85}"/>
</p:tagLst>
</file>

<file path=ppt/tags/tag51.xml><?xml version="1.0" encoding="utf-8"?>
<p:tagLst xmlns:p="http://schemas.openxmlformats.org/presentationml/2006/main">
  <p:tag name="KSO_WM_DIAGRAM_VIRTUALLY_FRAME" val="{&quot;height&quot;:243,&quot;left&quot;:18.15,&quot;top&quot;:66.15,&quot;width&quot;:675.4}"/>
</p:tagLst>
</file>

<file path=ppt/tags/tag52.xml><?xml version="1.0" encoding="utf-8"?>
<p:tagLst xmlns:p="http://schemas.openxmlformats.org/presentationml/2006/main">
  <p:tag name="KSO_WM_DIAGRAM_VIRTUALLY_FRAME" val="{&quot;height&quot;:243,&quot;left&quot;:18.15,&quot;top&quot;:66.15,&quot;width&quot;:675.4}"/>
</p:tagLst>
</file>

<file path=ppt/tags/tag53.xml><?xml version="1.0" encoding="utf-8"?>
<p:tagLst xmlns:p="http://schemas.openxmlformats.org/presentationml/2006/main">
  <p:tag name="KSO_WM_DIAGRAM_VIRTUALLY_FRAME" val="{&quot;height&quot;:243,&quot;left&quot;:18.15,&quot;top&quot;:66.15,&quot;width&quot;:675.4}"/>
</p:tagLst>
</file>

<file path=ppt/tags/tag54.xml><?xml version="1.0" encoding="utf-8"?>
<p:tagLst xmlns:p="http://schemas.openxmlformats.org/presentationml/2006/main">
  <p:tag name="KSO_WM_DIAGRAM_VIRTUALLY_FRAME" val="{&quot;height&quot;:243,&quot;left&quot;:18.15,&quot;top&quot;:66.15,&quot;width&quot;:675.4}"/>
</p:tagLst>
</file>

<file path=ppt/tags/tag55.xml><?xml version="1.0" encoding="utf-8"?>
<p:tagLst xmlns:p="http://schemas.openxmlformats.org/presentationml/2006/main">
  <p:tag name="KSO_WM_DIAGRAM_VIRTUALLY_FRAME" val="{&quot;height&quot;:243,&quot;left&quot;:18.15,&quot;top&quot;:66.15,&quot;width&quot;:675.4}"/>
</p:tagLst>
</file>

<file path=ppt/tags/tag56.xml><?xml version="1.0" encoding="utf-8"?>
<p:tagLst xmlns:p="http://schemas.openxmlformats.org/presentationml/2006/main">
  <p:tag name="KSO_WM_DIAGRAM_VIRTUALLY_FRAME" val="{&quot;height&quot;:243,&quot;left&quot;:18.15,&quot;top&quot;:66.15,&quot;width&quot;:675.4}"/>
</p:tagLst>
</file>

<file path=ppt/tags/tag57.xml><?xml version="1.0" encoding="utf-8"?>
<p:tagLst xmlns:p="http://schemas.openxmlformats.org/presentationml/2006/main">
  <p:tag name="KSO_WM_DIAGRAM_VIRTUALLY_FRAME" val="{&quot;height&quot;:243,&quot;left&quot;:18.15,&quot;top&quot;:66.15,&quot;width&quot;:675.4}"/>
</p:tagLst>
</file>

<file path=ppt/tags/tag58.xml><?xml version="1.0" encoding="utf-8"?>
<p:tagLst xmlns:p="http://schemas.openxmlformats.org/presentationml/2006/main">
  <p:tag name="KSO_WM_DIAGRAM_VIRTUALLY_FRAME" val="{&quot;height&quot;:243,&quot;left&quot;:18.15,&quot;top&quot;:66.15,&quot;width&quot;:675.4}"/>
</p:tagLst>
</file>

<file path=ppt/tags/tag59.xml><?xml version="1.0" encoding="utf-8"?>
<p:tagLst xmlns:p="http://schemas.openxmlformats.org/presentationml/2006/main">
  <p:tag name="KSO_WM_DIAGRAM_VIRTUALLY_FRAME" val="{&quot;height&quot;:243,&quot;left&quot;:18.15,&quot;top&quot;:66.15,&quot;width&quot;:675.4}"/>
</p:tagLst>
</file>

<file path=ppt/tags/tag60.xml><?xml version="1.0" encoding="utf-8"?>
<p:tagLst xmlns:p="http://schemas.openxmlformats.org/presentationml/2006/main">
  <p:tag name="KSO_WM_DIAGRAM_VIRTUALLY_FRAME" val="{&quot;height&quot;:73,&quot;left&quot;:221,&quot;top&quot;:199,&quot;width&quot;:598}"/>
</p:tagLst>
</file>

<file path=ppt/tags/tag61.xml><?xml version="1.0" encoding="utf-8"?>
<p:tagLst xmlns:p="http://schemas.openxmlformats.org/presentationml/2006/main">
  <p:tag name="KSO_WM_DIAGRAM_VIRTUALLY_FRAME" val="{&quot;height&quot;:73,&quot;left&quot;:221,&quot;top&quot;:199,&quot;width&quot;:598}"/>
</p:tagLst>
</file>

<file path=ppt/tags/tag62.xml><?xml version="1.0" encoding="utf-8"?>
<p:tagLst xmlns:p="http://schemas.openxmlformats.org/presentationml/2006/main">
  <p:tag name="KSO_WM_DIAGRAM_VIRTUALLY_FRAME" val="{&quot;height&quot;:73,&quot;left&quot;:221,&quot;top&quot;:199,&quot;width&quot;:598}"/>
</p:tagLst>
</file>

<file path=ppt/tags/tag63.xml><?xml version="1.0" encoding="utf-8"?>
<p:tagLst xmlns:p="http://schemas.openxmlformats.org/presentationml/2006/main">
  <p:tag name="KSO_WM_DIAGRAM_VIRTUALLY_FRAME" val="{&quot;height&quot;:73,&quot;left&quot;:221,&quot;top&quot;:199,&quot;width&quot;:598}"/>
</p:tagLst>
</file>

<file path=ppt/tags/tag64.xml><?xml version="1.0" encoding="utf-8"?>
<p:tagLst xmlns:p="http://schemas.openxmlformats.org/presentationml/2006/main">
  <p:tag name="KSO_WM_DIAGRAM_VIRTUALLY_FRAME" val="{&quot;height&quot;:73,&quot;left&quot;:221,&quot;top&quot;:199,&quot;width&quot;:598}"/>
</p:tagLst>
</file>

<file path=ppt/tags/tag65.xml><?xml version="1.0" encoding="utf-8"?>
<p:tagLst xmlns:p="http://schemas.openxmlformats.org/presentationml/2006/main">
  <p:tag name="KSO_WM_DIAGRAM_VIRTUALLY_FRAME" val="{&quot;height&quot;:73,&quot;left&quot;:221,&quot;top&quot;:199,&quot;width&quot;:598}"/>
</p:tagLst>
</file>

<file path=ppt/tags/tag66.xml><?xml version="1.0" encoding="utf-8"?>
<p:tagLst xmlns:p="http://schemas.openxmlformats.org/presentationml/2006/main">
  <p:tag name="KSO_WM_DIAGRAM_VIRTUALLY_FRAME" val="{&quot;height&quot;:73,&quot;left&quot;:221,&quot;top&quot;:199,&quot;width&quot;:598}"/>
</p:tagLst>
</file>

<file path=ppt/tags/tag67.xml><?xml version="1.0" encoding="utf-8"?>
<p:tagLst xmlns:p="http://schemas.openxmlformats.org/presentationml/2006/main">
  <p:tag name="KSO_WM_DIAGRAM_VIRTUALLY_FRAME" val="{&quot;height&quot;:73,&quot;left&quot;:221,&quot;top&quot;:199,&quot;width&quot;:598}"/>
</p:tagLst>
</file>

<file path=ppt/tags/tag68.xml><?xml version="1.0" encoding="utf-8"?>
<p:tagLst xmlns:p="http://schemas.openxmlformats.org/presentationml/2006/main">
  <p:tag name="KSO_WM_DIAGRAM_VIRTUALLY_FRAME" val="{&quot;height&quot;:96.48803149606302,&quot;left&quot;:16.726692913385826,&quot;top&quot;:119.07409448818899,&quot;width&quot;:686.7405511811023}"/>
</p:tagLst>
</file>

<file path=ppt/tags/tag69.xml><?xml version="1.0" encoding="utf-8"?>
<p:tagLst xmlns:p="http://schemas.openxmlformats.org/presentationml/2006/main">
  <p:tag name="KSO_WM_DIAGRAM_VIRTUALLY_FRAME" val="{&quot;height&quot;:96.48803149606302,&quot;left&quot;:16.726692913385826,&quot;top&quot;:119.07409448818899,&quot;width&quot;:686.7405511811023}"/>
</p:tagLst>
</file>

<file path=ppt/tags/tag70.xml><?xml version="1.0" encoding="utf-8"?>
<p:tagLst xmlns:p="http://schemas.openxmlformats.org/presentationml/2006/main">
  <p:tag name="KSO_WM_DIAGRAM_VIRTUALLY_FRAME" val="{&quot;height&quot;:96.48803149606302,&quot;left&quot;:16.726692913385826,&quot;top&quot;:119.07409448818899,&quot;width&quot;:686.7405511811023}"/>
</p:tagLst>
</file>

<file path=ppt/tags/tag71.xml><?xml version="1.0" encoding="utf-8"?>
<p:tagLst xmlns:p="http://schemas.openxmlformats.org/presentationml/2006/main">
  <p:tag name="KSO_WM_DIAGRAM_VIRTUALLY_FRAME" val="{&quot;height&quot;:96.48803149606302,&quot;left&quot;:16.726692913385826,&quot;top&quot;:119.07409448818899,&quot;width&quot;:686.7405511811023}"/>
</p:tagLst>
</file>

<file path=ppt/tags/tag72.xml><?xml version="1.0" encoding="utf-8"?>
<p:tagLst xmlns:p="http://schemas.openxmlformats.org/presentationml/2006/main">
  <p:tag name="KSO_WM_DIAGRAM_VIRTUALLY_FRAME" val="{&quot;height&quot;:96.48803149606302,&quot;left&quot;:16.726692913385826,&quot;top&quot;:119.07409448818899,&quot;width&quot;:686.7405511811023}"/>
</p:tagLst>
</file>

<file path=ppt/tags/tag73.xml><?xml version="1.0" encoding="utf-8"?>
<p:tagLst xmlns:p="http://schemas.openxmlformats.org/presentationml/2006/main">
  <p:tag name="KSO_WM_DIAGRAM_VIRTUALLY_FRAME" val="{&quot;height&quot;:96.48803149606302,&quot;left&quot;:16.726692913385826,&quot;top&quot;:119.07409448818899,&quot;width&quot;:686.7405511811023}"/>
</p:tagLst>
</file>

<file path=ppt/tags/tag74.xml><?xml version="1.0" encoding="utf-8"?>
<p:tagLst xmlns:p="http://schemas.openxmlformats.org/presentationml/2006/main">
  <p:tag name="KSO_WM_DIAGRAM_VIRTUALLY_FRAME" val="{&quot;height&quot;:96.48803149606302,&quot;left&quot;:16.726692913385826,&quot;top&quot;:119.07409448818899,&quot;width&quot;:686.7405511811023}"/>
</p:tagLst>
</file>

<file path=ppt/tags/tag75.xml><?xml version="1.0" encoding="utf-8"?>
<p:tagLst xmlns:p="http://schemas.openxmlformats.org/presentationml/2006/main">
  <p:tag name="KSO_WM_DIAGRAM_VIRTUALLY_FRAME" val="{&quot;height&quot;:96.48803149606302,&quot;left&quot;:16.726692913385826,&quot;top&quot;:119.07409448818899,&quot;width&quot;:686.7405511811023}"/>
</p:tagLst>
</file>

<file path=ppt/tags/tag76.xml><?xml version="1.0" encoding="utf-8"?>
<p:tagLst xmlns:p="http://schemas.openxmlformats.org/presentationml/2006/main">
  <p:tag name="KSO_WM_DIAGRAM_VIRTUALLY_FRAME" val="{&quot;height&quot;:73,&quot;left&quot;:221,&quot;top&quot;:199,&quot;width&quot;:598}"/>
</p:tagLst>
</file>

<file path=ppt/tags/tag77.xml><?xml version="1.0" encoding="utf-8"?>
<p:tagLst xmlns:p="http://schemas.openxmlformats.org/presentationml/2006/main">
  <p:tag name="KSO_WM_DIAGRAM_VIRTUALLY_FRAME" val="{&quot;height&quot;:73,&quot;left&quot;:221,&quot;top&quot;:199,&quot;width&quot;:598}"/>
</p:tagLst>
</file>

<file path=ppt/tags/tag78.xml><?xml version="1.0" encoding="utf-8"?>
<p:tagLst xmlns:p="http://schemas.openxmlformats.org/presentationml/2006/main">
  <p:tag name="KSO_WM_DIAGRAM_VIRTUALLY_FRAME" val="{&quot;height&quot;:73,&quot;left&quot;:221,&quot;top&quot;:199,&quot;width&quot;:598}"/>
</p:tagLst>
</file>

<file path=ppt/tags/tag79.xml><?xml version="1.0" encoding="utf-8"?>
<p:tagLst xmlns:p="http://schemas.openxmlformats.org/presentationml/2006/main">
  <p:tag name="KSO_WM_DIAGRAM_VIRTUALLY_FRAME" val="{&quot;height&quot;:73,&quot;left&quot;:221,&quot;top&quot;:199,&quot;width&quot;:598}"/>
</p:tagLst>
</file>

<file path=ppt/tags/tag80.xml><?xml version="1.0" encoding="utf-8"?>
<p:tagLst xmlns:p="http://schemas.openxmlformats.org/presentationml/2006/main">
  <p:tag name="KSO_WM_DIAGRAM_VIRTUALLY_FRAME" val="{&quot;height&quot;:73,&quot;left&quot;:221,&quot;top&quot;:199,&quot;width&quot;:598}"/>
</p:tagLst>
</file>

<file path=ppt/tags/tag81.xml><?xml version="1.0" encoding="utf-8"?>
<p:tagLst xmlns:p="http://schemas.openxmlformats.org/presentationml/2006/main">
  <p:tag name="KSO_WM_DIAGRAM_VIRTUALLY_FRAME" val="{&quot;height&quot;:73,&quot;left&quot;:221,&quot;top&quot;:199,&quot;width&quot;:598}"/>
</p:tagLst>
</file>

<file path=ppt/tags/tag82.xml><?xml version="1.0" encoding="utf-8"?>
<p:tagLst xmlns:p="http://schemas.openxmlformats.org/presentationml/2006/main">
  <p:tag name="KSO_WM_DIAGRAM_VIRTUALLY_FRAME" val="{&quot;height&quot;:73,&quot;left&quot;:221,&quot;top&quot;:199,&quot;width&quot;:598}"/>
</p:tagLst>
</file>

<file path=ppt/tags/tag83.xml><?xml version="1.0" encoding="utf-8"?>
<p:tagLst xmlns:p="http://schemas.openxmlformats.org/presentationml/2006/main">
  <p:tag name="KSO_WM_DIAGRAM_VIRTUALLY_FRAME" val="{&quot;height&quot;:73,&quot;left&quot;:221,&quot;top&quot;:199,&quot;width&quot;:59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4802</Words>
  <Application>WPS 演示</Application>
  <PresentationFormat>全屏显示(16:9)</PresentationFormat>
  <Paragraphs>383</Paragraphs>
  <Slides>25</Slides>
  <Notes>6</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25</vt:i4>
      </vt:variant>
    </vt:vector>
  </HeadingPairs>
  <TitlesOfParts>
    <vt:vector size="51" baseType="lpstr">
      <vt:lpstr>Arial</vt:lpstr>
      <vt:lpstr>宋体</vt:lpstr>
      <vt:lpstr>Wingdings</vt:lpstr>
      <vt:lpstr>方正粗黑宋简体</vt:lpstr>
      <vt:lpstr>方正粗宋简体</vt:lpstr>
      <vt:lpstr>禹卫书法行书简体</vt:lpstr>
      <vt:lpstr>禹卫书法行书简体
</vt:lpstr>
      <vt:lpstr>Calibri</vt:lpstr>
      <vt:lpstr>微软雅黑</vt:lpstr>
      <vt:lpstr>Arial Unicode MS</vt:lpstr>
      <vt:lpstr>Times New Roman</vt:lpstr>
      <vt:lpstr>Noto Sans SC</vt:lpstr>
      <vt:lpstr>方正粗宋简体</vt:lpstr>
      <vt:lpstr>方正粗黑宋简体</vt:lpstr>
      <vt:lpstr>禹卫书法行书简体</vt:lpstr>
      <vt:lpstr>Calibri</vt:lpstr>
      <vt:lpstr>Segoe Print</vt:lpstr>
      <vt:lpstr>等线</vt:lpstr>
      <vt:lpstr>楷体</vt:lpstr>
      <vt:lpstr>仿宋_GB2312</vt:lpstr>
      <vt:lpstr>华文中宋</vt:lpstr>
      <vt:lpstr>仿宋</vt:lpstr>
      <vt:lpstr>华文仿宋</vt:lpstr>
      <vt:lpstr>黑体</vt:lpstr>
      <vt:lpstr>方正姚体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多彩年度工作总结</dc:title>
  <dc:creator>ZM</dc:creator>
  <cp:lastModifiedBy>WPS_1686359452</cp:lastModifiedBy>
  <cp:revision>1045</cp:revision>
  <dcterms:created xsi:type="dcterms:W3CDTF">2014-11-09T01:07:00Z</dcterms:created>
  <dcterms:modified xsi:type="dcterms:W3CDTF">2026-07-24T05:24:23Z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7CD6280A64FF41BEB01D0BE9B5652407_12</vt:lpwstr>
  </property>
  <property fmtid="{D5CDD505-2E9C-101B-9397-08002B2CF9AE}" pid="3" name="KSOProductBuildVer">
    <vt:lpwstr>2052-12.1.0.21541</vt:lpwstr>
  </property>
</Properties>
</file>